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35C5254-7060-4A15-B340-EFAA526180A5}">
  <a:tblStyle styleId="{735C5254-7060-4A15-B340-EFAA526180A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" name="Google Shape;5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129d4a874f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129d4a874f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129d4a874f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129d4a874f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129d4a874f2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129d4a874f2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29d4a874f2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129d4a874f2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129d4a874f2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129d4a874f2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29d4a874f2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129d4a874f2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29d4a874f2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129d4a874f2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29d4a874f2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129d4a874f2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129d4a874f2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129d4a874f2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129d4a874f2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129d4a874f2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129d4a874f2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129d4a874f2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129d4a874f2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129d4a874f2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129d4a874f2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129d4a874f2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129d4a874f2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129d4a874f2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129d4a874f2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129d4a874f2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129d4a874f2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129d4a874f2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129d4a874f2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129d4a874f2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29d4a874f2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129d4a874f2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129d4a874f2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129d4a874f2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129d4a874f2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129d4a874f2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129d4a874f2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129d4a874f2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129d4a874f2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129d4a874f2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129d4a874f2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129d4a874f2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129d4a874f2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129d4a874f2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129d4a874f2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129d4a874f2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129d4a874f2_0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129d4a874f2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129d4a874f2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129d4a874f2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12a0d9311f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12a0d9311f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129d4a874f2_0_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129d4a874f2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129d4a874f2_0_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129d4a874f2_0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129d4a874f2_0_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129d4a874f2_0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" name="Google Shape;22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12" type="sldNum"/>
          </p:nvPr>
        </p:nvSpPr>
        <p:spPr>
          <a:xfrm>
            <a:off x="8472450" y="4663225"/>
            <a:ext cx="548700" cy="39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9" name="Google Shape;29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3" name="Google Shape;3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7" name="Google Shape;37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8" name="Google Shape;38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9" name="Google Shape;3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5" name="Google Shape;45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" name="Google Shape;4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 rotWithShape="1">
          <a:blip r:embed="rId1">
            <a:alphaModFix/>
          </a:blip>
          <a:srcRect b="36646" l="0" r="0" t="29815"/>
          <a:stretch/>
        </p:blipFill>
        <p:spPr>
          <a:xfrm>
            <a:off x="7420675" y="4555325"/>
            <a:ext cx="1707725" cy="5727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Relationship Id="rId4" Type="http://schemas.openxmlformats.org/officeDocument/2006/relationships/image" Target="../media/image2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Relationship Id="rId4" Type="http://schemas.openxmlformats.org/officeDocument/2006/relationships/image" Target="../media/image26.png"/><Relationship Id="rId5" Type="http://schemas.openxmlformats.org/officeDocument/2006/relationships/image" Target="../media/image3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9.png"/><Relationship Id="rId4" Type="http://schemas.openxmlformats.org/officeDocument/2006/relationships/image" Target="../media/image25.png"/><Relationship Id="rId5" Type="http://schemas.openxmlformats.org/officeDocument/2006/relationships/image" Target="../media/image20.png"/><Relationship Id="rId6" Type="http://schemas.openxmlformats.org/officeDocument/2006/relationships/image" Target="../media/image3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3.png"/><Relationship Id="rId4" Type="http://schemas.openxmlformats.org/officeDocument/2006/relationships/image" Target="../media/image37.png"/><Relationship Id="rId5" Type="http://schemas.openxmlformats.org/officeDocument/2006/relationships/image" Target="../media/image3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type="ctrTitle"/>
          </p:nvPr>
        </p:nvSpPr>
        <p:spPr>
          <a:xfrm>
            <a:off x="311708" y="1506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ARTROLOGÍA DE MIEMBRO SUPERIOR</a:t>
            </a:r>
            <a:r>
              <a:rPr lang="es-419"/>
              <a:t>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CINTURA ESCAPULAR </a:t>
            </a:r>
            <a:endParaRPr b="1"/>
          </a:p>
        </p:txBody>
      </p:sp>
      <p:pic>
        <p:nvPicPr>
          <p:cNvPr id="59" name="Google Shape;59;p14"/>
          <p:cNvPicPr preferRelativeResize="0"/>
          <p:nvPr/>
        </p:nvPicPr>
        <p:blipFill rotWithShape="1">
          <a:blip r:embed="rId3">
            <a:alphaModFix/>
          </a:blip>
          <a:srcRect b="13126" l="31830" r="31299" t="27178"/>
          <a:stretch/>
        </p:blipFill>
        <p:spPr>
          <a:xfrm>
            <a:off x="2640437" y="1416975"/>
            <a:ext cx="3789639" cy="3449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4"/>
          <p:cNvPicPr preferRelativeResize="0"/>
          <p:nvPr/>
        </p:nvPicPr>
        <p:blipFill rotWithShape="1">
          <a:blip r:embed="rId4">
            <a:alphaModFix/>
          </a:blip>
          <a:srcRect b="36646" l="0" r="0" t="29815"/>
          <a:stretch/>
        </p:blipFill>
        <p:spPr>
          <a:xfrm>
            <a:off x="7420675" y="4555325"/>
            <a:ext cx="1707725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highlight>
                  <a:srgbClr val="FCE5CD"/>
                </a:highlight>
              </a:rPr>
              <a:t>ARTICULACIÓN ACROMIOCLAVICULAR </a:t>
            </a:r>
            <a:endParaRPr b="1">
              <a:highlight>
                <a:srgbClr val="FCE5CD"/>
              </a:highlight>
            </a:endParaRPr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6272700" cy="19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b="1" lang="es-419">
                <a:solidFill>
                  <a:schemeClr val="dk1"/>
                </a:solidFill>
              </a:rPr>
              <a:t>Tipo y </a:t>
            </a:r>
            <a:r>
              <a:rPr b="1" lang="es-419">
                <a:solidFill>
                  <a:schemeClr val="dk1"/>
                </a:solidFill>
              </a:rPr>
              <a:t>Género</a:t>
            </a:r>
            <a:r>
              <a:rPr lang="es-419">
                <a:solidFill>
                  <a:schemeClr val="dk1"/>
                </a:solidFill>
              </a:rPr>
              <a:t>: </a:t>
            </a:r>
            <a:r>
              <a:rPr lang="es-419">
                <a:solidFill>
                  <a:schemeClr val="dk1"/>
                </a:solidFill>
              </a:rPr>
              <a:t>Sinovial o Diartrosis – Artrodia </a:t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b="1" lang="es-419">
                <a:solidFill>
                  <a:schemeClr val="dk1"/>
                </a:solidFill>
              </a:rPr>
              <a:t>Superficies articulares:</a:t>
            </a:r>
            <a:endParaRPr b="1">
              <a:solidFill>
                <a:schemeClr val="dk1"/>
              </a:solidFill>
            </a:endParaRPr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s-419">
                <a:solidFill>
                  <a:schemeClr val="dk1"/>
                </a:solidFill>
              </a:rPr>
              <a:t>Escápula</a:t>
            </a:r>
            <a:r>
              <a:rPr lang="es-419">
                <a:solidFill>
                  <a:schemeClr val="dk1"/>
                </a:solidFill>
              </a:rPr>
              <a:t>: Acromion</a:t>
            </a:r>
            <a:endParaRPr>
              <a:solidFill>
                <a:schemeClr val="dk1"/>
              </a:solidFill>
            </a:endParaRPr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s-419">
                <a:solidFill>
                  <a:schemeClr val="dk1"/>
                </a:solidFill>
              </a:rPr>
              <a:t>Clavícula: Carilla articular </a:t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b="1" lang="es-419">
                <a:solidFill>
                  <a:schemeClr val="dk1"/>
                </a:solidFill>
              </a:rPr>
              <a:t>Principales Medios de Unión: </a:t>
            </a:r>
            <a:endParaRPr b="1">
              <a:solidFill>
                <a:schemeClr val="dk1"/>
              </a:solidFill>
            </a:endParaRPr>
          </a:p>
          <a:p>
            <a:pPr indent="-304164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i="1" lang="es-419">
                <a:solidFill>
                  <a:schemeClr val="dk1"/>
                </a:solidFill>
              </a:rPr>
              <a:t>Lig acromioclaviuclares:</a:t>
            </a:r>
            <a:r>
              <a:rPr lang="es-419">
                <a:solidFill>
                  <a:schemeClr val="dk1"/>
                </a:solidFill>
              </a:rPr>
              <a:t> </a:t>
            </a:r>
            <a:r>
              <a:rPr lang="es-419" u="sng">
                <a:solidFill>
                  <a:schemeClr val="dk1"/>
                </a:solidFill>
              </a:rPr>
              <a:t>superior e inferior</a:t>
            </a:r>
            <a:endParaRPr u="sng">
              <a:solidFill>
                <a:schemeClr val="dk1"/>
              </a:solidFill>
            </a:endParaRPr>
          </a:p>
          <a:p>
            <a:pPr indent="-304164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i="1" lang="es-419">
                <a:solidFill>
                  <a:schemeClr val="dk1"/>
                </a:solidFill>
              </a:rPr>
              <a:t>Lig coracoclaviculares: </a:t>
            </a:r>
            <a:r>
              <a:rPr lang="es-419">
                <a:solidFill>
                  <a:schemeClr val="dk1"/>
                </a:solidFill>
              </a:rPr>
              <a:t>lig trapezoideo y lig conoideo </a:t>
            </a:r>
            <a:endParaRPr>
              <a:solidFill>
                <a:schemeClr val="dk1"/>
              </a:solidFill>
            </a:endParaRPr>
          </a:p>
          <a:p>
            <a:pPr indent="-304164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s-419">
                <a:solidFill>
                  <a:schemeClr val="dk1"/>
                </a:solidFill>
              </a:rPr>
              <a:t>Cápsula articular </a:t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b="1" lang="es-419">
                <a:solidFill>
                  <a:schemeClr val="dk1"/>
                </a:solidFill>
              </a:rPr>
              <a:t>Movimientos</a:t>
            </a:r>
            <a:r>
              <a:rPr lang="es-419">
                <a:solidFill>
                  <a:schemeClr val="dk1"/>
                </a:solidFill>
              </a:rPr>
              <a:t>: deslizamiento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67" name="Google Shape;67;p15"/>
          <p:cNvPicPr preferRelativeResize="0"/>
          <p:nvPr/>
        </p:nvPicPr>
        <p:blipFill rotWithShape="1">
          <a:blip r:embed="rId3">
            <a:alphaModFix/>
          </a:blip>
          <a:srcRect b="33023" l="64443" r="17120" t="29702"/>
          <a:stretch/>
        </p:blipFill>
        <p:spPr>
          <a:xfrm>
            <a:off x="6770625" y="260275"/>
            <a:ext cx="1888498" cy="214672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/>
          <p:nvPr/>
        </p:nvSpPr>
        <p:spPr>
          <a:xfrm>
            <a:off x="7121650" y="227300"/>
            <a:ext cx="1080600" cy="994200"/>
          </a:xfrm>
          <a:prstGeom prst="ellipse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 rotWithShape="1">
          <a:blip r:embed="rId4">
            <a:alphaModFix/>
          </a:blip>
          <a:srcRect b="34028" l="53481" r="31707" t="31501"/>
          <a:stretch/>
        </p:blipFill>
        <p:spPr>
          <a:xfrm>
            <a:off x="7037713" y="2983299"/>
            <a:ext cx="1354324" cy="177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/>
          <p:cNvPicPr preferRelativeResize="0"/>
          <p:nvPr/>
        </p:nvPicPr>
        <p:blipFill rotWithShape="1">
          <a:blip r:embed="rId5">
            <a:alphaModFix/>
          </a:blip>
          <a:srcRect b="20868" l="13909" r="19088" t="25541"/>
          <a:stretch/>
        </p:blipFill>
        <p:spPr>
          <a:xfrm>
            <a:off x="375200" y="3206100"/>
            <a:ext cx="3728552" cy="167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/>
          <p:cNvPicPr preferRelativeResize="0"/>
          <p:nvPr/>
        </p:nvPicPr>
        <p:blipFill rotWithShape="1">
          <a:blip r:embed="rId6">
            <a:alphaModFix/>
          </a:blip>
          <a:srcRect b="19379" l="33514" r="40015" t="31296"/>
          <a:stretch/>
        </p:blipFill>
        <p:spPr>
          <a:xfrm>
            <a:off x="4724950" y="3206100"/>
            <a:ext cx="1725101" cy="177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DESCRIPCIÓN</a:t>
            </a:r>
            <a:endParaRPr b="1"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5775" y="791050"/>
            <a:ext cx="4419600" cy="44196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4869925" y="1598785"/>
            <a:ext cx="759600" cy="375150"/>
          </a:xfrm>
          <a:custGeom>
            <a:rect b="b" l="l" r="r" t="t"/>
            <a:pathLst>
              <a:path extrusionOk="0" h="15006" w="30384">
                <a:moveTo>
                  <a:pt x="0" y="4667"/>
                </a:moveTo>
                <a:cubicBezTo>
                  <a:pt x="6129" y="4667"/>
                  <a:pt x="9746" y="12524"/>
                  <a:pt x="15560" y="14464"/>
                </a:cubicBezTo>
                <a:cubicBezTo>
                  <a:pt x="18348" y="15394"/>
                  <a:pt x="21323" y="12159"/>
                  <a:pt x="24205" y="12735"/>
                </a:cubicBezTo>
                <a:cubicBezTo>
                  <a:pt x="26172" y="13128"/>
                  <a:pt x="28855" y="16133"/>
                  <a:pt x="29968" y="14464"/>
                </a:cubicBezTo>
                <a:cubicBezTo>
                  <a:pt x="31633" y="11967"/>
                  <a:pt x="25154" y="10395"/>
                  <a:pt x="24205" y="7548"/>
                </a:cubicBezTo>
                <a:cubicBezTo>
                  <a:pt x="23437" y="5243"/>
                  <a:pt x="24256" y="1222"/>
                  <a:pt x="21899" y="633"/>
                </a:cubicBezTo>
                <a:cubicBezTo>
                  <a:pt x="16836" y="-632"/>
                  <a:pt x="11290" y="711"/>
                  <a:pt x="6339" y="2361"/>
                </a:cubicBezTo>
                <a:cubicBezTo>
                  <a:pt x="4206" y="3072"/>
                  <a:pt x="0" y="2419"/>
                  <a:pt x="0" y="4667"/>
                </a:cubicBezTo>
              </a:path>
            </a:pathLst>
          </a:cu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9" name="Google Shape;79;p16"/>
          <p:cNvSpPr/>
          <p:nvPr/>
        </p:nvSpPr>
        <p:spPr>
          <a:xfrm>
            <a:off x="5489450" y="1585775"/>
            <a:ext cx="480200" cy="421625"/>
          </a:xfrm>
          <a:custGeom>
            <a:rect b="b" l="l" r="r" t="t"/>
            <a:pathLst>
              <a:path extrusionOk="0" h="16865" w="19208">
                <a:moveTo>
                  <a:pt x="2881" y="0"/>
                </a:moveTo>
                <a:cubicBezTo>
                  <a:pt x="6236" y="0"/>
                  <a:pt x="9495" y="1245"/>
                  <a:pt x="12678" y="2305"/>
                </a:cubicBezTo>
                <a:cubicBezTo>
                  <a:pt x="14811" y="3016"/>
                  <a:pt x="18307" y="2477"/>
                  <a:pt x="19018" y="4610"/>
                </a:cubicBezTo>
                <a:cubicBezTo>
                  <a:pt x="19779" y="6894"/>
                  <a:pt x="16321" y="8666"/>
                  <a:pt x="15560" y="10950"/>
                </a:cubicBezTo>
                <a:cubicBezTo>
                  <a:pt x="14935" y="12826"/>
                  <a:pt x="14554" y="15511"/>
                  <a:pt x="12678" y="16136"/>
                </a:cubicBezTo>
                <a:cubicBezTo>
                  <a:pt x="9890" y="17065"/>
                  <a:pt x="4963" y="17195"/>
                  <a:pt x="4034" y="14407"/>
                </a:cubicBezTo>
                <a:cubicBezTo>
                  <a:pt x="2516" y="9851"/>
                  <a:pt x="4802" y="576"/>
                  <a:pt x="0" y="576"/>
                </a:cubicBezTo>
              </a:path>
            </a:pathLst>
          </a:cu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0" name="Google Shape;80;p16"/>
          <p:cNvSpPr/>
          <p:nvPr/>
        </p:nvSpPr>
        <p:spPr>
          <a:xfrm>
            <a:off x="4212558" y="1363017"/>
            <a:ext cx="551700" cy="416500"/>
          </a:xfrm>
          <a:custGeom>
            <a:rect b="b" l="l" r="r" t="t"/>
            <a:pathLst>
              <a:path extrusionOk="0" h="16660" w="22068">
                <a:moveTo>
                  <a:pt x="8429" y="4300"/>
                </a:moveTo>
                <a:cubicBezTo>
                  <a:pt x="5761" y="4967"/>
                  <a:pt x="2304" y="4082"/>
                  <a:pt x="361" y="6028"/>
                </a:cubicBezTo>
                <a:cubicBezTo>
                  <a:pt x="-1082" y="7473"/>
                  <a:pt x="3262" y="8940"/>
                  <a:pt x="4395" y="10639"/>
                </a:cubicBezTo>
                <a:cubicBezTo>
                  <a:pt x="6143" y="13260"/>
                  <a:pt x="8898" y="15406"/>
                  <a:pt x="11887" y="16402"/>
                </a:cubicBezTo>
                <a:cubicBezTo>
                  <a:pt x="14986" y="17434"/>
                  <a:pt x="18222" y="14099"/>
                  <a:pt x="20532" y="11791"/>
                </a:cubicBezTo>
                <a:cubicBezTo>
                  <a:pt x="23304" y="9022"/>
                  <a:pt x="21944" y="1505"/>
                  <a:pt x="18227" y="265"/>
                </a:cubicBezTo>
                <a:cubicBezTo>
                  <a:pt x="15113" y="-774"/>
                  <a:pt x="11942" y="2255"/>
                  <a:pt x="9006" y="3723"/>
                </a:cubicBezTo>
              </a:path>
            </a:pathLst>
          </a:custGeom>
          <a:noFill/>
          <a:ln cap="flat" cmpd="sng" w="28575">
            <a:solidFill>
              <a:srgbClr val="93C47D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1" name="Google Shape;81;p16"/>
          <p:cNvSpPr txBox="1"/>
          <p:nvPr/>
        </p:nvSpPr>
        <p:spPr>
          <a:xfrm>
            <a:off x="403575" y="1398475"/>
            <a:ext cx="19881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/>
              <a:t>1-</a:t>
            </a:r>
            <a:r>
              <a:rPr lang="es-419" sz="1300">
                <a:highlight>
                  <a:srgbClr val="6AA84F"/>
                </a:highlight>
              </a:rPr>
              <a:t> Lig acromioclavicular</a:t>
            </a:r>
            <a:endParaRPr sz="1300">
              <a:highlight>
                <a:srgbClr val="6AA84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/>
              <a:t>2-</a:t>
            </a:r>
            <a:r>
              <a:rPr lang="es-419" sz="1300">
                <a:highlight>
                  <a:srgbClr val="FF0000"/>
                </a:highlight>
              </a:rPr>
              <a:t> Lig trapezoideo</a:t>
            </a:r>
            <a:endParaRPr sz="1300">
              <a:highlight>
                <a:srgbClr val="FF00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/>
              <a:t>2- </a:t>
            </a:r>
            <a:r>
              <a:rPr lang="es-419" sz="1300">
                <a:highlight>
                  <a:srgbClr val="0000FF"/>
                </a:highlight>
              </a:rPr>
              <a:t>Lig conoideo</a:t>
            </a:r>
            <a:endParaRPr sz="1300">
              <a:highlight>
                <a:srgbClr val="0000FF"/>
              </a:highlight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345950" y="2997725"/>
            <a:ext cx="1988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6"/>
          <p:cNvSpPr txBox="1"/>
          <p:nvPr/>
        </p:nvSpPr>
        <p:spPr>
          <a:xfrm>
            <a:off x="228600" y="2971800"/>
            <a:ext cx="2334000" cy="9234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 sz="1200"/>
              <a:t>Cápsula</a:t>
            </a:r>
            <a:r>
              <a:rPr i="1" lang="es-419" sz="1200"/>
              <a:t> Articular: </a:t>
            </a:r>
            <a:r>
              <a:rPr lang="es-419" sz="1200"/>
              <a:t>Manguito fibroso que se inserta en las proximidades de las superficies articulares </a:t>
            </a:r>
            <a:endParaRPr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8" name="Google Shape;88;p17"/>
          <p:cNvGraphicFramePr/>
          <p:nvPr/>
        </p:nvGraphicFramePr>
        <p:xfrm>
          <a:off x="876300" y="934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{735C5254-7060-4A15-B340-EFAA526180A5}</a:tableStyleId>
              </a:tblPr>
              <a:tblGrid>
                <a:gridCol w="1746725"/>
                <a:gridCol w="5607975"/>
              </a:tblGrid>
              <a:tr h="523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/>
                        <a:t>LIGAMENTO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/>
                        <a:t>CARACTERÍSTICAS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8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/>
                        <a:t>Acromioclavicular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/>
                        <a:t>Desde </a:t>
                      </a:r>
                      <a:r>
                        <a:rPr lang="es-419" sz="1200"/>
                        <a:t>Carilla articular del acromion hasta Carilla articular de la clavícula.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/>
                        <a:t>Son superior e inferior (forman cápsula articular)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4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/>
                        <a:t>Trapezoide 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/>
                        <a:t>Desde </a:t>
                      </a:r>
                      <a:r>
                        <a:rPr lang="es-419" sz="1200"/>
                        <a:t>porción posterior del borde medial de la apófisis coracoides a la cara inferior de la clavícula.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36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/>
                        <a:t>Conoide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/>
                        <a:t>F</a:t>
                      </a:r>
                      <a:r>
                        <a:rPr lang="es-419" sz="1200"/>
                        <a:t>orma triangular 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/>
                        <a:t>Desde la base de la apófisis coracoides hasta la cara inferior de la clavícula, en dirección medial y posterior al ligamento trapezoideo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highlight>
                  <a:srgbClr val="EAD1DC"/>
                </a:highlight>
              </a:rPr>
              <a:t>ARTICULACIÓN ESCAPULOHUMERAL</a:t>
            </a:r>
            <a:r>
              <a:rPr lang="es-419"/>
              <a:t> </a:t>
            </a:r>
            <a:endParaRPr/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311700" y="1152475"/>
            <a:ext cx="4673400" cy="24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b="1" lang="es-419" sz="1200">
                <a:solidFill>
                  <a:schemeClr val="dk1"/>
                </a:solidFill>
              </a:rPr>
              <a:t>Tipo y </a:t>
            </a:r>
            <a:r>
              <a:rPr b="1" lang="es-419" sz="1200">
                <a:solidFill>
                  <a:schemeClr val="dk1"/>
                </a:solidFill>
              </a:rPr>
              <a:t>Género</a:t>
            </a:r>
            <a:r>
              <a:rPr lang="es-419" sz="1200">
                <a:solidFill>
                  <a:schemeClr val="dk1"/>
                </a:solidFill>
              </a:rPr>
              <a:t>: Diartrosis – Enartrosis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b="1" lang="es-419" sz="1200">
                <a:solidFill>
                  <a:schemeClr val="dk1"/>
                </a:solidFill>
              </a:rPr>
              <a:t>Superficies articulares:</a:t>
            </a:r>
            <a:endParaRPr b="1"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s-419" sz="1200">
                <a:solidFill>
                  <a:schemeClr val="dk1"/>
                </a:solidFill>
              </a:rPr>
              <a:t>Escapula: Cavidad Glenoidea 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s-419" sz="1200">
                <a:solidFill>
                  <a:schemeClr val="dk1"/>
                </a:solidFill>
              </a:rPr>
              <a:t>Humero: Cabeza del Húmero 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s-419" sz="1200">
                <a:solidFill>
                  <a:schemeClr val="dk1"/>
                </a:solidFill>
              </a:rPr>
              <a:t>Rodete Glenoideo 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b="1" lang="es-419" sz="1200">
                <a:solidFill>
                  <a:schemeClr val="dk1"/>
                </a:solidFill>
              </a:rPr>
              <a:t>Principales Medios de Unión: </a:t>
            </a:r>
            <a:endParaRPr b="1"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s-419" sz="1200">
                <a:solidFill>
                  <a:schemeClr val="dk1"/>
                </a:solidFill>
              </a:rPr>
              <a:t>Ligamento Glenohumeral Superior 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s-419" sz="1200">
                <a:solidFill>
                  <a:schemeClr val="dk1"/>
                </a:solidFill>
              </a:rPr>
              <a:t>Ligamento Glenohumeral Medio 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s-419" sz="1200">
                <a:solidFill>
                  <a:schemeClr val="dk1"/>
                </a:solidFill>
              </a:rPr>
              <a:t>Ligamento Glenohumeral Inferior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s-419" sz="1200">
                <a:solidFill>
                  <a:schemeClr val="dk1"/>
                </a:solidFill>
              </a:rPr>
              <a:t>Ligamento coracohumeral 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s-419" sz="1200">
                <a:solidFill>
                  <a:schemeClr val="dk1"/>
                </a:solidFill>
              </a:rPr>
              <a:t>Cápsula</a:t>
            </a:r>
            <a:r>
              <a:rPr lang="es-419" sz="1200">
                <a:solidFill>
                  <a:schemeClr val="dk1"/>
                </a:solidFill>
              </a:rPr>
              <a:t> Articular 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b="1" lang="es-419" sz="1200">
                <a:solidFill>
                  <a:schemeClr val="dk1"/>
                </a:solidFill>
              </a:rPr>
              <a:t>Movimientos:</a:t>
            </a:r>
            <a:r>
              <a:rPr lang="es-419" sz="1200">
                <a:solidFill>
                  <a:schemeClr val="dk1"/>
                </a:solidFill>
              </a:rPr>
              <a:t> </a:t>
            </a:r>
            <a:r>
              <a:rPr lang="es-419" sz="1200" u="sng">
                <a:solidFill>
                  <a:schemeClr val="dk1"/>
                </a:solidFill>
              </a:rPr>
              <a:t>Todos,</a:t>
            </a:r>
            <a:r>
              <a:rPr lang="es-419" sz="1200">
                <a:solidFill>
                  <a:schemeClr val="dk1"/>
                </a:solidFill>
              </a:rPr>
              <a:t> flexión, extensión, rotación, abducción y aducción y circunducción 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95" name="Google Shape;95;p18"/>
          <p:cNvPicPr preferRelativeResize="0"/>
          <p:nvPr/>
        </p:nvPicPr>
        <p:blipFill rotWithShape="1">
          <a:blip r:embed="rId3">
            <a:alphaModFix/>
          </a:blip>
          <a:srcRect b="33023" l="64443" r="17120" t="29702"/>
          <a:stretch/>
        </p:blipFill>
        <p:spPr>
          <a:xfrm>
            <a:off x="6411525" y="1152475"/>
            <a:ext cx="2334050" cy="26532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8"/>
          <p:cNvSpPr/>
          <p:nvPr/>
        </p:nvSpPr>
        <p:spPr>
          <a:xfrm>
            <a:off x="6296275" y="1600175"/>
            <a:ext cx="1512900" cy="1412100"/>
          </a:xfrm>
          <a:prstGeom prst="ellipse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7" name="Google Shape;97;p18"/>
          <p:cNvPicPr preferRelativeResize="0"/>
          <p:nvPr/>
        </p:nvPicPr>
        <p:blipFill rotWithShape="1">
          <a:blip r:embed="rId4">
            <a:alphaModFix/>
          </a:blip>
          <a:srcRect b="35711" l="53956" r="32378" t="33740"/>
          <a:stretch/>
        </p:blipFill>
        <p:spPr>
          <a:xfrm>
            <a:off x="6858150" y="3689275"/>
            <a:ext cx="1066177" cy="1339901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311700" y="4012875"/>
            <a:ext cx="3664800" cy="692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 sz="1100"/>
              <a:t>Rodete Glenoideo</a:t>
            </a:r>
            <a:r>
              <a:rPr lang="es-419" sz="1100"/>
              <a:t>: Es un elemento de coadaptación, se trata de un anillo fibroso que aumenta diametralmente la superficie de la cavidad glenoidea</a:t>
            </a:r>
            <a:endParaRPr sz="1100"/>
          </a:p>
        </p:txBody>
      </p:sp>
      <p:pic>
        <p:nvPicPr>
          <p:cNvPr id="99" name="Google Shape;99;p18"/>
          <p:cNvPicPr preferRelativeResize="0"/>
          <p:nvPr/>
        </p:nvPicPr>
        <p:blipFill rotWithShape="1">
          <a:blip r:embed="rId5">
            <a:alphaModFix/>
          </a:blip>
          <a:srcRect b="0" l="0" r="11032" t="0"/>
          <a:stretch/>
        </p:blipFill>
        <p:spPr>
          <a:xfrm>
            <a:off x="4535350" y="3350025"/>
            <a:ext cx="1763950" cy="1679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8"/>
          <p:cNvSpPr/>
          <p:nvPr/>
        </p:nvSpPr>
        <p:spPr>
          <a:xfrm>
            <a:off x="4927673" y="3783620"/>
            <a:ext cx="398650" cy="493925"/>
          </a:xfrm>
          <a:custGeom>
            <a:rect b="b" l="l" r="r" t="t"/>
            <a:pathLst>
              <a:path extrusionOk="0" h="19757" w="15946">
                <a:moveTo>
                  <a:pt x="7487" y="1413"/>
                </a:moveTo>
                <a:cubicBezTo>
                  <a:pt x="2004" y="3239"/>
                  <a:pt x="-2056" y="12740"/>
                  <a:pt x="1148" y="17549"/>
                </a:cubicBezTo>
                <a:cubicBezTo>
                  <a:pt x="3183" y="20603"/>
                  <a:pt x="8615" y="19862"/>
                  <a:pt x="12097" y="18702"/>
                </a:cubicBezTo>
                <a:cubicBezTo>
                  <a:pt x="16565" y="17214"/>
                  <a:pt x="16467" y="9339"/>
                  <a:pt x="14979" y="4871"/>
                </a:cubicBezTo>
                <a:cubicBezTo>
                  <a:pt x="13919" y="1688"/>
                  <a:pt x="8128" y="-1537"/>
                  <a:pt x="5758" y="837"/>
                </a:cubicBezTo>
              </a:path>
            </a:pathLst>
          </a:cu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sp>
      <p:pic>
        <p:nvPicPr>
          <p:cNvPr id="101" name="Google Shape;101;p18"/>
          <p:cNvPicPr preferRelativeResize="0"/>
          <p:nvPr/>
        </p:nvPicPr>
        <p:blipFill rotWithShape="1">
          <a:blip r:embed="rId6">
            <a:alphaModFix/>
          </a:blip>
          <a:srcRect b="0" l="28142" r="33243" t="0"/>
          <a:stretch/>
        </p:blipFill>
        <p:spPr>
          <a:xfrm>
            <a:off x="4985101" y="1426713"/>
            <a:ext cx="864449" cy="175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DESCRIPCIÓN </a:t>
            </a:r>
            <a:endParaRPr b="1"/>
          </a:p>
        </p:txBody>
      </p:sp>
      <p:sp>
        <p:nvSpPr>
          <p:cNvPr id="107" name="Google Shape;107;p19"/>
          <p:cNvSpPr txBox="1"/>
          <p:nvPr>
            <p:ph idx="1" type="body"/>
          </p:nvPr>
        </p:nvSpPr>
        <p:spPr>
          <a:xfrm>
            <a:off x="311700" y="1152475"/>
            <a:ext cx="3434400" cy="1081800"/>
          </a:xfrm>
          <a:prstGeom prst="rect">
            <a:avLst/>
          </a:prstGeom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s-419" sz="1600">
                <a:solidFill>
                  <a:schemeClr val="dk1"/>
                </a:solidFill>
                <a:highlight>
                  <a:srgbClr val="FF0000"/>
                </a:highlight>
              </a:rPr>
              <a:t>Lig glenohumeral superior</a:t>
            </a:r>
            <a:endParaRPr sz="1600">
              <a:solidFill>
                <a:schemeClr val="dk1"/>
              </a:solidFill>
              <a:highlight>
                <a:srgbClr val="FF0000"/>
              </a:highlight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s-419" sz="1600">
                <a:solidFill>
                  <a:schemeClr val="dk1"/>
                </a:solidFill>
                <a:highlight>
                  <a:srgbClr val="F9CB9C"/>
                </a:highlight>
              </a:rPr>
              <a:t>Lig glenohumeral medio</a:t>
            </a:r>
            <a:endParaRPr sz="1600">
              <a:solidFill>
                <a:schemeClr val="dk1"/>
              </a:solidFill>
              <a:highlight>
                <a:srgbClr val="F9CB9C"/>
              </a:highlight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s-419" sz="1600">
                <a:solidFill>
                  <a:schemeClr val="dk1"/>
                </a:solidFill>
                <a:highlight>
                  <a:srgbClr val="B4A7D6"/>
                </a:highlight>
              </a:rPr>
              <a:t>Lig glenohumeral inferior </a:t>
            </a:r>
            <a:endParaRPr sz="1600">
              <a:solidFill>
                <a:schemeClr val="dk1"/>
              </a:solidFill>
              <a:highlight>
                <a:srgbClr val="B4A7D6"/>
              </a:highlight>
            </a:endParaRPr>
          </a:p>
        </p:txBody>
      </p:sp>
      <p:pic>
        <p:nvPicPr>
          <p:cNvPr id="108" name="Google Shape;10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5675" y="502900"/>
            <a:ext cx="4419600" cy="441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9"/>
          <p:cNvSpPr/>
          <p:nvPr/>
        </p:nvSpPr>
        <p:spPr>
          <a:xfrm>
            <a:off x="5676750" y="2090050"/>
            <a:ext cx="662750" cy="187275"/>
          </a:xfrm>
          <a:custGeom>
            <a:rect b="b" l="l" r="r" t="t"/>
            <a:pathLst>
              <a:path extrusionOk="0" h="7491" w="26510">
                <a:moveTo>
                  <a:pt x="26510" y="0"/>
                </a:moveTo>
                <a:cubicBezTo>
                  <a:pt x="21337" y="1034"/>
                  <a:pt x="16067" y="1602"/>
                  <a:pt x="10950" y="2881"/>
                </a:cubicBezTo>
                <a:cubicBezTo>
                  <a:pt x="7108" y="3841"/>
                  <a:pt x="3960" y="7491"/>
                  <a:pt x="0" y="7491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0" name="Google Shape;110;p19"/>
          <p:cNvSpPr/>
          <p:nvPr/>
        </p:nvSpPr>
        <p:spPr>
          <a:xfrm>
            <a:off x="5835225" y="1902750"/>
            <a:ext cx="389100" cy="3315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9"/>
          <p:cNvSpPr/>
          <p:nvPr/>
        </p:nvSpPr>
        <p:spPr>
          <a:xfrm>
            <a:off x="6063825" y="2436150"/>
            <a:ext cx="389100" cy="331500"/>
          </a:xfrm>
          <a:prstGeom prst="ellipse">
            <a:avLst/>
          </a:prstGeom>
          <a:noFill/>
          <a:ln cap="flat" cmpd="sng" w="28575">
            <a:solidFill>
              <a:srgbClr val="F9CB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9"/>
          <p:cNvSpPr/>
          <p:nvPr/>
        </p:nvSpPr>
        <p:spPr>
          <a:xfrm>
            <a:off x="6063825" y="2893350"/>
            <a:ext cx="389100" cy="331500"/>
          </a:xfrm>
          <a:prstGeom prst="ellipse">
            <a:avLst/>
          </a:prstGeom>
          <a:noFill/>
          <a:ln cap="flat" cmpd="sng" w="28575">
            <a:solidFill>
              <a:srgbClr val="B4A7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9"/>
          <p:cNvSpPr txBox="1"/>
          <p:nvPr/>
        </p:nvSpPr>
        <p:spPr>
          <a:xfrm>
            <a:off x="331550" y="2940075"/>
            <a:ext cx="2780700" cy="1046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>
                <a:highlight>
                  <a:srgbClr val="999999"/>
                </a:highlight>
              </a:rPr>
              <a:t>Foramen Oval de Weitbrecht: </a:t>
            </a:r>
            <a:r>
              <a:rPr lang="es-419"/>
              <a:t>zona sin ligamentos de refuerzo por donde escapa la cabeza humeral en las luxaciones</a:t>
            </a:r>
            <a:endParaRPr/>
          </a:p>
        </p:txBody>
      </p:sp>
      <p:sp>
        <p:nvSpPr>
          <p:cNvPr id="114" name="Google Shape;114;p19"/>
          <p:cNvSpPr/>
          <p:nvPr/>
        </p:nvSpPr>
        <p:spPr>
          <a:xfrm rot="-956938">
            <a:off x="5734305" y="2075630"/>
            <a:ext cx="662710" cy="187168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9" name="Google Shape;119;p20"/>
          <p:cNvGraphicFramePr/>
          <p:nvPr/>
        </p:nvGraphicFramePr>
        <p:xfrm>
          <a:off x="952500" y="781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{735C5254-7060-4A15-B340-EFAA526180A5}</a:tableStyleId>
              </a:tblPr>
              <a:tblGrid>
                <a:gridCol w="1746725"/>
                <a:gridCol w="5607975"/>
              </a:tblGrid>
              <a:tr h="523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/>
                        <a:t>LIGAMENTO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/>
                        <a:t>CARACTERÍSTICAS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8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/>
                        <a:t>Córacohumeral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/>
                        <a:t>Desde la base de la apófisis coracoides hasta el borde superior de los tubérculos mayor y menor del húmero.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4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/>
                        <a:t>Lig. glenohumeral sup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/>
                        <a:t>Desde la porción superior del rodete glenoideo hasta el cuello anatómico del húmero.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4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</a:rPr>
                        <a:t>Lig. </a:t>
                      </a:r>
                      <a:r>
                        <a:rPr b="1" lang="es-419" sz="1200">
                          <a:solidFill>
                            <a:schemeClr val="dk1"/>
                          </a:solidFill>
                        </a:rPr>
                        <a:t>glenohumeral medio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200">
                          <a:solidFill>
                            <a:schemeClr val="dk1"/>
                          </a:solidFill>
                        </a:rPr>
                        <a:t>P</a:t>
                      </a:r>
                      <a:r>
                        <a:rPr lang="es-419" sz="1200">
                          <a:solidFill>
                            <a:schemeClr val="dk1"/>
                          </a:solidFill>
                        </a:rPr>
                        <a:t>or debajo del precedente y se extiende hasta el tubérculo menor del húmero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0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</a:rPr>
                        <a:t>Lig.</a:t>
                      </a:r>
                      <a:r>
                        <a:rPr b="1" lang="es-419" sz="1200">
                          <a:solidFill>
                            <a:schemeClr val="dk1"/>
                          </a:solidFill>
                        </a:rPr>
                        <a:t> glenohumeral inferior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200">
                          <a:solidFill>
                            <a:schemeClr val="dk1"/>
                          </a:solidFill>
                        </a:rPr>
                        <a:t>Nace a nivel</a:t>
                      </a:r>
                      <a:r>
                        <a:rPr lang="es-419" sz="1200">
                          <a:solidFill>
                            <a:schemeClr val="dk1"/>
                          </a:solidFill>
                        </a:rPr>
                        <a:t> de la porción anterior del rodete glenoideo y en el cuello de la escápula, y termina sobre la porción anterior e inferior del cuello quirúrgico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highlight>
                  <a:srgbClr val="EA9999"/>
                </a:highlight>
              </a:rPr>
              <a:t>ARTICULACIÓN DEL CODO</a:t>
            </a:r>
            <a:endParaRPr b="1">
              <a:highlight>
                <a:srgbClr val="EA9999"/>
              </a:highlight>
            </a:endParaRPr>
          </a:p>
        </p:txBody>
      </p:sp>
      <p:sp>
        <p:nvSpPr>
          <p:cNvPr id="125" name="Google Shape;125;p21"/>
          <p:cNvSpPr txBox="1"/>
          <p:nvPr>
            <p:ph idx="1" type="body"/>
          </p:nvPr>
        </p:nvSpPr>
        <p:spPr>
          <a:xfrm>
            <a:off x="311700" y="1152475"/>
            <a:ext cx="5278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La articulación del codo se encuentra conformada por tres articulaciones sinoviales y diartrosis que comparten la misma cápsula y membrana sinovial: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419">
                <a:solidFill>
                  <a:schemeClr val="dk1"/>
                </a:solidFill>
              </a:rPr>
              <a:t>Articulación Humero - Radial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419">
                <a:solidFill>
                  <a:schemeClr val="dk1"/>
                </a:solidFill>
              </a:rPr>
              <a:t>Articulación Humero - Cubital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419">
                <a:solidFill>
                  <a:schemeClr val="dk1"/>
                </a:solidFill>
              </a:rPr>
              <a:t>Articulación Radio – Cubital Superior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26" name="Google Shape;126;p21"/>
          <p:cNvPicPr preferRelativeResize="0"/>
          <p:nvPr/>
        </p:nvPicPr>
        <p:blipFill rotWithShape="1">
          <a:blip r:embed="rId3">
            <a:alphaModFix/>
          </a:blip>
          <a:srcRect b="47540" l="9564" r="47945" t="2880"/>
          <a:stretch/>
        </p:blipFill>
        <p:spPr>
          <a:xfrm>
            <a:off x="6455075" y="445025"/>
            <a:ext cx="1694900" cy="15343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1"/>
          <p:cNvPicPr preferRelativeResize="0"/>
          <p:nvPr/>
        </p:nvPicPr>
        <p:blipFill rotWithShape="1">
          <a:blip r:embed="rId4">
            <a:alphaModFix/>
          </a:blip>
          <a:srcRect b="0" l="61829" r="0" t="0"/>
          <a:stretch/>
        </p:blipFill>
        <p:spPr>
          <a:xfrm>
            <a:off x="6320927" y="1979350"/>
            <a:ext cx="1468847" cy="298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highlight>
                  <a:srgbClr val="6AA84F"/>
                </a:highlight>
              </a:rPr>
              <a:t>ARTICULACIÓN HUMERO-RADIAL</a:t>
            </a:r>
            <a:endParaRPr b="1">
              <a:highlight>
                <a:srgbClr val="6AA84F"/>
              </a:highlight>
            </a:endParaRPr>
          </a:p>
        </p:txBody>
      </p:sp>
      <p:sp>
        <p:nvSpPr>
          <p:cNvPr id="133" name="Google Shape;133;p22"/>
          <p:cNvSpPr txBox="1"/>
          <p:nvPr>
            <p:ph idx="1" type="body"/>
          </p:nvPr>
        </p:nvSpPr>
        <p:spPr>
          <a:xfrm>
            <a:off x="311700" y="1152475"/>
            <a:ext cx="3348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b="1" lang="es-419" sz="1600">
                <a:solidFill>
                  <a:schemeClr val="dk1"/>
                </a:solidFill>
              </a:rPr>
              <a:t>Tipo:</a:t>
            </a:r>
            <a:r>
              <a:rPr lang="es-419" sz="1200">
                <a:solidFill>
                  <a:schemeClr val="dk1"/>
                </a:solidFill>
              </a:rPr>
              <a:t> Diartrosis – Condilea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b="1" lang="es-419" sz="1600">
                <a:solidFill>
                  <a:schemeClr val="dk1"/>
                </a:solidFill>
              </a:rPr>
              <a:t>Superficies articulares: </a:t>
            </a:r>
            <a:endParaRPr b="1" sz="16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s-419">
                <a:solidFill>
                  <a:schemeClr val="dk1"/>
                </a:solidFill>
              </a:rPr>
              <a:t>Humero: Cóndilo </a:t>
            </a:r>
            <a:endParaRPr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s-419">
                <a:solidFill>
                  <a:schemeClr val="dk1"/>
                </a:solidFill>
              </a:rPr>
              <a:t>Radio: Cúpula Radial</a:t>
            </a:r>
            <a:r>
              <a:rPr lang="es-419" sz="1200">
                <a:solidFill>
                  <a:schemeClr val="dk1"/>
                </a:solidFill>
              </a:rPr>
              <a:t> </a:t>
            </a:r>
            <a:endParaRPr sz="12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b="1" lang="es-419" sz="1600">
                <a:solidFill>
                  <a:schemeClr val="dk1"/>
                </a:solidFill>
              </a:rPr>
              <a:t>Medios de Unión: </a:t>
            </a:r>
            <a:endParaRPr b="1" sz="16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s-419">
                <a:solidFill>
                  <a:schemeClr val="dk1"/>
                </a:solidFill>
              </a:rPr>
              <a:t>Ligamento Anterior 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s-419">
                <a:solidFill>
                  <a:schemeClr val="dk1"/>
                </a:solidFill>
              </a:rPr>
              <a:t>Ligamento Posterior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s-419">
                <a:solidFill>
                  <a:schemeClr val="dk1"/>
                </a:solidFill>
              </a:rPr>
              <a:t>Ligamento Lateral Externo 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s-419">
                <a:solidFill>
                  <a:schemeClr val="dk1"/>
                </a:solidFill>
              </a:rPr>
              <a:t>Ligamento Lateral Interno </a:t>
            </a:r>
            <a:endParaRPr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s-419">
                <a:solidFill>
                  <a:schemeClr val="dk1"/>
                </a:solidFill>
              </a:rPr>
              <a:t>Cápsula</a:t>
            </a:r>
            <a:r>
              <a:rPr lang="es-419">
                <a:solidFill>
                  <a:schemeClr val="dk1"/>
                </a:solidFill>
              </a:rPr>
              <a:t> Articula</a:t>
            </a:r>
            <a:r>
              <a:rPr lang="es-419" sz="1200">
                <a:solidFill>
                  <a:schemeClr val="dk1"/>
                </a:solidFill>
              </a:rPr>
              <a:t>r </a:t>
            </a:r>
            <a:endParaRPr sz="12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b="1" lang="es-419" sz="1400">
                <a:solidFill>
                  <a:schemeClr val="dk1"/>
                </a:solidFill>
              </a:rPr>
              <a:t>Movimientos</a:t>
            </a:r>
            <a:r>
              <a:rPr lang="es-419" sz="1400">
                <a:solidFill>
                  <a:schemeClr val="dk1"/>
                </a:solidFill>
              </a:rPr>
              <a:t>: Flexión, extensión, abducción y aducción y circunducción</a:t>
            </a:r>
            <a:r>
              <a:rPr lang="es-419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34" name="Google Shape;134;p22"/>
          <p:cNvPicPr preferRelativeResize="0"/>
          <p:nvPr/>
        </p:nvPicPr>
        <p:blipFill rotWithShape="1">
          <a:blip r:embed="rId3">
            <a:alphaModFix/>
          </a:blip>
          <a:srcRect b="0" l="61829" r="0" t="0"/>
          <a:stretch/>
        </p:blipFill>
        <p:spPr>
          <a:xfrm>
            <a:off x="6728500" y="445025"/>
            <a:ext cx="1853701" cy="376782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2"/>
          <p:cNvSpPr/>
          <p:nvPr/>
        </p:nvSpPr>
        <p:spPr>
          <a:xfrm>
            <a:off x="7049282" y="1692439"/>
            <a:ext cx="478775" cy="471825"/>
          </a:xfrm>
          <a:custGeom>
            <a:rect b="b" l="l" r="r" t="t"/>
            <a:pathLst>
              <a:path extrusionOk="0" h="18873" w="19151">
                <a:moveTo>
                  <a:pt x="13679" y="920"/>
                </a:moveTo>
                <a:cubicBezTo>
                  <a:pt x="9748" y="-64"/>
                  <a:pt x="4442" y="-794"/>
                  <a:pt x="1576" y="2072"/>
                </a:cubicBezTo>
                <a:cubicBezTo>
                  <a:pt x="-1785" y="5433"/>
                  <a:pt x="1080" y="13267"/>
                  <a:pt x="5034" y="15904"/>
                </a:cubicBezTo>
                <a:cubicBezTo>
                  <a:pt x="8108" y="17954"/>
                  <a:pt x="13370" y="20244"/>
                  <a:pt x="15984" y="17632"/>
                </a:cubicBezTo>
                <a:cubicBezTo>
                  <a:pt x="19023" y="14596"/>
                  <a:pt x="19647" y="9029"/>
                  <a:pt x="18289" y="4954"/>
                </a:cubicBezTo>
                <a:cubicBezTo>
                  <a:pt x="17682" y="3132"/>
                  <a:pt x="14537" y="3214"/>
                  <a:pt x="13679" y="1496"/>
                </a:cubicBezTo>
              </a:path>
            </a:pathLst>
          </a:custGeom>
          <a:noFill/>
          <a:ln cap="flat" cmpd="sng" w="28575">
            <a:solidFill>
              <a:srgbClr val="F1C23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36" name="Google Shape;136;p22"/>
          <p:cNvSpPr/>
          <p:nvPr/>
        </p:nvSpPr>
        <p:spPr>
          <a:xfrm>
            <a:off x="6725452" y="2720734"/>
            <a:ext cx="674775" cy="353400"/>
          </a:xfrm>
          <a:custGeom>
            <a:rect b="b" l="l" r="r" t="t"/>
            <a:pathLst>
              <a:path extrusionOk="0" h="14136" w="26991">
                <a:moveTo>
                  <a:pt x="13953" y="130"/>
                </a:moveTo>
                <a:cubicBezTo>
                  <a:pt x="10490" y="130"/>
                  <a:pt x="6865" y="-389"/>
                  <a:pt x="3580" y="706"/>
                </a:cubicBezTo>
                <a:cubicBezTo>
                  <a:pt x="175" y="1840"/>
                  <a:pt x="-436" y="7675"/>
                  <a:pt x="698" y="11080"/>
                </a:cubicBezTo>
                <a:cubicBezTo>
                  <a:pt x="1891" y="14661"/>
                  <a:pt x="7874" y="13961"/>
                  <a:pt x="11648" y="13961"/>
                </a:cubicBezTo>
                <a:cubicBezTo>
                  <a:pt x="16821" y="13961"/>
                  <a:pt x="24318" y="14553"/>
                  <a:pt x="26632" y="9927"/>
                </a:cubicBezTo>
                <a:cubicBezTo>
                  <a:pt x="28042" y="7109"/>
                  <a:pt x="23926" y="3199"/>
                  <a:pt x="20869" y="2435"/>
                </a:cubicBezTo>
                <a:cubicBezTo>
                  <a:pt x="17652" y="1631"/>
                  <a:pt x="13417" y="3051"/>
                  <a:pt x="11072" y="706"/>
                </a:cubicBezTo>
              </a:path>
            </a:pathLst>
          </a:cu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sp>
      <p:pic>
        <p:nvPicPr>
          <p:cNvPr id="137" name="Google Shape;137;p22"/>
          <p:cNvPicPr preferRelativeResize="0"/>
          <p:nvPr/>
        </p:nvPicPr>
        <p:blipFill rotWithShape="1">
          <a:blip r:embed="rId4">
            <a:alphaModFix/>
          </a:blip>
          <a:srcRect b="48105" l="0" r="0" t="0"/>
          <a:stretch/>
        </p:blipFill>
        <p:spPr>
          <a:xfrm>
            <a:off x="4765575" y="2493450"/>
            <a:ext cx="1689175" cy="103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2"/>
          <p:cNvPicPr preferRelativeResize="0"/>
          <p:nvPr/>
        </p:nvPicPr>
        <p:blipFill rotWithShape="1">
          <a:blip r:embed="rId5">
            <a:alphaModFix/>
          </a:blip>
          <a:srcRect b="14811" l="47900" r="38864" t="59770"/>
          <a:stretch/>
        </p:blipFill>
        <p:spPr>
          <a:xfrm>
            <a:off x="3659700" y="3636024"/>
            <a:ext cx="1210225" cy="13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highlight>
                  <a:srgbClr val="A61C00"/>
                </a:highlight>
              </a:rPr>
              <a:t>ARTICULACIÓN HÚMERO-CUBITAL</a:t>
            </a:r>
            <a:endParaRPr b="1">
              <a:highlight>
                <a:srgbClr val="A61C00"/>
              </a:highlight>
            </a:endParaRPr>
          </a:p>
        </p:txBody>
      </p:sp>
      <p:sp>
        <p:nvSpPr>
          <p:cNvPr id="144" name="Google Shape;144;p23"/>
          <p:cNvSpPr txBox="1"/>
          <p:nvPr>
            <p:ph idx="1" type="body"/>
          </p:nvPr>
        </p:nvSpPr>
        <p:spPr>
          <a:xfrm>
            <a:off x="311700" y="1152475"/>
            <a:ext cx="4788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-419">
                <a:solidFill>
                  <a:schemeClr val="dk1"/>
                </a:solidFill>
              </a:rPr>
              <a:t>T</a:t>
            </a:r>
            <a:r>
              <a:rPr b="1" lang="es-419">
                <a:solidFill>
                  <a:schemeClr val="dk1"/>
                </a:solidFill>
              </a:rPr>
              <a:t>ipo: </a:t>
            </a:r>
            <a:r>
              <a:rPr lang="es-419">
                <a:solidFill>
                  <a:schemeClr val="dk1"/>
                </a:solidFill>
              </a:rPr>
              <a:t>Sinovial - Diartrosis – Troclear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-419">
                <a:solidFill>
                  <a:schemeClr val="dk1"/>
                </a:solidFill>
              </a:rPr>
              <a:t>Superficies articulares:</a:t>
            </a:r>
            <a:endParaRPr b="1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s-419">
                <a:solidFill>
                  <a:schemeClr val="dk1"/>
                </a:solidFill>
              </a:rPr>
              <a:t>Húmero: Tróclea 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s-419">
                <a:solidFill>
                  <a:schemeClr val="dk1"/>
                </a:solidFill>
              </a:rPr>
              <a:t>Cúbito: Cavidad Sigmoidea Mayor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-419">
                <a:solidFill>
                  <a:schemeClr val="dk1"/>
                </a:solidFill>
              </a:rPr>
              <a:t>Medios de Unión</a:t>
            </a:r>
            <a:r>
              <a:rPr lang="es-419">
                <a:solidFill>
                  <a:schemeClr val="dk1"/>
                </a:solidFill>
              </a:rPr>
              <a:t>: 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s-419">
                <a:solidFill>
                  <a:schemeClr val="dk1"/>
                </a:solidFill>
              </a:rPr>
              <a:t>Ligamento Anterior 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s-419">
                <a:solidFill>
                  <a:schemeClr val="dk1"/>
                </a:solidFill>
              </a:rPr>
              <a:t>Ligamento Posterior 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s-419">
                <a:solidFill>
                  <a:schemeClr val="dk1"/>
                </a:solidFill>
              </a:rPr>
              <a:t>Ligamento Lateral Externo 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s-419">
                <a:solidFill>
                  <a:schemeClr val="dk1"/>
                </a:solidFill>
              </a:rPr>
              <a:t>Ligamento Lateral Interno 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s-419">
                <a:solidFill>
                  <a:schemeClr val="dk1"/>
                </a:solidFill>
              </a:rPr>
              <a:t>Cápsula Articular 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s-419" sz="1400">
                <a:solidFill>
                  <a:schemeClr val="dk1"/>
                </a:solidFill>
              </a:rPr>
              <a:t>Movimientos:</a:t>
            </a:r>
            <a:r>
              <a:rPr lang="es-419" sz="1400">
                <a:solidFill>
                  <a:schemeClr val="dk1"/>
                </a:solidFill>
              </a:rPr>
              <a:t> flexión y extensión </a:t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id="145" name="Google Shape;145;p23"/>
          <p:cNvPicPr preferRelativeResize="0"/>
          <p:nvPr/>
        </p:nvPicPr>
        <p:blipFill rotWithShape="1">
          <a:blip r:embed="rId3">
            <a:alphaModFix/>
          </a:blip>
          <a:srcRect b="0" l="61829" r="0" t="0"/>
          <a:stretch/>
        </p:blipFill>
        <p:spPr>
          <a:xfrm>
            <a:off x="6018350" y="473650"/>
            <a:ext cx="1957700" cy="3979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3"/>
          <p:cNvSpPr/>
          <p:nvPr/>
        </p:nvSpPr>
        <p:spPr>
          <a:xfrm>
            <a:off x="6814950" y="1801875"/>
            <a:ext cx="645200" cy="561600"/>
          </a:xfrm>
          <a:custGeom>
            <a:rect b="b" l="l" r="r" t="t"/>
            <a:pathLst>
              <a:path extrusionOk="0" h="22464" w="25808">
                <a:moveTo>
                  <a:pt x="0" y="0"/>
                </a:moveTo>
                <a:cubicBezTo>
                  <a:pt x="5337" y="2670"/>
                  <a:pt x="-737" y="12205"/>
                  <a:pt x="1152" y="17866"/>
                </a:cubicBezTo>
                <a:cubicBezTo>
                  <a:pt x="2491" y="21879"/>
                  <a:pt x="9817" y="15953"/>
                  <a:pt x="13831" y="17290"/>
                </a:cubicBezTo>
                <a:cubicBezTo>
                  <a:pt x="17693" y="18577"/>
                  <a:pt x="23536" y="24964"/>
                  <a:pt x="25357" y="21324"/>
                </a:cubicBezTo>
                <a:cubicBezTo>
                  <a:pt x="26988" y="18064"/>
                  <a:pt x="22783" y="14486"/>
                  <a:pt x="21899" y="10950"/>
                </a:cubicBezTo>
                <a:cubicBezTo>
                  <a:pt x="21187" y="8099"/>
                  <a:pt x="22248" y="4384"/>
                  <a:pt x="20170" y="2306"/>
                </a:cubicBezTo>
                <a:cubicBezTo>
                  <a:pt x="18133" y="269"/>
                  <a:pt x="14407" y="2306"/>
                  <a:pt x="11526" y="2306"/>
                </a:cubicBezTo>
                <a:cubicBezTo>
                  <a:pt x="8171" y="2306"/>
                  <a:pt x="5084" y="0"/>
                  <a:pt x="1729" y="0"/>
                </a:cubicBezTo>
              </a:path>
            </a:pathLst>
          </a:custGeom>
          <a:noFill/>
          <a:ln cap="flat" cmpd="sng" w="28575">
            <a:solidFill>
              <a:srgbClr val="F1C23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47" name="Google Shape;147;p23"/>
          <p:cNvSpPr/>
          <p:nvPr/>
        </p:nvSpPr>
        <p:spPr>
          <a:xfrm>
            <a:off x="6757461" y="2327829"/>
            <a:ext cx="625050" cy="717725"/>
          </a:xfrm>
          <a:custGeom>
            <a:rect b="b" l="l" r="r" t="t"/>
            <a:pathLst>
              <a:path extrusionOk="0" h="28709" w="25002">
                <a:moveTo>
                  <a:pt x="1147" y="6625"/>
                </a:moveTo>
                <a:cubicBezTo>
                  <a:pt x="1147" y="10083"/>
                  <a:pt x="-1299" y="14554"/>
                  <a:pt x="1147" y="16998"/>
                </a:cubicBezTo>
                <a:cubicBezTo>
                  <a:pt x="2017" y="17868"/>
                  <a:pt x="3640" y="18137"/>
                  <a:pt x="4029" y="19304"/>
                </a:cubicBezTo>
                <a:cubicBezTo>
                  <a:pt x="4790" y="21587"/>
                  <a:pt x="5786" y="27346"/>
                  <a:pt x="7486" y="25643"/>
                </a:cubicBezTo>
                <a:cubicBezTo>
                  <a:pt x="9126" y="24000"/>
                  <a:pt x="11624" y="22026"/>
                  <a:pt x="13826" y="22761"/>
                </a:cubicBezTo>
                <a:cubicBezTo>
                  <a:pt x="16277" y="23579"/>
                  <a:pt x="16560" y="27707"/>
                  <a:pt x="19012" y="28524"/>
                </a:cubicBezTo>
                <a:cubicBezTo>
                  <a:pt x="21237" y="29265"/>
                  <a:pt x="24034" y="26715"/>
                  <a:pt x="24775" y="24490"/>
                </a:cubicBezTo>
                <a:cubicBezTo>
                  <a:pt x="25686" y="21756"/>
                  <a:pt x="20741" y="19304"/>
                  <a:pt x="17860" y="19304"/>
                </a:cubicBezTo>
                <a:cubicBezTo>
                  <a:pt x="16645" y="19304"/>
                  <a:pt x="13542" y="19009"/>
                  <a:pt x="14402" y="18151"/>
                </a:cubicBezTo>
                <a:cubicBezTo>
                  <a:pt x="18316" y="14243"/>
                  <a:pt x="23235" y="7192"/>
                  <a:pt x="20165" y="2591"/>
                </a:cubicBezTo>
                <a:cubicBezTo>
                  <a:pt x="16752" y="-2525"/>
                  <a:pt x="2300" y="1051"/>
                  <a:pt x="2300" y="7201"/>
                </a:cubicBezTo>
              </a:path>
            </a:pathLst>
          </a:custGeom>
          <a:noFill/>
          <a:ln cap="flat" cmpd="sng" w="28575">
            <a:solidFill>
              <a:srgbClr val="E06666"/>
            </a:solidFill>
            <a:prstDash val="solid"/>
            <a:round/>
            <a:headEnd len="med" w="med" type="none"/>
            <a:tailEnd len="med" w="med" type="none"/>
          </a:ln>
        </p:spPr>
      </p:sp>
      <p:pic>
        <p:nvPicPr>
          <p:cNvPr id="148" name="Google Shape;148;p23"/>
          <p:cNvPicPr preferRelativeResize="0"/>
          <p:nvPr/>
        </p:nvPicPr>
        <p:blipFill rotWithShape="1">
          <a:blip r:embed="rId4">
            <a:alphaModFix/>
          </a:blip>
          <a:srcRect b="29374" l="47625" r="15389" t="18495"/>
          <a:stretch/>
        </p:blipFill>
        <p:spPr>
          <a:xfrm>
            <a:off x="3774625" y="3257075"/>
            <a:ext cx="2243723" cy="1777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DESCRIPCIÓN</a:t>
            </a:r>
            <a:endParaRPr b="1"/>
          </a:p>
        </p:txBody>
      </p:sp>
      <p:pic>
        <p:nvPicPr>
          <p:cNvPr id="154" name="Google Shape;154;p24"/>
          <p:cNvPicPr preferRelativeResize="0"/>
          <p:nvPr/>
        </p:nvPicPr>
        <p:blipFill rotWithShape="1">
          <a:blip r:embed="rId3">
            <a:alphaModFix/>
          </a:blip>
          <a:srcRect b="41609" l="17685" r="47266" t="19930"/>
          <a:stretch/>
        </p:blipFill>
        <p:spPr>
          <a:xfrm>
            <a:off x="1426525" y="878900"/>
            <a:ext cx="6166425" cy="3804499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4"/>
          <p:cNvSpPr/>
          <p:nvPr/>
        </p:nvSpPr>
        <p:spPr>
          <a:xfrm>
            <a:off x="3970794" y="2536675"/>
            <a:ext cx="186000" cy="691550"/>
          </a:xfrm>
          <a:custGeom>
            <a:rect b="b" l="l" r="r" t="t"/>
            <a:pathLst>
              <a:path extrusionOk="0" h="27662" w="7440">
                <a:moveTo>
                  <a:pt x="6573" y="576"/>
                </a:moveTo>
                <a:cubicBezTo>
                  <a:pt x="6573" y="9807"/>
                  <a:pt x="10041" y="27662"/>
                  <a:pt x="810" y="27662"/>
                </a:cubicBezTo>
                <a:cubicBezTo>
                  <a:pt x="-548" y="27662"/>
                  <a:pt x="234" y="24986"/>
                  <a:pt x="234" y="23628"/>
                </a:cubicBezTo>
                <a:cubicBezTo>
                  <a:pt x="234" y="19521"/>
                  <a:pt x="1241" y="15422"/>
                  <a:pt x="2539" y="11526"/>
                </a:cubicBezTo>
                <a:cubicBezTo>
                  <a:pt x="3791" y="7769"/>
                  <a:pt x="1461" y="0"/>
                  <a:pt x="5421" y="0"/>
                </a:cubicBezTo>
              </a:path>
            </a:pathLst>
          </a:custGeom>
          <a:noFill/>
          <a:ln cap="flat" cmpd="sng" w="2857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56" name="Google Shape;156;p24"/>
          <p:cNvSpPr/>
          <p:nvPr/>
        </p:nvSpPr>
        <p:spPr>
          <a:xfrm>
            <a:off x="4798631" y="2594300"/>
            <a:ext cx="855375" cy="841350"/>
          </a:xfrm>
          <a:custGeom>
            <a:rect b="b" l="l" r="r" t="t"/>
            <a:pathLst>
              <a:path extrusionOk="0" h="33654" w="34215">
                <a:moveTo>
                  <a:pt x="28209" y="1153"/>
                </a:moveTo>
                <a:cubicBezTo>
                  <a:pt x="30130" y="1153"/>
                  <a:pt x="33113" y="-565"/>
                  <a:pt x="33972" y="1153"/>
                </a:cubicBezTo>
                <a:cubicBezTo>
                  <a:pt x="34458" y="2125"/>
                  <a:pt x="31930" y="2404"/>
                  <a:pt x="31667" y="3458"/>
                </a:cubicBezTo>
                <a:cubicBezTo>
                  <a:pt x="30871" y="6643"/>
                  <a:pt x="30029" y="9947"/>
                  <a:pt x="28209" y="12679"/>
                </a:cubicBezTo>
                <a:cubicBezTo>
                  <a:pt x="22706" y="20938"/>
                  <a:pt x="16234" y="32849"/>
                  <a:pt x="6310" y="32849"/>
                </a:cubicBezTo>
                <a:cubicBezTo>
                  <a:pt x="4389" y="32849"/>
                  <a:pt x="1406" y="34567"/>
                  <a:pt x="547" y="32849"/>
                </a:cubicBezTo>
                <a:cubicBezTo>
                  <a:pt x="-2677" y="26399"/>
                  <a:pt x="10684" y="22443"/>
                  <a:pt x="16683" y="18442"/>
                </a:cubicBezTo>
                <a:cubicBezTo>
                  <a:pt x="23076" y="14179"/>
                  <a:pt x="22830" y="0"/>
                  <a:pt x="30514" y="0"/>
                </a:cubicBezTo>
              </a:path>
            </a:pathLst>
          </a:custGeom>
          <a:noFill/>
          <a:ln cap="flat" cmpd="sng" w="28575">
            <a:solidFill>
              <a:srgbClr val="76A5A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57" name="Google Shape;157;p24"/>
          <p:cNvSpPr/>
          <p:nvPr/>
        </p:nvSpPr>
        <p:spPr>
          <a:xfrm>
            <a:off x="4155396" y="2118850"/>
            <a:ext cx="1284725" cy="1080825"/>
          </a:xfrm>
          <a:custGeom>
            <a:rect b="b" l="l" r="r" t="t"/>
            <a:pathLst>
              <a:path extrusionOk="0" h="43233" w="51389">
                <a:moveTo>
                  <a:pt x="29157" y="0"/>
                </a:moveTo>
                <a:cubicBezTo>
                  <a:pt x="23656" y="5501"/>
                  <a:pt x="17191" y="11152"/>
                  <a:pt x="9563" y="12679"/>
                </a:cubicBezTo>
                <a:cubicBezTo>
                  <a:pt x="6712" y="13250"/>
                  <a:pt x="1624" y="11011"/>
                  <a:pt x="918" y="13831"/>
                </a:cubicBezTo>
                <a:cubicBezTo>
                  <a:pt x="-62" y="17745"/>
                  <a:pt x="918" y="21900"/>
                  <a:pt x="918" y="25934"/>
                </a:cubicBezTo>
                <a:cubicBezTo>
                  <a:pt x="918" y="29397"/>
                  <a:pt x="-1387" y="34387"/>
                  <a:pt x="1495" y="36307"/>
                </a:cubicBezTo>
                <a:cubicBezTo>
                  <a:pt x="3598" y="37708"/>
                  <a:pt x="6590" y="36661"/>
                  <a:pt x="8987" y="37460"/>
                </a:cubicBezTo>
                <a:cubicBezTo>
                  <a:pt x="15221" y="39537"/>
                  <a:pt x="21772" y="44727"/>
                  <a:pt x="28005" y="42647"/>
                </a:cubicBezTo>
                <a:cubicBezTo>
                  <a:pt x="36315" y="39874"/>
                  <a:pt x="45982" y="34822"/>
                  <a:pt x="48751" y="26510"/>
                </a:cubicBezTo>
                <a:cubicBezTo>
                  <a:pt x="50039" y="22644"/>
                  <a:pt x="52739" y="17799"/>
                  <a:pt x="50480" y="14408"/>
                </a:cubicBezTo>
                <a:cubicBezTo>
                  <a:pt x="49000" y="12187"/>
                  <a:pt x="45452" y="12261"/>
                  <a:pt x="43565" y="10374"/>
                </a:cubicBezTo>
                <a:cubicBezTo>
                  <a:pt x="39345" y="6154"/>
                  <a:pt x="34549" y="576"/>
                  <a:pt x="28581" y="576"/>
                </a:cubicBezTo>
              </a:path>
            </a:pathLst>
          </a:custGeom>
          <a:noFill/>
          <a:ln cap="flat" cmpd="sng" w="28575">
            <a:solidFill>
              <a:srgbClr val="F1C232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es-419"/>
              <a:t>DESCRIPCIÓN</a:t>
            </a:r>
            <a:endParaRPr/>
          </a:p>
        </p:txBody>
      </p:sp>
      <p:pic>
        <p:nvPicPr>
          <p:cNvPr id="163" name="Google Shape;163;p25"/>
          <p:cNvPicPr preferRelativeResize="0"/>
          <p:nvPr/>
        </p:nvPicPr>
        <p:blipFill rotWithShape="1">
          <a:blip r:embed="rId3">
            <a:alphaModFix/>
          </a:blip>
          <a:srcRect b="35830" l="9708" r="8638" t="42553"/>
          <a:stretch/>
        </p:blipFill>
        <p:spPr>
          <a:xfrm>
            <a:off x="652350" y="1092075"/>
            <a:ext cx="7880926" cy="2698048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5"/>
          <p:cNvSpPr/>
          <p:nvPr/>
        </p:nvSpPr>
        <p:spPr>
          <a:xfrm>
            <a:off x="7299038" y="2090050"/>
            <a:ext cx="186450" cy="749175"/>
          </a:xfrm>
          <a:custGeom>
            <a:rect b="b" l="l" r="r" t="t"/>
            <a:pathLst>
              <a:path extrusionOk="0" h="29967" w="7458">
                <a:moveTo>
                  <a:pt x="2535" y="0"/>
                </a:moveTo>
                <a:cubicBezTo>
                  <a:pt x="7754" y="1739"/>
                  <a:pt x="5993" y="10635"/>
                  <a:pt x="5993" y="16136"/>
                </a:cubicBezTo>
                <a:cubicBezTo>
                  <a:pt x="5993" y="20554"/>
                  <a:pt x="9117" y="26267"/>
                  <a:pt x="5993" y="29391"/>
                </a:cubicBezTo>
                <a:cubicBezTo>
                  <a:pt x="5033" y="30351"/>
                  <a:pt x="2919" y="29776"/>
                  <a:pt x="1959" y="28815"/>
                </a:cubicBezTo>
                <a:cubicBezTo>
                  <a:pt x="-1436" y="25418"/>
                  <a:pt x="441" y="18963"/>
                  <a:pt x="1959" y="14407"/>
                </a:cubicBezTo>
                <a:cubicBezTo>
                  <a:pt x="3295" y="10397"/>
                  <a:pt x="1959" y="5954"/>
                  <a:pt x="1959" y="1728"/>
                </a:cubicBezTo>
              </a:path>
            </a:pathLst>
          </a:cu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9" name="Google Shape;169;p26"/>
          <p:cNvGraphicFramePr/>
          <p:nvPr/>
        </p:nvGraphicFramePr>
        <p:xfrm>
          <a:off x="239500" y="248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{735C5254-7060-4A15-B340-EFAA526180A5}</a:tableStyleId>
              </a:tblPr>
              <a:tblGrid>
                <a:gridCol w="1901500"/>
                <a:gridCol w="6857775"/>
              </a:tblGrid>
              <a:tr h="365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/>
                        <a:t>LIGAMENTO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/>
                        <a:t>CARACTERÍSTICAS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8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/>
                        <a:t>Lig anterior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/>
                        <a:t>D</a:t>
                      </a:r>
                      <a:r>
                        <a:rPr lang="es-419" sz="1200"/>
                        <a:t>esde la cara anterior del epicondilo y la tróclea y las fosas coronoidea y radial y termina (fibras verticales y oblicuas) sobre la apófisis coronoides y la cara anterior del ligamento anular del radio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/>
                        <a:t>Fibras oblicuas: fascículo oblicuo lateral y un fascículo oblicuo medial, que se insertan en la cara anterior del epicóndilo y epitroclea respectivamente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4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/>
                        <a:t>Lig lateral externo o colateral radial 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/>
                        <a:t>Fibras radiadas desde el epicóndilo hasta el lig anular del radio. </a:t>
                      </a:r>
                      <a:endParaRPr sz="1200"/>
                    </a:p>
                    <a:p>
                      <a:pPr indent="-3048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-"/>
                      </a:pPr>
                      <a:r>
                        <a:rPr b="1" lang="es-419" sz="1200"/>
                        <a:t>Fascículo anterior</a:t>
                      </a:r>
                      <a:r>
                        <a:rPr lang="es-419" sz="1200"/>
                        <a:t>: desde la porción anteroinferior del epicóndilo y termina por delante de la escotadura radial del cúbito. </a:t>
                      </a:r>
                      <a:endParaRPr sz="1200"/>
                    </a:p>
                    <a:p>
                      <a:pPr indent="-3048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-"/>
                      </a:pPr>
                      <a:r>
                        <a:rPr b="1" lang="es-419" sz="1200"/>
                        <a:t>Fascículo medio: </a:t>
                      </a:r>
                      <a:r>
                        <a:rPr lang="es-419" sz="1200"/>
                        <a:t>desde la porción inferior del epicóndilo  hasta la porción posterior de la escotadura radial. </a:t>
                      </a:r>
                      <a:endParaRPr sz="1200"/>
                    </a:p>
                    <a:p>
                      <a:pPr indent="-3048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-"/>
                      </a:pPr>
                      <a:r>
                        <a:rPr b="1" lang="es-419" sz="1200"/>
                        <a:t>Fascículo posterior</a:t>
                      </a:r>
                      <a:r>
                        <a:rPr lang="es-419" sz="1200"/>
                        <a:t>:  desde la porción posterior del epicóndilo al borde lateral del olécranon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0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</a:rPr>
                        <a:t>Lig. lateral interno o colateral cubital 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solidFill>
                            <a:schemeClr val="dk1"/>
                          </a:solidFill>
                        </a:rPr>
                        <a:t>Aspecto triangular o en abanico, de vértice superior.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-3048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-"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</a:rPr>
                        <a:t>Fascículo anterior:</a:t>
                      </a:r>
                      <a:r>
                        <a:rPr lang="es-419" sz="1200">
                          <a:solidFill>
                            <a:schemeClr val="dk1"/>
                          </a:solidFill>
                        </a:rPr>
                        <a:t> desde la porción anteromedial de epitróclea hasta la porción medial de la apóf coronoides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-3048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-"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</a:rPr>
                        <a:t>Fascículo medio</a:t>
                      </a:r>
                      <a:r>
                        <a:rPr lang="es-419" sz="1200">
                          <a:solidFill>
                            <a:schemeClr val="dk1"/>
                          </a:solidFill>
                        </a:rPr>
                        <a:t>: desde el borde inferior de epitróclea hasta el borde medial de la apóf coronoides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-3048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-"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</a:rPr>
                        <a:t>Fascículo posterior:</a:t>
                      </a:r>
                      <a:r>
                        <a:rPr lang="es-419" sz="1200">
                          <a:solidFill>
                            <a:schemeClr val="dk1"/>
                          </a:solidFill>
                        </a:rPr>
                        <a:t> desde la porción posteroinferior de epitróclea hasta el borde medial del olécranon </a:t>
                      </a:r>
                      <a:r>
                        <a:rPr i="1" lang="es-419" sz="1200">
                          <a:solidFill>
                            <a:schemeClr val="dk1"/>
                          </a:solidFill>
                        </a:rPr>
                        <a:t>[ligamento de Bardinet</a:t>
                      </a:r>
                      <a:r>
                        <a:rPr lang="es-419" sz="1200">
                          <a:solidFill>
                            <a:schemeClr val="dk1"/>
                          </a:solidFill>
                        </a:rPr>
                        <a:t>].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solidFill>
                            <a:schemeClr val="dk1"/>
                          </a:solidFill>
                        </a:rPr>
                        <a:t>Las inserciones cubitales están reforzadas por fibras arciformes denominadas </a:t>
                      </a:r>
                      <a:r>
                        <a:rPr i="1" lang="es-419" sz="1200">
                          <a:solidFill>
                            <a:schemeClr val="dk1"/>
                          </a:solidFill>
                        </a:rPr>
                        <a:t>fascículo arqueado del ligamento colateral cubital [ligamento de Cooper].</a:t>
                      </a:r>
                      <a:endParaRPr i="1"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" name="Google Shape;174;p27"/>
          <p:cNvGraphicFramePr/>
          <p:nvPr/>
        </p:nvGraphicFramePr>
        <p:xfrm>
          <a:off x="192363" y="608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{735C5254-7060-4A15-B340-EFAA526180A5}</a:tableStyleId>
              </a:tblPr>
              <a:tblGrid>
                <a:gridCol w="1901500"/>
                <a:gridCol w="6857775"/>
              </a:tblGrid>
              <a:tr h="365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/>
                        <a:t>LIGAMENTO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/>
                        <a:t>CARACTERÍSTICAS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3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/>
                        <a:t>Lig posterior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/>
                        <a:t>Refuerza  cara posterior de la articulación. 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/>
                        <a:t>Formado por fibras transversales [humerohumerales] ubicadas por encima del olécranon, y fibras oblicuas mediales y laterales, que se extienden desde los bordes medial y lateral de la fosa del olécranon del húmero a los bordes corre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75" name="Google Shape;175;p27"/>
          <p:cNvPicPr preferRelativeResize="0"/>
          <p:nvPr/>
        </p:nvPicPr>
        <p:blipFill rotWithShape="1">
          <a:blip r:embed="rId3">
            <a:alphaModFix/>
          </a:blip>
          <a:srcRect b="18244" l="28403" r="51002" t="58800"/>
          <a:stretch/>
        </p:blipFill>
        <p:spPr>
          <a:xfrm>
            <a:off x="5086023" y="2120252"/>
            <a:ext cx="3515449" cy="220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7"/>
          <p:cNvPicPr preferRelativeResize="0"/>
          <p:nvPr/>
        </p:nvPicPr>
        <p:blipFill rotWithShape="1">
          <a:blip r:embed="rId4">
            <a:alphaModFix/>
          </a:blip>
          <a:srcRect b="19928" l="48948" r="29958" t="52378"/>
          <a:stretch/>
        </p:blipFill>
        <p:spPr>
          <a:xfrm>
            <a:off x="732800" y="2018432"/>
            <a:ext cx="3515449" cy="25948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highlight>
                  <a:srgbClr val="C27BA0"/>
                </a:highlight>
              </a:rPr>
              <a:t>ARTICULACIÓN RADIOCUBITAL SUPERIOR</a:t>
            </a:r>
            <a:endParaRPr>
              <a:highlight>
                <a:srgbClr val="C27BA0"/>
              </a:highlight>
            </a:endParaRPr>
          </a:p>
        </p:txBody>
      </p:sp>
      <p:sp>
        <p:nvSpPr>
          <p:cNvPr id="182" name="Google Shape;182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-419">
                <a:solidFill>
                  <a:schemeClr val="dk1"/>
                </a:solidFill>
              </a:rPr>
              <a:t>Tipo</a:t>
            </a:r>
            <a:r>
              <a:rPr lang="es-419">
                <a:solidFill>
                  <a:schemeClr val="dk1"/>
                </a:solidFill>
              </a:rPr>
              <a:t>: sinovial - Diartrosis – Trocoide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-419">
                <a:solidFill>
                  <a:schemeClr val="dk1"/>
                </a:solidFill>
              </a:rPr>
              <a:t>Superficies articulares: </a:t>
            </a:r>
            <a:endParaRPr b="1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s-419">
                <a:solidFill>
                  <a:schemeClr val="dk1"/>
                </a:solidFill>
              </a:rPr>
              <a:t>Cúbito: Cavidad Sigmoidea Menor 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s-419">
                <a:solidFill>
                  <a:schemeClr val="dk1"/>
                </a:solidFill>
              </a:rPr>
              <a:t>Radio: Cabeza del Radio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-419">
                <a:solidFill>
                  <a:schemeClr val="dk1"/>
                </a:solidFill>
              </a:rPr>
              <a:t>Medios de Unión: </a:t>
            </a:r>
            <a:endParaRPr b="1">
              <a:solidFill>
                <a:schemeClr val="dk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s-419" sz="1300">
                <a:solidFill>
                  <a:schemeClr val="dk1"/>
                </a:solidFill>
              </a:rPr>
              <a:t>Ligamento Cuadrado de Denucé 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s-419" sz="1300">
                <a:solidFill>
                  <a:schemeClr val="dk1"/>
                </a:solidFill>
              </a:rPr>
              <a:t>Ligamento Anular</a:t>
            </a:r>
            <a:endParaRPr sz="13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-419" sz="1700">
                <a:solidFill>
                  <a:schemeClr val="dk1"/>
                </a:solidFill>
              </a:rPr>
              <a:t>Movimiento</a:t>
            </a:r>
            <a:r>
              <a:rPr lang="es-419" sz="1700">
                <a:solidFill>
                  <a:schemeClr val="dk1"/>
                </a:solidFill>
              </a:rPr>
              <a:t>: rotación</a:t>
            </a:r>
            <a:r>
              <a:rPr lang="es-419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83" name="Google Shape;183;p28"/>
          <p:cNvPicPr preferRelativeResize="0"/>
          <p:nvPr/>
        </p:nvPicPr>
        <p:blipFill rotWithShape="1">
          <a:blip r:embed="rId3">
            <a:alphaModFix/>
          </a:blip>
          <a:srcRect b="11154" l="49998" r="15388" t="33545"/>
          <a:stretch/>
        </p:blipFill>
        <p:spPr>
          <a:xfrm>
            <a:off x="4898725" y="1089975"/>
            <a:ext cx="3803320" cy="341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8"/>
          <p:cNvSpPr/>
          <p:nvPr/>
        </p:nvSpPr>
        <p:spPr>
          <a:xfrm>
            <a:off x="7326836" y="2666350"/>
            <a:ext cx="186950" cy="288150"/>
          </a:xfrm>
          <a:custGeom>
            <a:rect b="b" l="l" r="r" t="t"/>
            <a:pathLst>
              <a:path extrusionOk="0" h="11526" w="7478">
                <a:moveTo>
                  <a:pt x="6035" y="0"/>
                </a:moveTo>
                <a:cubicBezTo>
                  <a:pt x="3774" y="1506"/>
                  <a:pt x="931" y="3127"/>
                  <a:pt x="272" y="5763"/>
                </a:cubicBezTo>
                <a:cubicBezTo>
                  <a:pt x="-271" y="7936"/>
                  <a:pt x="1489" y="11526"/>
                  <a:pt x="3729" y="11526"/>
                </a:cubicBezTo>
                <a:cubicBezTo>
                  <a:pt x="5371" y="11526"/>
                  <a:pt x="4938" y="8472"/>
                  <a:pt x="5458" y="6915"/>
                </a:cubicBezTo>
                <a:cubicBezTo>
                  <a:pt x="6138" y="4878"/>
                  <a:pt x="8759" y="576"/>
                  <a:pt x="6611" y="576"/>
                </a:cubicBezTo>
              </a:path>
            </a:pathLst>
          </a:custGeom>
          <a:noFill/>
          <a:ln cap="flat" cmpd="sng" w="38100">
            <a:solidFill>
              <a:srgbClr val="E06666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DESCRIPCIÓN</a:t>
            </a:r>
            <a:endParaRPr b="1"/>
          </a:p>
        </p:txBody>
      </p:sp>
      <p:pic>
        <p:nvPicPr>
          <p:cNvPr id="190" name="Google Shape;190;p29"/>
          <p:cNvPicPr preferRelativeResize="0"/>
          <p:nvPr/>
        </p:nvPicPr>
        <p:blipFill rotWithShape="1">
          <a:blip r:embed="rId3">
            <a:alphaModFix/>
          </a:blip>
          <a:srcRect b="47540" l="9564" r="47945" t="2880"/>
          <a:stretch/>
        </p:blipFill>
        <p:spPr>
          <a:xfrm>
            <a:off x="2595200" y="1554400"/>
            <a:ext cx="3249575" cy="294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9"/>
          <p:cNvSpPr/>
          <p:nvPr/>
        </p:nvSpPr>
        <p:spPr>
          <a:xfrm>
            <a:off x="4030308" y="2821716"/>
            <a:ext cx="437100" cy="496625"/>
          </a:xfrm>
          <a:custGeom>
            <a:rect b="b" l="l" r="r" t="t"/>
            <a:pathLst>
              <a:path extrusionOk="0" h="19865" w="17484">
                <a:moveTo>
                  <a:pt x="3041" y="3005"/>
                </a:moveTo>
                <a:cubicBezTo>
                  <a:pt x="4001" y="3005"/>
                  <a:pt x="4091" y="1379"/>
                  <a:pt x="4770" y="700"/>
                </a:cubicBezTo>
                <a:cubicBezTo>
                  <a:pt x="6128" y="-659"/>
                  <a:pt x="8612" y="700"/>
                  <a:pt x="10533" y="700"/>
                </a:cubicBezTo>
                <a:cubicBezTo>
                  <a:pt x="12646" y="700"/>
                  <a:pt x="15378" y="-794"/>
                  <a:pt x="16872" y="700"/>
                </a:cubicBezTo>
                <a:cubicBezTo>
                  <a:pt x="18891" y="2719"/>
                  <a:pt x="14551" y="5968"/>
                  <a:pt x="13991" y="8768"/>
                </a:cubicBezTo>
                <a:cubicBezTo>
                  <a:pt x="13299" y="12232"/>
                  <a:pt x="12895" y="16606"/>
                  <a:pt x="9956" y="18566"/>
                </a:cubicBezTo>
                <a:cubicBezTo>
                  <a:pt x="7719" y="20058"/>
                  <a:pt x="3790" y="20468"/>
                  <a:pt x="1888" y="18566"/>
                </a:cubicBezTo>
                <a:cubicBezTo>
                  <a:pt x="-1417" y="15261"/>
                  <a:pt x="14" y="6827"/>
                  <a:pt x="4193" y="4734"/>
                </a:cubicBezTo>
              </a:path>
            </a:pathLst>
          </a:custGeom>
          <a:noFill/>
          <a:ln cap="flat" cmpd="sng" w="28575">
            <a:solidFill>
              <a:srgbClr val="E06666"/>
            </a:solidFill>
            <a:prstDash val="solid"/>
            <a:round/>
            <a:headEnd len="med" w="med" type="none"/>
            <a:tailEnd len="med" w="med" type="none"/>
          </a:ln>
        </p:spPr>
      </p:sp>
      <p:pic>
        <p:nvPicPr>
          <p:cNvPr id="192" name="Google Shape;192;p29"/>
          <p:cNvPicPr preferRelativeResize="0"/>
          <p:nvPr/>
        </p:nvPicPr>
        <p:blipFill rotWithShape="1">
          <a:blip r:embed="rId4">
            <a:alphaModFix/>
          </a:blip>
          <a:srcRect b="24504" l="39616" r="38482" t="22808"/>
          <a:stretch/>
        </p:blipFill>
        <p:spPr>
          <a:xfrm>
            <a:off x="417975" y="1554400"/>
            <a:ext cx="1226924" cy="165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9"/>
          <p:cNvPicPr preferRelativeResize="0"/>
          <p:nvPr/>
        </p:nvPicPr>
        <p:blipFill rotWithShape="1">
          <a:blip r:embed="rId5">
            <a:alphaModFix/>
          </a:blip>
          <a:srcRect b="18494" l="12738" r="25814" t="27695"/>
          <a:stretch/>
        </p:blipFill>
        <p:spPr>
          <a:xfrm>
            <a:off x="5129250" y="245875"/>
            <a:ext cx="3946401" cy="194285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9"/>
          <p:cNvSpPr txBox="1"/>
          <p:nvPr/>
        </p:nvSpPr>
        <p:spPr>
          <a:xfrm>
            <a:off x="5691150" y="2608700"/>
            <a:ext cx="31263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200"/>
              <a:t>Lig.</a:t>
            </a:r>
            <a:r>
              <a:rPr b="1" lang="es-419" sz="1200"/>
              <a:t>anular del radio</a:t>
            </a:r>
            <a:r>
              <a:rPr lang="es-419" sz="1200"/>
              <a:t>: desde el borde ant hasta el borde posterior de la escotadura radial del cúbito, rodeando la cabeza del radio con forma de anillo.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200"/>
              <a:t>Lig. cuadrado [de Denucé]: </a:t>
            </a:r>
            <a:r>
              <a:rPr lang="es-419" sz="1200"/>
              <a:t>refuerza la superficie infde la cápsula y va desde el borde inferior de la escotadura radial del cúbito hasta el cuello del radio.</a:t>
            </a:r>
            <a:endParaRPr sz="12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ARTICULACIÓN RADIOCUBITAL MEDIA</a:t>
            </a:r>
            <a:endParaRPr b="1"/>
          </a:p>
        </p:txBody>
      </p:sp>
      <p:sp>
        <p:nvSpPr>
          <p:cNvPr id="200" name="Google Shape;200;p30"/>
          <p:cNvSpPr txBox="1"/>
          <p:nvPr>
            <p:ph idx="1" type="body"/>
          </p:nvPr>
        </p:nvSpPr>
        <p:spPr>
          <a:xfrm>
            <a:off x="311700" y="1152475"/>
            <a:ext cx="6359100" cy="20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b="1" lang="es-419">
                <a:solidFill>
                  <a:schemeClr val="dk1"/>
                </a:solidFill>
              </a:rPr>
              <a:t>Tipo y </a:t>
            </a:r>
            <a:r>
              <a:rPr b="1" lang="es-419">
                <a:solidFill>
                  <a:schemeClr val="dk1"/>
                </a:solidFill>
              </a:rPr>
              <a:t>Género</a:t>
            </a:r>
            <a:r>
              <a:rPr b="1" lang="es-419">
                <a:solidFill>
                  <a:schemeClr val="dk1"/>
                </a:solidFill>
              </a:rPr>
              <a:t>:</a:t>
            </a:r>
            <a:r>
              <a:rPr lang="es-419">
                <a:solidFill>
                  <a:schemeClr val="dk1"/>
                </a:solidFill>
              </a:rPr>
              <a:t>Sin Sinovial – Sinartrosis - Sindesmosis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b="1" lang="es-419">
                <a:solidFill>
                  <a:schemeClr val="dk1"/>
                </a:solidFill>
              </a:rPr>
              <a:t>Superficies articulares </a:t>
            </a:r>
            <a:endParaRPr b="1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s-419">
                <a:solidFill>
                  <a:schemeClr val="dk1"/>
                </a:solidFill>
              </a:rPr>
              <a:t>Radio: Borde Interno 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s-419">
                <a:solidFill>
                  <a:schemeClr val="dk1"/>
                </a:solidFill>
              </a:rPr>
              <a:t>Cubito: Borde Externo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b="1" lang="es-419">
                <a:solidFill>
                  <a:schemeClr val="dk1"/>
                </a:solidFill>
              </a:rPr>
              <a:t>Principales Medios de Unión:</a:t>
            </a:r>
            <a:endParaRPr b="1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s-419">
                <a:solidFill>
                  <a:schemeClr val="dk1"/>
                </a:solidFill>
              </a:rPr>
              <a:t>Membrana interosea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s-419">
                <a:solidFill>
                  <a:schemeClr val="dk1"/>
                </a:solidFill>
              </a:rPr>
              <a:t>Cuerda tendinosa de Weitbretch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01" name="Google Shape;201;p30"/>
          <p:cNvPicPr preferRelativeResize="0"/>
          <p:nvPr/>
        </p:nvPicPr>
        <p:blipFill rotWithShape="1">
          <a:blip r:embed="rId3">
            <a:alphaModFix/>
          </a:blip>
          <a:srcRect b="24618" l="40810" r="51941" t="31661"/>
          <a:stretch/>
        </p:blipFill>
        <p:spPr>
          <a:xfrm>
            <a:off x="7362450" y="533392"/>
            <a:ext cx="1089713" cy="3695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highlight>
                  <a:srgbClr val="6D9EEB"/>
                </a:highlight>
              </a:rPr>
              <a:t>ARTICULACIÓN RADIOCUBITAL DISTAL</a:t>
            </a:r>
            <a:endParaRPr>
              <a:highlight>
                <a:srgbClr val="6D9EEB"/>
              </a:highlight>
            </a:endParaRPr>
          </a:p>
        </p:txBody>
      </p:sp>
      <p:sp>
        <p:nvSpPr>
          <p:cNvPr id="207" name="Google Shape;207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b="1" lang="es-419">
                <a:solidFill>
                  <a:schemeClr val="dk1"/>
                </a:solidFill>
              </a:rPr>
              <a:t>Tipo y Género</a:t>
            </a:r>
            <a:r>
              <a:rPr lang="es-419">
                <a:solidFill>
                  <a:schemeClr val="dk1"/>
                </a:solidFill>
              </a:rPr>
              <a:t>:</a:t>
            </a:r>
            <a:r>
              <a:rPr lang="es-419">
                <a:solidFill>
                  <a:schemeClr val="dk1"/>
                </a:solidFill>
              </a:rPr>
              <a:t>Sinovial – Diartrosis - Trocoide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b="1" lang="es-419">
                <a:solidFill>
                  <a:schemeClr val="dk1"/>
                </a:solidFill>
              </a:rPr>
              <a:t>Superficies articulares:</a:t>
            </a:r>
            <a:endParaRPr b="1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s-419">
                <a:solidFill>
                  <a:schemeClr val="dk1"/>
                </a:solidFill>
              </a:rPr>
              <a:t>Radio: Cavidad Sigmoidea del Radio 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s-419">
                <a:solidFill>
                  <a:schemeClr val="dk1"/>
                </a:solidFill>
              </a:rPr>
              <a:t>Cúbito</a:t>
            </a:r>
            <a:r>
              <a:rPr lang="es-419">
                <a:solidFill>
                  <a:schemeClr val="dk1"/>
                </a:solidFill>
              </a:rPr>
              <a:t>: Cabeza del Cubito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b="1" lang="es-419">
                <a:solidFill>
                  <a:schemeClr val="dk1"/>
                </a:solidFill>
              </a:rPr>
              <a:t>Medios de unión:</a:t>
            </a:r>
            <a:endParaRPr b="1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s-419">
                <a:solidFill>
                  <a:schemeClr val="dk1"/>
                </a:solidFill>
              </a:rPr>
              <a:t>Lig. radiocubital anterior (palmar)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s-419">
                <a:solidFill>
                  <a:schemeClr val="dk1"/>
                </a:solidFill>
              </a:rPr>
              <a:t>Lig. radiocubital posterior (dorsal)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s-419">
                <a:solidFill>
                  <a:schemeClr val="dk1"/>
                </a:solidFill>
              </a:rPr>
              <a:t>Lig triangular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2" name="Google Shape;212;p32"/>
          <p:cNvGraphicFramePr/>
          <p:nvPr/>
        </p:nvGraphicFramePr>
        <p:xfrm>
          <a:off x="952500" y="329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{735C5254-7060-4A15-B340-EFAA526180A5}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/>
                        <a:t>LIGAMENTO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/>
                        <a:t>CARACTERÍSTICAS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/>
                        <a:t>Lig. radiocubital anterior 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D</a:t>
                      </a:r>
                      <a:r>
                        <a:rPr lang="es-419"/>
                        <a:t>esde el borde anterior de la escotadura cubital del radio hasta la cabeza del cúbito.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/>
                        <a:t>Lig. radiocubital posterior 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T</a:t>
                      </a:r>
                      <a:r>
                        <a:rPr lang="es-419"/>
                        <a:t>ransversalmente, desde la extremidad posterior de la escotadura cubital del radio hasta la porción posterior de la cabeza del cúbito y de su apófisis estiloides.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/>
                        <a:t>Lig. triangular 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-"/>
                      </a:pPr>
                      <a:r>
                        <a:rPr lang="es-419"/>
                        <a:t>F</a:t>
                      </a:r>
                      <a:r>
                        <a:rPr lang="es-419"/>
                        <a:t>orma triangular:</a:t>
                      </a:r>
                      <a:endParaRPr/>
                    </a:p>
                    <a:p>
                      <a:pPr indent="-317500" lvl="1" marL="9144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-"/>
                      </a:pPr>
                      <a:r>
                        <a:rPr lang="es-419"/>
                        <a:t>Base: borde de la escotadura cubital del radio</a:t>
                      </a:r>
                      <a:endParaRPr/>
                    </a:p>
                    <a:p>
                      <a:pPr indent="-317500" lvl="1" marL="9144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-"/>
                      </a:pPr>
                      <a:r>
                        <a:rPr lang="es-419"/>
                        <a:t>Vértice: surco que está en dirección medial a la apófisis estiloides del cúbito.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Mantiene unidos el radio y el cúbito.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33"/>
          <p:cNvPicPr preferRelativeResize="0"/>
          <p:nvPr/>
        </p:nvPicPr>
        <p:blipFill rotWithShape="1">
          <a:blip r:embed="rId3">
            <a:alphaModFix/>
          </a:blip>
          <a:srcRect b="13502" l="27859" r="30120" t="22774"/>
          <a:stretch/>
        </p:blipFill>
        <p:spPr>
          <a:xfrm>
            <a:off x="1841762" y="243975"/>
            <a:ext cx="5460476" cy="4655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34"/>
          <p:cNvPicPr preferRelativeResize="0"/>
          <p:nvPr/>
        </p:nvPicPr>
        <p:blipFill rotWithShape="1">
          <a:blip r:embed="rId3">
            <a:alphaModFix/>
          </a:blip>
          <a:srcRect b="26308" l="27526" r="30619" t="29622"/>
          <a:stretch/>
        </p:blipFill>
        <p:spPr>
          <a:xfrm>
            <a:off x="273900" y="255175"/>
            <a:ext cx="8327577" cy="444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35"/>
          <p:cNvPicPr preferRelativeResize="0"/>
          <p:nvPr/>
        </p:nvPicPr>
        <p:blipFill rotWithShape="1">
          <a:blip r:embed="rId3">
            <a:alphaModFix/>
          </a:blip>
          <a:srcRect b="8143" l="15302" r="16227" t="31709"/>
          <a:stretch/>
        </p:blipFill>
        <p:spPr>
          <a:xfrm>
            <a:off x="567500" y="289100"/>
            <a:ext cx="7963876" cy="3933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36"/>
          <p:cNvPicPr preferRelativeResize="0"/>
          <p:nvPr/>
        </p:nvPicPr>
        <p:blipFill rotWithShape="1">
          <a:blip r:embed="rId3">
            <a:alphaModFix/>
          </a:blip>
          <a:srcRect b="28691" l="25683" r="18067" t="23071"/>
          <a:stretch/>
        </p:blipFill>
        <p:spPr>
          <a:xfrm>
            <a:off x="1167175" y="692250"/>
            <a:ext cx="7321726" cy="353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highlight>
                  <a:srgbClr val="4A86E8"/>
                </a:highlight>
              </a:rPr>
              <a:t>ARTICULACIÓN RADIO CARPIANA</a:t>
            </a:r>
            <a:endParaRPr b="1">
              <a:highlight>
                <a:srgbClr val="4A86E8"/>
              </a:highlight>
            </a:endParaRPr>
          </a:p>
        </p:txBody>
      </p:sp>
      <p:sp>
        <p:nvSpPr>
          <p:cNvPr id="238" name="Google Shape;238;p37"/>
          <p:cNvSpPr txBox="1"/>
          <p:nvPr>
            <p:ph idx="1" type="body"/>
          </p:nvPr>
        </p:nvSpPr>
        <p:spPr>
          <a:xfrm>
            <a:off x="311700" y="1152475"/>
            <a:ext cx="4082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b="1" lang="es-419" sz="1400">
                <a:solidFill>
                  <a:schemeClr val="dk1"/>
                </a:solidFill>
              </a:rPr>
              <a:t>Tipo y </a:t>
            </a:r>
            <a:r>
              <a:rPr b="1" lang="es-419" sz="1400">
                <a:solidFill>
                  <a:schemeClr val="dk1"/>
                </a:solidFill>
              </a:rPr>
              <a:t>Género</a:t>
            </a:r>
            <a:r>
              <a:rPr b="1" lang="es-419" sz="1400">
                <a:solidFill>
                  <a:schemeClr val="dk1"/>
                </a:solidFill>
              </a:rPr>
              <a:t>:</a:t>
            </a:r>
            <a:r>
              <a:rPr lang="es-419" sz="1400">
                <a:solidFill>
                  <a:schemeClr val="dk1"/>
                </a:solidFill>
              </a:rPr>
              <a:t>Sinovial – Diartrosis - Condilea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b="1" lang="es-419" sz="1400">
                <a:solidFill>
                  <a:schemeClr val="dk1"/>
                </a:solidFill>
              </a:rPr>
              <a:t>Superficies articulares:</a:t>
            </a:r>
            <a:endParaRPr b="1"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s-419">
                <a:solidFill>
                  <a:schemeClr val="dk1"/>
                </a:solidFill>
              </a:rPr>
              <a:t>Radio: Carillas Articulares del escafoides y Semilunar 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s-419">
                <a:solidFill>
                  <a:schemeClr val="dk1"/>
                </a:solidFill>
              </a:rPr>
              <a:t>Cubito: Ligamento Triangular 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s-419">
                <a:solidFill>
                  <a:schemeClr val="dk1"/>
                </a:solidFill>
              </a:rPr>
              <a:t>Cóndilo Carpiano: Escafoides, Semilunar y Piramidal 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b="1" lang="es-419" sz="1400">
                <a:solidFill>
                  <a:schemeClr val="dk1"/>
                </a:solidFill>
              </a:rPr>
              <a:t>Medios de unión: </a:t>
            </a:r>
            <a:endParaRPr b="1"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s-419">
                <a:solidFill>
                  <a:schemeClr val="dk1"/>
                </a:solidFill>
              </a:rPr>
              <a:t> Ligamentos Radio Carpianos y Cubito Carpianos Palmares y Dorsales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b="1" lang="es-419" sz="1400">
                <a:solidFill>
                  <a:schemeClr val="dk1"/>
                </a:solidFill>
              </a:rPr>
              <a:t>Movimientos:</a:t>
            </a:r>
            <a:r>
              <a:rPr lang="es-419" sz="1400">
                <a:solidFill>
                  <a:schemeClr val="dk1"/>
                </a:solidFill>
              </a:rPr>
              <a:t> Flexión, extensión, abducción y aducción y circunducción </a:t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id="239" name="Google Shape;239;p37"/>
          <p:cNvPicPr preferRelativeResize="0"/>
          <p:nvPr/>
        </p:nvPicPr>
        <p:blipFill rotWithShape="1">
          <a:blip r:embed="rId3">
            <a:alphaModFix/>
          </a:blip>
          <a:srcRect b="14531" l="24896" r="16175" t="26614"/>
          <a:stretch/>
        </p:blipFill>
        <p:spPr>
          <a:xfrm>
            <a:off x="4572000" y="1455800"/>
            <a:ext cx="4336401" cy="243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38"/>
          <p:cNvPicPr preferRelativeResize="0"/>
          <p:nvPr/>
        </p:nvPicPr>
        <p:blipFill rotWithShape="1">
          <a:blip r:embed="rId3">
            <a:alphaModFix/>
          </a:blip>
          <a:srcRect b="26308" l="27526" r="30619" t="29622"/>
          <a:stretch/>
        </p:blipFill>
        <p:spPr>
          <a:xfrm>
            <a:off x="273900" y="255175"/>
            <a:ext cx="8327577" cy="4442625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38"/>
          <p:cNvSpPr/>
          <p:nvPr/>
        </p:nvSpPr>
        <p:spPr>
          <a:xfrm>
            <a:off x="6123641" y="1196775"/>
            <a:ext cx="642400" cy="403400"/>
          </a:xfrm>
          <a:custGeom>
            <a:rect b="b" l="l" r="r" t="t"/>
            <a:pathLst>
              <a:path extrusionOk="0" h="16136" w="25696">
                <a:moveTo>
                  <a:pt x="7481" y="0"/>
                </a:moveTo>
                <a:cubicBezTo>
                  <a:pt x="11344" y="2574"/>
                  <a:pt x="15518" y="5763"/>
                  <a:pt x="20160" y="5763"/>
                </a:cubicBezTo>
                <a:cubicBezTo>
                  <a:pt x="22138" y="5763"/>
                  <a:pt x="26744" y="7246"/>
                  <a:pt x="25346" y="8644"/>
                </a:cubicBezTo>
                <a:cubicBezTo>
                  <a:pt x="22481" y="11509"/>
                  <a:pt x="17089" y="8516"/>
                  <a:pt x="13244" y="9797"/>
                </a:cubicBezTo>
                <a:cubicBezTo>
                  <a:pt x="9084" y="11183"/>
                  <a:pt x="6103" y="16136"/>
                  <a:pt x="1718" y="16136"/>
                </a:cubicBezTo>
                <a:cubicBezTo>
                  <a:pt x="-3277" y="16136"/>
                  <a:pt x="3949" y="5837"/>
                  <a:pt x="7481" y="2305"/>
                </a:cubicBezTo>
              </a:path>
            </a:pathLst>
          </a:custGeom>
          <a:noFill/>
          <a:ln cap="flat" cmpd="sng" w="19050">
            <a:solidFill>
              <a:srgbClr val="6D9EEB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46" name="Google Shape;246;p38"/>
          <p:cNvSpPr/>
          <p:nvPr/>
        </p:nvSpPr>
        <p:spPr>
          <a:xfrm>
            <a:off x="6014400" y="1311925"/>
            <a:ext cx="163175" cy="301875"/>
          </a:xfrm>
          <a:custGeom>
            <a:rect b="b" l="l" r="r" t="t"/>
            <a:pathLst>
              <a:path extrusionOk="0" h="12075" w="6527">
                <a:moveTo>
                  <a:pt x="0" y="0"/>
                </a:moveTo>
                <a:cubicBezTo>
                  <a:pt x="2340" y="3510"/>
                  <a:pt x="489" y="13430"/>
                  <a:pt x="4406" y="11863"/>
                </a:cubicBezTo>
                <a:cubicBezTo>
                  <a:pt x="8131" y="10373"/>
                  <a:pt x="6385" y="0"/>
                  <a:pt x="2373" y="0"/>
                </a:cubicBezTo>
              </a:path>
            </a:pathLst>
          </a:custGeom>
          <a:noFill/>
          <a:ln cap="flat" cmpd="sng" w="28575">
            <a:solidFill>
              <a:srgbClr val="F1C23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47" name="Google Shape;247;p38"/>
          <p:cNvSpPr/>
          <p:nvPr/>
        </p:nvSpPr>
        <p:spPr>
          <a:xfrm>
            <a:off x="6836350" y="1328875"/>
            <a:ext cx="102325" cy="159700"/>
          </a:xfrm>
          <a:custGeom>
            <a:rect b="b" l="l" r="r" t="t"/>
            <a:pathLst>
              <a:path extrusionOk="0" h="6388" w="4093">
                <a:moveTo>
                  <a:pt x="0" y="339"/>
                </a:moveTo>
                <a:cubicBezTo>
                  <a:pt x="0" y="2567"/>
                  <a:pt x="1478" y="7247"/>
                  <a:pt x="3389" y="6101"/>
                </a:cubicBezTo>
                <a:cubicBezTo>
                  <a:pt x="5297" y="4956"/>
                  <a:pt x="2903" y="0"/>
                  <a:pt x="678" y="0"/>
                </a:cubicBezTo>
              </a:path>
            </a:pathLst>
          </a:cu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48" name="Google Shape;248;p38"/>
          <p:cNvSpPr/>
          <p:nvPr/>
        </p:nvSpPr>
        <p:spPr>
          <a:xfrm>
            <a:off x="2104968" y="1197291"/>
            <a:ext cx="615550" cy="470700"/>
          </a:xfrm>
          <a:custGeom>
            <a:rect b="b" l="l" r="r" t="t"/>
            <a:pathLst>
              <a:path extrusionOk="0" h="18828" w="24622">
                <a:moveTo>
                  <a:pt x="19769" y="1884"/>
                </a:moveTo>
                <a:cubicBezTo>
                  <a:pt x="12806" y="1884"/>
                  <a:pt x="-1675" y="2598"/>
                  <a:pt x="239" y="9292"/>
                </a:cubicBezTo>
                <a:cubicBezTo>
                  <a:pt x="971" y="11850"/>
                  <a:pt x="5647" y="10919"/>
                  <a:pt x="7310" y="12996"/>
                </a:cubicBezTo>
                <a:cubicBezTo>
                  <a:pt x="10241" y="16658"/>
                  <a:pt x="16421" y="20460"/>
                  <a:pt x="20443" y="18047"/>
                </a:cubicBezTo>
                <a:cubicBezTo>
                  <a:pt x="25411" y="15065"/>
                  <a:pt x="25291" y="6253"/>
                  <a:pt x="23137" y="874"/>
                </a:cubicBezTo>
                <a:cubicBezTo>
                  <a:pt x="22073" y="-1783"/>
                  <a:pt x="17580" y="2558"/>
                  <a:pt x="14718" y="2558"/>
                </a:cubicBezTo>
              </a:path>
            </a:pathLst>
          </a:custGeom>
          <a:noFill/>
          <a:ln cap="flat" cmpd="sng" w="28575">
            <a:solidFill>
              <a:srgbClr val="134F5C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49" name="Google Shape;249;p38"/>
          <p:cNvSpPr/>
          <p:nvPr/>
        </p:nvSpPr>
        <p:spPr>
          <a:xfrm>
            <a:off x="2584541" y="1143400"/>
            <a:ext cx="300875" cy="377325"/>
          </a:xfrm>
          <a:custGeom>
            <a:rect b="b" l="l" r="r" t="t"/>
            <a:pathLst>
              <a:path extrusionOk="0" h="15093" w="12035">
                <a:moveTo>
                  <a:pt x="12035" y="0"/>
                </a:moveTo>
                <a:cubicBezTo>
                  <a:pt x="10906" y="4512"/>
                  <a:pt x="10954" y="10228"/>
                  <a:pt x="7321" y="13132"/>
                </a:cubicBezTo>
                <a:cubicBezTo>
                  <a:pt x="6341" y="13915"/>
                  <a:pt x="4841" y="15704"/>
                  <a:pt x="3954" y="14816"/>
                </a:cubicBezTo>
                <a:cubicBezTo>
                  <a:pt x="2775" y="13635"/>
                  <a:pt x="1176" y="12836"/>
                  <a:pt x="250" y="11448"/>
                </a:cubicBezTo>
                <a:cubicBezTo>
                  <a:pt x="-1171" y="9319"/>
                  <a:pt x="4116" y="8050"/>
                  <a:pt x="6311" y="6734"/>
                </a:cubicBezTo>
                <a:cubicBezTo>
                  <a:pt x="8607" y="5357"/>
                  <a:pt x="8795" y="1893"/>
                  <a:pt x="10688" y="0"/>
                </a:cubicBezTo>
              </a:path>
            </a:pathLst>
          </a:custGeom>
          <a:noFill/>
          <a:ln cap="flat" cmpd="sng" w="2857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4" name="Google Shape;254;p39"/>
          <p:cNvGraphicFramePr/>
          <p:nvPr/>
        </p:nvGraphicFramePr>
        <p:xfrm>
          <a:off x="952500" y="476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{735C5254-7060-4A15-B340-EFAA526180A5}</a:tableStyleId>
              </a:tblPr>
              <a:tblGrid>
                <a:gridCol w="2524500"/>
                <a:gridCol w="52331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LIGAMENTO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CARACTERÍSTICAS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/>
                        <a:t>Lig radiocarpiano dorsal</a:t>
                      </a:r>
                      <a:r>
                        <a:rPr lang="es-419"/>
                        <a:t>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1"/>
                          </a:solidFill>
                        </a:rPr>
                        <a:t>U</a:t>
                      </a:r>
                      <a:r>
                        <a:rPr lang="es-419">
                          <a:solidFill>
                            <a:schemeClr val="dk1"/>
                          </a:solidFill>
                        </a:rPr>
                        <a:t>bicado sobre la cara posterior de la articulación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419">
                          <a:solidFill>
                            <a:schemeClr val="dk1"/>
                          </a:solidFill>
                        </a:rPr>
                        <a:t>Va  desde el borde posterior del radio hasta el hueso piramidal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/>
                        <a:t>Lig radiocarpiano palmar 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Refuerza la cara anterior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Desde el borde anterior de la cara articular del radio y desde su apófisis estiloides hasta los huesos semilunar y grande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/>
                        <a:t>Lig cubitocarpiano palmar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D</a:t>
                      </a:r>
                      <a:r>
                        <a:rPr lang="es-419"/>
                        <a:t>esde la superficie flexora de la cabeza del cúbito hasta el hueso grande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/>
                        <a:t>Lig cubitocarpiano dorsal 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419">
                          <a:solidFill>
                            <a:schemeClr val="dk1"/>
                          </a:solidFill>
                        </a:rPr>
                        <a:t>M</a:t>
                      </a:r>
                      <a:r>
                        <a:rPr lang="es-419">
                          <a:solidFill>
                            <a:schemeClr val="dk1"/>
                          </a:solidFill>
                        </a:rPr>
                        <a:t>ismo trayecto que el del lig cubitocarpiano palmar pero sobre la cara dorsal de la articulación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/>
                        <a:t>Ligamento colateral cubital del carpo 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419">
                          <a:solidFill>
                            <a:schemeClr val="dk1"/>
                          </a:solidFill>
                        </a:rPr>
                        <a:t>D</a:t>
                      </a:r>
                      <a:r>
                        <a:rPr lang="es-419">
                          <a:solidFill>
                            <a:schemeClr val="dk1"/>
                          </a:solidFill>
                        </a:rPr>
                        <a:t>esde la apófisis estiloides del cúbito hasta los huesos piramidal y pisiforme.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419">
                          <a:solidFill>
                            <a:schemeClr val="dk1"/>
                          </a:solidFill>
                        </a:rPr>
                        <a:t>Ligamento colateral radial del carpo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419">
                          <a:solidFill>
                            <a:schemeClr val="dk1"/>
                          </a:solidFill>
                        </a:rPr>
                        <a:t>desde la apófisis estiloides del radio hasta el hueso escafoides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highlight>
                  <a:srgbClr val="6AA84F"/>
                </a:highlight>
              </a:rPr>
              <a:t>ARTICULACIÓN MEDIOCARPIANA </a:t>
            </a:r>
            <a:endParaRPr b="1">
              <a:highlight>
                <a:srgbClr val="6AA84F"/>
              </a:highlight>
            </a:endParaRPr>
          </a:p>
        </p:txBody>
      </p:sp>
      <p:sp>
        <p:nvSpPr>
          <p:cNvPr id="260" name="Google Shape;260;p40"/>
          <p:cNvSpPr txBox="1"/>
          <p:nvPr>
            <p:ph idx="1" type="body"/>
          </p:nvPr>
        </p:nvSpPr>
        <p:spPr>
          <a:xfrm>
            <a:off x="311700" y="1152475"/>
            <a:ext cx="4430100" cy="21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1226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b="1" lang="es-419" sz="1700">
                <a:solidFill>
                  <a:schemeClr val="dk1"/>
                </a:solidFill>
              </a:rPr>
              <a:t>Tipo y </a:t>
            </a:r>
            <a:r>
              <a:rPr b="1" lang="es-419" sz="1700">
                <a:solidFill>
                  <a:schemeClr val="dk1"/>
                </a:solidFill>
              </a:rPr>
              <a:t>Género</a:t>
            </a:r>
            <a:r>
              <a:rPr b="1" lang="es-419" sz="1700">
                <a:solidFill>
                  <a:schemeClr val="dk1"/>
                </a:solidFill>
              </a:rPr>
              <a:t>:</a:t>
            </a:r>
            <a:r>
              <a:rPr lang="es-419" sz="1700">
                <a:solidFill>
                  <a:schemeClr val="dk1"/>
                </a:solidFill>
              </a:rPr>
              <a:t> </a:t>
            </a:r>
            <a:r>
              <a:rPr lang="es-419" sz="1700">
                <a:solidFill>
                  <a:schemeClr val="dk1"/>
                </a:solidFill>
              </a:rPr>
              <a:t>Sinovial – Diartrosis - Bicondílea</a:t>
            </a:r>
            <a:endParaRPr sz="1700">
              <a:solidFill>
                <a:schemeClr val="dk1"/>
              </a:solidFill>
            </a:endParaRPr>
          </a:p>
          <a:p>
            <a:pPr indent="-31226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b="1" lang="es-419" sz="1700">
                <a:solidFill>
                  <a:schemeClr val="dk1"/>
                </a:solidFill>
              </a:rPr>
              <a:t>Superficies articulares</a:t>
            </a:r>
            <a:r>
              <a:rPr lang="es-419" sz="1700">
                <a:solidFill>
                  <a:schemeClr val="dk1"/>
                </a:solidFill>
              </a:rPr>
              <a:t>:</a:t>
            </a:r>
            <a:endParaRPr sz="1700">
              <a:solidFill>
                <a:schemeClr val="dk1"/>
              </a:solidFill>
            </a:endParaRPr>
          </a:p>
          <a:p>
            <a:pPr indent="-292576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s-419" sz="1300">
                <a:solidFill>
                  <a:schemeClr val="dk1"/>
                </a:solidFill>
              </a:rPr>
              <a:t>1er Fila: Carillas Articulares del escafoides, Semilunar y Piramidal (cavidad glenoidea)</a:t>
            </a:r>
            <a:endParaRPr sz="1300">
              <a:solidFill>
                <a:schemeClr val="dk1"/>
              </a:solidFill>
            </a:endParaRPr>
          </a:p>
          <a:p>
            <a:pPr indent="-292576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s-419" sz="1300">
                <a:solidFill>
                  <a:schemeClr val="dk1"/>
                </a:solidFill>
              </a:rPr>
              <a:t>2da Fila: Carillas Articulares del Trapecio, Trapezoide, Grande y Ganchoso (condilo)</a:t>
            </a:r>
            <a:endParaRPr sz="1300">
              <a:solidFill>
                <a:schemeClr val="dk1"/>
              </a:solidFill>
            </a:endParaRPr>
          </a:p>
          <a:p>
            <a:pPr indent="-31226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b="1" lang="es-419" sz="1700">
                <a:solidFill>
                  <a:schemeClr val="dk1"/>
                </a:solidFill>
              </a:rPr>
              <a:t>Medios de Unión:</a:t>
            </a:r>
            <a:r>
              <a:rPr lang="es-419" sz="1700">
                <a:solidFill>
                  <a:schemeClr val="dk1"/>
                </a:solidFill>
              </a:rPr>
              <a:t> </a:t>
            </a:r>
            <a:r>
              <a:rPr lang="es-419" sz="1700">
                <a:solidFill>
                  <a:schemeClr val="dk1"/>
                </a:solidFill>
              </a:rPr>
              <a:t> </a:t>
            </a:r>
            <a:endParaRPr sz="1700">
              <a:solidFill>
                <a:schemeClr val="dk1"/>
              </a:solidFill>
            </a:endParaRPr>
          </a:p>
          <a:p>
            <a:pPr indent="-312261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s-419" sz="1700">
                <a:solidFill>
                  <a:schemeClr val="dk1"/>
                </a:solidFill>
              </a:rPr>
              <a:t>Ligamentos dorsales y palmares que unen ambas filas entre sí</a:t>
            </a:r>
            <a:endParaRPr sz="1700">
              <a:solidFill>
                <a:schemeClr val="dk1"/>
              </a:solidFill>
            </a:endParaRPr>
          </a:p>
          <a:p>
            <a:pPr indent="-312261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s-419" sz="1700">
                <a:solidFill>
                  <a:schemeClr val="dk1"/>
                </a:solidFill>
              </a:rPr>
              <a:t>Ligamento colateral medial: desde el piramidal hasta al gancho del h. ganchoso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261" name="Google Shape;261;p40"/>
          <p:cNvSpPr txBox="1"/>
          <p:nvPr/>
        </p:nvSpPr>
        <p:spPr>
          <a:xfrm>
            <a:off x="5001325" y="1246150"/>
            <a:ext cx="2139000" cy="646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 sz="1000"/>
              <a:t>Bicondílea</a:t>
            </a:r>
            <a:r>
              <a:rPr lang="es-419" sz="1000"/>
              <a:t>: </a:t>
            </a:r>
            <a:r>
              <a:rPr lang="es-419" sz="1000"/>
              <a:t>Los cóndilos se encuentran en las superficies articulares opuestas</a:t>
            </a:r>
            <a:endParaRPr sz="1000"/>
          </a:p>
        </p:txBody>
      </p:sp>
      <p:pic>
        <p:nvPicPr>
          <p:cNvPr id="262" name="Google Shape;262;p40"/>
          <p:cNvPicPr preferRelativeResize="0"/>
          <p:nvPr/>
        </p:nvPicPr>
        <p:blipFill rotWithShape="1">
          <a:blip r:embed="rId3">
            <a:alphaModFix/>
          </a:blip>
          <a:srcRect b="29149" l="66448" r="16927" t="29291"/>
          <a:stretch/>
        </p:blipFill>
        <p:spPr>
          <a:xfrm>
            <a:off x="7399701" y="1134500"/>
            <a:ext cx="618877" cy="8698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40"/>
          <p:cNvSpPr txBox="1"/>
          <p:nvPr/>
        </p:nvSpPr>
        <p:spPr>
          <a:xfrm>
            <a:off x="5001325" y="2057400"/>
            <a:ext cx="2082600" cy="646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 sz="1000"/>
              <a:t>Doble condílea:</a:t>
            </a:r>
            <a:r>
              <a:rPr lang="es-419" sz="1000"/>
              <a:t> </a:t>
            </a:r>
            <a:r>
              <a:rPr lang="es-419" sz="1000"/>
              <a:t>Los cóndilos se encuentran en la misma superficie articular</a:t>
            </a:r>
            <a:endParaRPr sz="1000"/>
          </a:p>
        </p:txBody>
      </p:sp>
      <p:pic>
        <p:nvPicPr>
          <p:cNvPr id="264" name="Google Shape;264;p40"/>
          <p:cNvPicPr preferRelativeResize="0"/>
          <p:nvPr/>
        </p:nvPicPr>
        <p:blipFill rotWithShape="1">
          <a:blip r:embed="rId4">
            <a:alphaModFix/>
          </a:blip>
          <a:srcRect b="28752" l="47128" r="34449" t="29691"/>
          <a:stretch/>
        </p:blipFill>
        <p:spPr>
          <a:xfrm>
            <a:off x="7399701" y="2057400"/>
            <a:ext cx="685800" cy="86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40"/>
          <p:cNvPicPr preferRelativeResize="0"/>
          <p:nvPr/>
        </p:nvPicPr>
        <p:blipFill rotWithShape="1">
          <a:blip r:embed="rId5">
            <a:alphaModFix/>
          </a:blip>
          <a:srcRect b="17483" l="60458" r="17156" t="30015"/>
          <a:stretch/>
        </p:blipFill>
        <p:spPr>
          <a:xfrm>
            <a:off x="5263375" y="2927206"/>
            <a:ext cx="1595502" cy="21039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40"/>
          <p:cNvPicPr preferRelativeResize="0"/>
          <p:nvPr/>
        </p:nvPicPr>
        <p:blipFill rotWithShape="1">
          <a:blip r:embed="rId6">
            <a:alphaModFix/>
          </a:blip>
          <a:srcRect b="13613" l="20224" r="15873" t="26520"/>
          <a:stretch/>
        </p:blipFill>
        <p:spPr>
          <a:xfrm>
            <a:off x="1922625" y="3282825"/>
            <a:ext cx="3430378" cy="1806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highlight>
                  <a:srgbClr val="6FA8DC"/>
                </a:highlight>
              </a:rPr>
              <a:t>ARTICULACIÓN CARPOMETACARPIANA </a:t>
            </a:r>
            <a:endParaRPr b="1">
              <a:highlight>
                <a:srgbClr val="6FA8DC"/>
              </a:highlight>
            </a:endParaRPr>
          </a:p>
        </p:txBody>
      </p:sp>
      <p:sp>
        <p:nvSpPr>
          <p:cNvPr id="272" name="Google Shape;272;p41"/>
          <p:cNvSpPr txBox="1"/>
          <p:nvPr>
            <p:ph idx="1" type="body"/>
          </p:nvPr>
        </p:nvSpPr>
        <p:spPr>
          <a:xfrm>
            <a:off x="311700" y="1152475"/>
            <a:ext cx="3794100" cy="34164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100">
                <a:solidFill>
                  <a:schemeClr val="dk1"/>
                </a:solidFill>
              </a:rPr>
              <a:t>DEL PULGAR CON EL 1ER METACARPIANO 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419" sz="1100">
                <a:solidFill>
                  <a:schemeClr val="dk1"/>
                </a:solidFill>
              </a:rPr>
              <a:t>Tipo y género:</a:t>
            </a:r>
            <a:r>
              <a:rPr lang="es-419" sz="1100">
                <a:solidFill>
                  <a:schemeClr val="dk1"/>
                </a:solidFill>
              </a:rPr>
              <a:t> diartrosis - en silla de montar o selar.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419" sz="1100">
                <a:solidFill>
                  <a:schemeClr val="dk1"/>
                </a:solidFill>
              </a:rPr>
              <a:t>S</a:t>
            </a:r>
            <a:r>
              <a:rPr b="1" lang="es-419" sz="1100">
                <a:solidFill>
                  <a:schemeClr val="dk1"/>
                </a:solidFill>
              </a:rPr>
              <a:t>uperficies articulares: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-419" sz="1100">
                <a:solidFill>
                  <a:schemeClr val="dk1"/>
                </a:solidFill>
              </a:rPr>
              <a:t>cara distal del trapecio (convexa en dirección dorsopalmar y cóncava en dirección transversal)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-419" sz="1100">
                <a:solidFill>
                  <a:schemeClr val="dk1"/>
                </a:solidFill>
              </a:rPr>
              <a:t>superficie articular de la base del 1er metacarpiano (inversa a la cara articular del trapecio).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419" sz="1100">
                <a:solidFill>
                  <a:schemeClr val="dk1"/>
                </a:solidFill>
              </a:rPr>
              <a:t>Medios de unión: 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-419" sz="1100">
                <a:solidFill>
                  <a:schemeClr val="dk1"/>
                </a:solidFill>
              </a:rPr>
              <a:t>cápsula articular 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-419" sz="1100">
                <a:solidFill>
                  <a:schemeClr val="dk1"/>
                </a:solidFill>
              </a:rPr>
              <a:t>ligamento palmar, dorsal e interóseo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 sz="1100">
                <a:solidFill>
                  <a:schemeClr val="dk1"/>
                </a:solidFill>
              </a:rPr>
              <a:t>En dirección anteromedial está cubierta por los músculos de la eminencia tenar. 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73" name="Google Shape;273;p41"/>
          <p:cNvSpPr txBox="1"/>
          <p:nvPr/>
        </p:nvSpPr>
        <p:spPr>
          <a:xfrm>
            <a:off x="4310950" y="1186075"/>
            <a:ext cx="3945900" cy="3039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100">
                <a:solidFill>
                  <a:schemeClr val="dk1"/>
                </a:solidFill>
              </a:rPr>
              <a:t>DE LOS METACARPIANOS (2, 3, 4 y 5 ) CON EL CARPO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419" sz="1100">
                <a:solidFill>
                  <a:schemeClr val="dk1"/>
                </a:solidFill>
              </a:rPr>
              <a:t>Tipo y género: </a:t>
            </a:r>
            <a:r>
              <a:rPr lang="es-419" sz="1100">
                <a:solidFill>
                  <a:schemeClr val="dk1"/>
                </a:solidFill>
              </a:rPr>
              <a:t>diartrosis - artrodias 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419" sz="1100">
                <a:solidFill>
                  <a:schemeClr val="dk1"/>
                </a:solidFill>
              </a:rPr>
              <a:t>Superficies articulares:</a:t>
            </a:r>
            <a:r>
              <a:rPr b="1" lang="es-419" sz="1100">
                <a:solidFill>
                  <a:schemeClr val="dk1"/>
                </a:solidFill>
              </a:rPr>
              <a:t> 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-419" sz="1100">
                <a:solidFill>
                  <a:schemeClr val="dk1"/>
                </a:solidFill>
              </a:rPr>
              <a:t>El II metacarpiano articula con el trapecio, el trapezoide y el grande. 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-419" sz="1100">
                <a:solidFill>
                  <a:schemeClr val="dk1"/>
                </a:solidFill>
              </a:rPr>
              <a:t>El III metacarpiano se articula con el hueso grande. 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-419" sz="1100">
                <a:solidFill>
                  <a:schemeClr val="dk1"/>
                </a:solidFill>
              </a:rPr>
              <a:t>El IV metacarpiano se articula con los huesos ganchoso y grande. 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-419" sz="1100">
                <a:solidFill>
                  <a:schemeClr val="dk1"/>
                </a:solidFill>
              </a:rPr>
              <a:t>El v metacarpiano se articula con el hueso ganchoso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419" sz="1100">
                <a:solidFill>
                  <a:schemeClr val="dk1"/>
                </a:solidFill>
              </a:rPr>
              <a:t>Medios de unión: 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-419" sz="1100">
                <a:solidFill>
                  <a:schemeClr val="dk1"/>
                </a:solidFill>
              </a:rPr>
              <a:t>cápsula articular reforzada por ligamentos palmares, dorsales e interóseos </a:t>
            </a:r>
            <a:endParaRPr sz="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highlight>
                  <a:srgbClr val="EA9999"/>
                </a:highlight>
              </a:rPr>
              <a:t>ARTICULACIÓN INTERMETACARPIANA </a:t>
            </a:r>
            <a:endParaRPr b="1">
              <a:highlight>
                <a:srgbClr val="EA9999"/>
              </a:highlight>
            </a:endParaRPr>
          </a:p>
        </p:txBody>
      </p:sp>
      <p:sp>
        <p:nvSpPr>
          <p:cNvPr id="279" name="Google Shape;279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s-419" sz="1600">
                <a:solidFill>
                  <a:schemeClr val="dk1"/>
                </a:solidFill>
              </a:rPr>
              <a:t>Articulaciones </a:t>
            </a:r>
            <a:r>
              <a:rPr lang="es-419" sz="1600">
                <a:solidFill>
                  <a:schemeClr val="dk1"/>
                </a:solidFill>
              </a:rPr>
              <a:t>entre los metacarpianos: 2º y 3º, 3º y 4º, 4º y 5º. 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s-419" sz="1600">
                <a:solidFill>
                  <a:schemeClr val="dk1"/>
                </a:solidFill>
              </a:rPr>
              <a:t>Son planas (artrodias) y sus cavidades sinoviales son prolongaciones de la articulación carpometacarpiana.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s-419" sz="1600">
                <a:solidFill>
                  <a:schemeClr val="dk1"/>
                </a:solidFill>
              </a:rPr>
              <a:t>Reforzadas por los ligamentos: interóseos, palmares (tres) y dorsales (tres). Estos últimos se extienden sobre la cara correspondiente de un metacarpiano al otro.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280" name="Google Shape;280;p42"/>
          <p:cNvPicPr preferRelativeResize="0"/>
          <p:nvPr/>
        </p:nvPicPr>
        <p:blipFill rotWithShape="1">
          <a:blip r:embed="rId3">
            <a:alphaModFix/>
          </a:blip>
          <a:srcRect b="14485" l="35649" r="34716" t="48750"/>
          <a:stretch/>
        </p:blipFill>
        <p:spPr>
          <a:xfrm>
            <a:off x="2515450" y="2895625"/>
            <a:ext cx="3052651" cy="2129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highlight>
                  <a:srgbClr val="93C47D"/>
                </a:highlight>
              </a:rPr>
              <a:t>ARTICULACIÓN METACARPOFALÁNGICA</a:t>
            </a:r>
            <a:endParaRPr b="1">
              <a:highlight>
                <a:srgbClr val="93C47D"/>
              </a:highlight>
            </a:endParaRPr>
          </a:p>
        </p:txBody>
      </p:sp>
      <p:sp>
        <p:nvSpPr>
          <p:cNvPr id="286" name="Google Shape;286;p43"/>
          <p:cNvSpPr txBox="1"/>
          <p:nvPr>
            <p:ph idx="1" type="body"/>
          </p:nvPr>
        </p:nvSpPr>
        <p:spPr>
          <a:xfrm>
            <a:off x="83100" y="1152475"/>
            <a:ext cx="3859800" cy="369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s-419">
                <a:solidFill>
                  <a:schemeClr val="dk1"/>
                </a:solidFill>
              </a:rPr>
              <a:t>Tipo de articulación:</a:t>
            </a:r>
            <a:r>
              <a:rPr lang="es-419">
                <a:solidFill>
                  <a:schemeClr val="dk1"/>
                </a:solidFill>
              </a:rPr>
              <a:t> diartrosis - condílea </a:t>
            </a:r>
            <a:endParaRPr>
              <a:solidFill>
                <a:schemeClr val="dk1"/>
              </a:solidFill>
            </a:endParaRPr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s-419">
                <a:solidFill>
                  <a:schemeClr val="dk1"/>
                </a:solidFill>
              </a:rPr>
              <a:t>Superficies articulares:</a:t>
            </a:r>
            <a:endParaRPr b="1">
              <a:solidFill>
                <a:schemeClr val="dk1"/>
              </a:solidFill>
            </a:endParaRPr>
          </a:p>
          <a:p>
            <a:pPr indent="-29083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s-419">
                <a:solidFill>
                  <a:schemeClr val="dk1"/>
                </a:solidFill>
              </a:rPr>
              <a:t>Cab</a:t>
            </a:r>
            <a:r>
              <a:rPr lang="es-419">
                <a:solidFill>
                  <a:schemeClr val="dk1"/>
                </a:solidFill>
              </a:rPr>
              <a:t>eza del metacarpiano </a:t>
            </a:r>
            <a:endParaRPr>
              <a:solidFill>
                <a:schemeClr val="dk1"/>
              </a:solidFill>
            </a:endParaRPr>
          </a:p>
          <a:p>
            <a:pPr indent="-29083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s-419">
                <a:solidFill>
                  <a:schemeClr val="dk1"/>
                </a:solidFill>
              </a:rPr>
              <a:t>Cavidad glenoidea de la falange proximal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318">
                <a:solidFill>
                  <a:schemeClr val="dk1"/>
                </a:solidFill>
              </a:rPr>
              <a:t>A nivel del pulgar la superficie articular está aumentada por un fibrocartílago en el cual encontramos dos pequeños huesos sesamoideos (medial y lateral).</a:t>
            </a:r>
            <a:endParaRPr sz="1318">
              <a:solidFill>
                <a:schemeClr val="dk1"/>
              </a:solidFill>
            </a:endParaRPr>
          </a:p>
          <a:p>
            <a:pPr indent="-30861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s-419">
                <a:solidFill>
                  <a:schemeClr val="dk1"/>
                </a:solidFill>
              </a:rPr>
              <a:t>Medios de unión</a:t>
            </a:r>
            <a:r>
              <a:rPr lang="es-419">
                <a:solidFill>
                  <a:schemeClr val="dk1"/>
                </a:solidFill>
              </a:rPr>
              <a:t>: </a:t>
            </a:r>
            <a:endParaRPr>
              <a:solidFill>
                <a:schemeClr val="dk1"/>
              </a:solidFill>
            </a:endParaRPr>
          </a:p>
          <a:p>
            <a:pPr indent="-29083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s-419">
                <a:solidFill>
                  <a:schemeClr val="dk1"/>
                </a:solidFill>
              </a:rPr>
              <a:t>Cápsula articular reforzada por:</a:t>
            </a:r>
            <a:endParaRPr>
              <a:solidFill>
                <a:schemeClr val="dk1"/>
              </a:solidFill>
            </a:endParaRPr>
          </a:p>
          <a:p>
            <a:pPr indent="-29083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■"/>
            </a:pPr>
            <a:r>
              <a:rPr lang="es-419">
                <a:solidFill>
                  <a:schemeClr val="dk1"/>
                </a:solidFill>
              </a:rPr>
              <a:t>Ligamentos laterales (media y lateral): t</a:t>
            </a:r>
            <a:r>
              <a:rPr lang="es-419">
                <a:solidFill>
                  <a:schemeClr val="dk1"/>
                </a:solidFill>
              </a:rPr>
              <a:t>ienen forma triangular y van desde el tubérculo metacarpiano (vértice) hasta la porción anterolateral de la falange proximal (base)</a:t>
            </a:r>
            <a:endParaRPr>
              <a:solidFill>
                <a:schemeClr val="dk1"/>
              </a:solidFill>
            </a:endParaRPr>
          </a:p>
          <a:p>
            <a:pPr indent="-29083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■"/>
            </a:pPr>
            <a:r>
              <a:rPr lang="es-419">
                <a:solidFill>
                  <a:schemeClr val="dk1"/>
                </a:solidFill>
              </a:rPr>
              <a:t>Lig. transverso profundo (</a:t>
            </a:r>
            <a:r>
              <a:rPr lang="es-419">
                <a:solidFill>
                  <a:schemeClr val="dk1"/>
                </a:solidFill>
              </a:rPr>
              <a:t>une las caras palmares de las art metacarpofalángicas del 2º al 5º dedo)</a:t>
            </a:r>
            <a:r>
              <a:rPr lang="es-419">
                <a:solidFill>
                  <a:schemeClr val="dk1"/>
                </a:solidFill>
              </a:rPr>
              <a:t>. </a:t>
            </a:r>
            <a:endParaRPr>
              <a:solidFill>
                <a:schemeClr val="dk1"/>
              </a:solidFill>
            </a:endParaRPr>
          </a:p>
          <a:p>
            <a:pPr indent="-29083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t/>
            </a:r>
            <a:endParaRPr/>
          </a:p>
        </p:txBody>
      </p:sp>
      <p:pic>
        <p:nvPicPr>
          <p:cNvPr id="287" name="Google Shape;287;p43"/>
          <p:cNvPicPr preferRelativeResize="0"/>
          <p:nvPr/>
        </p:nvPicPr>
        <p:blipFill rotWithShape="1">
          <a:blip r:embed="rId3">
            <a:alphaModFix/>
          </a:blip>
          <a:srcRect b="23769" l="35032" r="33553" t="37077"/>
          <a:stretch/>
        </p:blipFill>
        <p:spPr>
          <a:xfrm>
            <a:off x="5861200" y="918525"/>
            <a:ext cx="3219549" cy="225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07024" y="2804349"/>
            <a:ext cx="2669051" cy="21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40200" y="3354763"/>
            <a:ext cx="1920950" cy="102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highlight>
                  <a:srgbClr val="8E7CC3"/>
                </a:highlight>
              </a:rPr>
              <a:t>ARTICULACIÓN INTERFALÁNGICA </a:t>
            </a:r>
            <a:endParaRPr b="1">
              <a:highlight>
                <a:srgbClr val="8E7CC3"/>
              </a:highlight>
            </a:endParaRPr>
          </a:p>
        </p:txBody>
      </p:sp>
      <p:sp>
        <p:nvSpPr>
          <p:cNvPr id="295" name="Google Shape;295;p44"/>
          <p:cNvSpPr txBox="1"/>
          <p:nvPr>
            <p:ph idx="1" type="body"/>
          </p:nvPr>
        </p:nvSpPr>
        <p:spPr>
          <a:xfrm>
            <a:off x="311700" y="1152475"/>
            <a:ext cx="5766600" cy="21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419">
                <a:solidFill>
                  <a:schemeClr val="dk1"/>
                </a:solidFill>
              </a:rPr>
              <a:t>Tipo de articulaciones: diartosis - troclear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419">
                <a:solidFill>
                  <a:schemeClr val="dk1"/>
                </a:solidFill>
              </a:rPr>
              <a:t>Superficies articulares: 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s-419">
                <a:solidFill>
                  <a:schemeClr val="dk1"/>
                </a:solidFill>
              </a:rPr>
              <a:t>P</a:t>
            </a:r>
            <a:r>
              <a:rPr lang="es-419">
                <a:solidFill>
                  <a:schemeClr val="dk1"/>
                </a:solidFill>
              </a:rPr>
              <a:t>olea del extremo distal de las falanges proximal y media 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s-419">
                <a:solidFill>
                  <a:schemeClr val="dk1"/>
                </a:solidFill>
              </a:rPr>
              <a:t>Garganta para la polea ubicada en las extremidades proximales de las falanges media y distal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419">
                <a:solidFill>
                  <a:schemeClr val="dk1"/>
                </a:solidFill>
              </a:rPr>
              <a:t>Medios de unión: Su cápsula articular está reforzada por ligamentos laterales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96" name="Google Shape;296;p44"/>
          <p:cNvPicPr preferRelativeResize="0"/>
          <p:nvPr/>
        </p:nvPicPr>
        <p:blipFill rotWithShape="1">
          <a:blip r:embed="rId3">
            <a:alphaModFix/>
          </a:blip>
          <a:srcRect b="27171" l="35189" r="37645" t="52330"/>
          <a:stretch/>
        </p:blipFill>
        <p:spPr>
          <a:xfrm>
            <a:off x="2850000" y="3260276"/>
            <a:ext cx="3604649" cy="1529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
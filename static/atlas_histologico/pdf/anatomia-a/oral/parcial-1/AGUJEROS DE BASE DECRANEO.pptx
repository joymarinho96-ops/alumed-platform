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Default Extension="jpg" ContentType="image/jpg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00" b="0" i="0">
                <a:solidFill>
                  <a:srgbClr val="654A9E"/>
                </a:solidFill>
                <a:latin typeface="Bungee"/>
                <a:cs typeface="Bunge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100" b="1" i="0">
                <a:solidFill>
                  <a:srgbClr val="654A9E"/>
                </a:solidFill>
                <a:latin typeface="Gill Sans MT"/>
                <a:cs typeface="Gill Sans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00" b="0" i="0">
                <a:solidFill>
                  <a:srgbClr val="654A9E"/>
                </a:solidFill>
                <a:latin typeface="Bungee"/>
                <a:cs typeface="Bunge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00" b="0" i="0">
                <a:solidFill>
                  <a:srgbClr val="654A9E"/>
                </a:solidFill>
                <a:latin typeface="Bungee"/>
                <a:cs typeface="Bunge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39561" y="11"/>
            <a:ext cx="1447799" cy="14477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7647503"/>
            <a:ext cx="5584820" cy="263949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29745" y="7647503"/>
            <a:ext cx="5838824" cy="263949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99188" y="7647503"/>
            <a:ext cx="5838824" cy="263949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960447" y="7647503"/>
            <a:ext cx="4327552" cy="26394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839561" y="0"/>
            <a:ext cx="1447799" cy="14477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7647487"/>
            <a:ext cx="5584820" cy="263951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529745" y="7647487"/>
            <a:ext cx="5838824" cy="263951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099188" y="7647487"/>
            <a:ext cx="5838824" cy="2639512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960447" y="7647487"/>
            <a:ext cx="4327552" cy="263951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7655" y="-654907"/>
            <a:ext cx="17048335" cy="2729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0" i="0">
                <a:solidFill>
                  <a:srgbClr val="654A9E"/>
                </a:solidFill>
                <a:latin typeface="Bungee"/>
                <a:cs typeface="Bunge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0453" y="1591498"/>
            <a:ext cx="7674609" cy="6540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rgbClr val="654A9E"/>
                </a:solidFill>
                <a:latin typeface="Gill Sans MT"/>
                <a:cs typeface="Gill Sans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4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19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Relationship Id="rId3" Type="http://schemas.openxmlformats.org/officeDocument/2006/relationships/image" Target="../media/image26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29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31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2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33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664A9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25461" y="0"/>
            <a:ext cx="9762537" cy="10286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26190" y="3471135"/>
            <a:ext cx="13663294" cy="260413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900" spc="-12120">
                <a:solidFill>
                  <a:srgbClr val="000000"/>
                </a:solidFill>
                <a:latin typeface="Bungee Shade"/>
                <a:cs typeface="Bungee Shade"/>
              </a:rPr>
              <a:t>a</a:t>
            </a:r>
            <a:r>
              <a:rPr dirty="0" sz="16900" spc="-260">
                <a:solidFill>
                  <a:srgbClr val="FFFFFF"/>
                </a:solidFill>
              </a:rPr>
              <a:t>a</a:t>
            </a:r>
            <a:r>
              <a:rPr dirty="0" sz="16900" spc="-12510">
                <a:solidFill>
                  <a:srgbClr val="000000"/>
                </a:solidFill>
                <a:latin typeface="Bungee Shade"/>
                <a:cs typeface="Bungee Shade"/>
              </a:rPr>
              <a:t>n</a:t>
            </a:r>
            <a:r>
              <a:rPr dirty="0" sz="16900" spc="-254">
                <a:solidFill>
                  <a:srgbClr val="FFFFFF"/>
                </a:solidFill>
              </a:rPr>
              <a:t>n</a:t>
            </a:r>
            <a:r>
              <a:rPr dirty="0" sz="16900" spc="-12120">
                <a:solidFill>
                  <a:srgbClr val="000000"/>
                </a:solidFill>
                <a:latin typeface="Bungee Shade"/>
                <a:cs typeface="Bungee Shade"/>
              </a:rPr>
              <a:t>a</a:t>
            </a:r>
            <a:r>
              <a:rPr dirty="0" sz="16900" spc="-1655">
                <a:solidFill>
                  <a:srgbClr val="FFFFFF"/>
                </a:solidFill>
              </a:rPr>
              <a:t>a</a:t>
            </a:r>
            <a:r>
              <a:rPr dirty="0" sz="16900" spc="-10865">
                <a:solidFill>
                  <a:srgbClr val="000000"/>
                </a:solidFill>
                <a:latin typeface="Bungee Shade"/>
                <a:cs typeface="Bungee Shade"/>
              </a:rPr>
              <a:t>t</a:t>
            </a:r>
            <a:r>
              <a:rPr dirty="0" sz="16900" spc="-1530">
                <a:solidFill>
                  <a:srgbClr val="FFFFFF"/>
                </a:solidFill>
              </a:rPr>
              <a:t>t</a:t>
            </a:r>
            <a:r>
              <a:rPr dirty="0" sz="16900" spc="-12150">
                <a:solidFill>
                  <a:srgbClr val="000000"/>
                </a:solidFill>
                <a:latin typeface="Bungee Shade"/>
                <a:cs typeface="Bungee Shade"/>
              </a:rPr>
              <a:t>o</a:t>
            </a:r>
            <a:r>
              <a:rPr dirty="0" sz="16900" spc="-1355">
                <a:solidFill>
                  <a:srgbClr val="FFFFFF"/>
                </a:solidFill>
              </a:rPr>
              <a:t>o</a:t>
            </a:r>
            <a:r>
              <a:rPr dirty="0" sz="16900" spc="-14130">
                <a:solidFill>
                  <a:srgbClr val="000000"/>
                </a:solidFill>
                <a:latin typeface="Bungee Shade"/>
                <a:cs typeface="Bungee Shade"/>
              </a:rPr>
              <a:t>m</a:t>
            </a:r>
            <a:r>
              <a:rPr dirty="0" sz="16900" spc="-750">
                <a:solidFill>
                  <a:srgbClr val="FFFFFF"/>
                </a:solidFill>
              </a:rPr>
              <a:t>m</a:t>
            </a:r>
            <a:r>
              <a:rPr dirty="0" sz="16900" spc="-10060">
                <a:solidFill>
                  <a:srgbClr val="000000"/>
                </a:solidFill>
                <a:latin typeface="Bungee Shade"/>
                <a:cs typeface="Bungee Shade"/>
              </a:rPr>
              <a:t>i</a:t>
            </a:r>
            <a:r>
              <a:rPr dirty="0" sz="16900" spc="-355">
                <a:solidFill>
                  <a:srgbClr val="FFFFFF"/>
                </a:solidFill>
              </a:rPr>
              <a:t>i</a:t>
            </a:r>
            <a:r>
              <a:rPr dirty="0" baseline="-1150" sz="25350" spc="-18247">
                <a:solidFill>
                  <a:srgbClr val="000000"/>
                </a:solidFill>
                <a:latin typeface="Bungee Shade"/>
                <a:cs typeface="Bungee Shade"/>
              </a:rPr>
              <a:t>a</a:t>
            </a:r>
            <a:r>
              <a:rPr dirty="0" sz="16900" spc="-10">
                <a:solidFill>
                  <a:srgbClr val="FFFFFF"/>
                </a:solidFill>
              </a:rPr>
              <a:t>a</a:t>
            </a:r>
            <a:endParaRPr sz="16900">
              <a:latin typeface="Bungee Shade"/>
              <a:cs typeface="Bungee Shade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7125958"/>
            <a:ext cx="18288000" cy="3161665"/>
            <a:chOff x="0" y="7125958"/>
            <a:chExt cx="18288000" cy="316166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97636" y="7125958"/>
              <a:ext cx="4690362" cy="3161041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26677" y="7125958"/>
              <a:ext cx="7538603" cy="3161041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2620" y="7125958"/>
              <a:ext cx="7538603" cy="3161041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7125958"/>
              <a:ext cx="4769823" cy="3161041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58306" y="7125958"/>
              <a:ext cx="7538603" cy="316104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39561" y="0"/>
            <a:ext cx="1447799" cy="1447799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0" y="199394"/>
            <a:ext cx="18288000" cy="10087610"/>
            <a:chOff x="0" y="199394"/>
            <a:chExt cx="18288000" cy="1008761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27361" y="199394"/>
              <a:ext cx="9093696" cy="1008760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7647488"/>
              <a:ext cx="5584820" cy="263951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9745" y="7647488"/>
              <a:ext cx="5838824" cy="263951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99188" y="7647488"/>
              <a:ext cx="5838824" cy="263951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960447" y="7647488"/>
              <a:ext cx="4327552" cy="2639510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8463" rIns="0" bIns="0" rtlCol="0" vert="horz">
            <a:spAutoFit/>
          </a:bodyPr>
          <a:lstStyle/>
          <a:p>
            <a:pPr marL="691515">
              <a:lnSpc>
                <a:spcPct val="100000"/>
              </a:lnSpc>
              <a:spcBef>
                <a:spcPts val="95"/>
              </a:spcBef>
            </a:pPr>
            <a:r>
              <a:rPr dirty="0" sz="11150" spc="-10">
                <a:solidFill>
                  <a:srgbClr val="664A9E"/>
                </a:solidFill>
                <a:latin typeface="Bungee Inline"/>
                <a:cs typeface="Bungee Inline"/>
              </a:rPr>
              <a:t>CABEZA</a:t>
            </a:r>
            <a:endParaRPr sz="11150">
              <a:latin typeface="Bungee Inline"/>
              <a:cs typeface="Bungee Inlin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1130" y="1"/>
            <a:ext cx="15344772" cy="969644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512676" y="2987562"/>
            <a:ext cx="5293360" cy="469265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90"/>
              </a:spcBef>
            </a:pPr>
            <a:r>
              <a:rPr dirty="0" sz="5300" spc="-25" b="1">
                <a:solidFill>
                  <a:srgbClr val="664A9E"/>
                </a:solidFill>
                <a:latin typeface="Gill Sans MT"/>
                <a:cs typeface="Gill Sans MT"/>
              </a:rPr>
              <a:t>dividida</a:t>
            </a:r>
            <a:r>
              <a:rPr dirty="0" sz="5300" spc="-295" b="1">
                <a:solidFill>
                  <a:srgbClr val="664A9E"/>
                </a:solidFill>
                <a:latin typeface="Gill Sans MT"/>
                <a:cs typeface="Gill Sans MT"/>
              </a:rPr>
              <a:t> </a:t>
            </a:r>
            <a:r>
              <a:rPr dirty="0" sz="5300" spc="-25" b="1">
                <a:solidFill>
                  <a:srgbClr val="664A9E"/>
                </a:solidFill>
                <a:latin typeface="Gill Sans MT"/>
                <a:cs typeface="Gill Sans MT"/>
              </a:rPr>
              <a:t>en:</a:t>
            </a:r>
            <a:endParaRPr sz="5300">
              <a:latin typeface="Gill Sans MT"/>
              <a:cs typeface="Gill Sans MT"/>
            </a:endParaRPr>
          </a:p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dirty="0" sz="5300" spc="610" b="1">
                <a:solidFill>
                  <a:srgbClr val="664A9E"/>
                </a:solidFill>
                <a:latin typeface="Gill Sans MT"/>
                <a:cs typeface="Gill Sans MT"/>
              </a:rPr>
              <a:t>-</a:t>
            </a:r>
            <a:r>
              <a:rPr dirty="0" sz="5300" spc="-60" b="1">
                <a:solidFill>
                  <a:srgbClr val="664A9E"/>
                </a:solidFill>
                <a:latin typeface="Gill Sans MT"/>
                <a:cs typeface="Gill Sans MT"/>
              </a:rPr>
              <a:t>calota</a:t>
            </a:r>
            <a:r>
              <a:rPr dirty="0" sz="5300" spc="-305" b="1">
                <a:solidFill>
                  <a:srgbClr val="664A9E"/>
                </a:solidFill>
                <a:latin typeface="Gill Sans MT"/>
                <a:cs typeface="Gill Sans MT"/>
              </a:rPr>
              <a:t> </a:t>
            </a:r>
            <a:r>
              <a:rPr dirty="0" sz="5300" b="1">
                <a:solidFill>
                  <a:srgbClr val="664A9E"/>
                </a:solidFill>
                <a:latin typeface="Gill Sans MT"/>
                <a:cs typeface="Gill Sans MT"/>
              </a:rPr>
              <a:t>o</a:t>
            </a:r>
            <a:r>
              <a:rPr dirty="0" sz="5300" spc="-300" b="1">
                <a:solidFill>
                  <a:srgbClr val="664A9E"/>
                </a:solidFill>
                <a:latin typeface="Gill Sans MT"/>
                <a:cs typeface="Gill Sans MT"/>
              </a:rPr>
              <a:t> </a:t>
            </a:r>
            <a:r>
              <a:rPr dirty="0" sz="5300" spc="-10" b="1">
                <a:solidFill>
                  <a:srgbClr val="664A9E"/>
                </a:solidFill>
                <a:latin typeface="Gill Sans MT"/>
                <a:cs typeface="Gill Sans MT"/>
              </a:rPr>
              <a:t>calvaria</a:t>
            </a:r>
            <a:endParaRPr sz="5300">
              <a:latin typeface="Gill Sans MT"/>
              <a:cs typeface="Gill Sans MT"/>
            </a:endParaRPr>
          </a:p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dirty="0" sz="5300" spc="610" b="1">
                <a:solidFill>
                  <a:srgbClr val="664A9E"/>
                </a:solidFill>
                <a:latin typeface="Gill Sans MT"/>
                <a:cs typeface="Gill Sans MT"/>
              </a:rPr>
              <a:t>-</a:t>
            </a:r>
            <a:r>
              <a:rPr dirty="0" sz="5300" spc="60" b="1">
                <a:solidFill>
                  <a:srgbClr val="664A9E"/>
                </a:solidFill>
                <a:latin typeface="Gill Sans MT"/>
                <a:cs typeface="Gill Sans MT"/>
              </a:rPr>
              <a:t>base</a:t>
            </a:r>
            <a:r>
              <a:rPr dirty="0" sz="5300" spc="-235" b="1">
                <a:solidFill>
                  <a:srgbClr val="664A9E"/>
                </a:solidFill>
                <a:latin typeface="Gill Sans MT"/>
                <a:cs typeface="Gill Sans MT"/>
              </a:rPr>
              <a:t> </a:t>
            </a:r>
            <a:r>
              <a:rPr dirty="0" sz="5300" b="1">
                <a:solidFill>
                  <a:srgbClr val="664A9E"/>
                </a:solidFill>
                <a:latin typeface="Gill Sans MT"/>
                <a:cs typeface="Gill Sans MT"/>
              </a:rPr>
              <a:t>del</a:t>
            </a:r>
            <a:r>
              <a:rPr dirty="0" sz="5300" spc="-235" b="1">
                <a:solidFill>
                  <a:srgbClr val="664A9E"/>
                </a:solidFill>
                <a:latin typeface="Gill Sans MT"/>
                <a:cs typeface="Gill Sans MT"/>
              </a:rPr>
              <a:t> </a:t>
            </a:r>
            <a:r>
              <a:rPr dirty="0" sz="5300" spc="-10" b="1">
                <a:solidFill>
                  <a:srgbClr val="664A9E"/>
                </a:solidFill>
                <a:latin typeface="Gill Sans MT"/>
                <a:cs typeface="Gill Sans MT"/>
              </a:rPr>
              <a:t>cráneo</a:t>
            </a:r>
            <a:endParaRPr sz="530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7150">
              <a:latin typeface="Gill Sans MT"/>
              <a:cs typeface="Gill Sans MT"/>
            </a:endParaRPr>
          </a:p>
          <a:p>
            <a:pPr algn="ctr">
              <a:lnSpc>
                <a:spcPct val="100000"/>
              </a:lnSpc>
            </a:pPr>
            <a:r>
              <a:rPr dirty="0" sz="5300" spc="-240" b="1">
                <a:solidFill>
                  <a:srgbClr val="664A9E"/>
                </a:solidFill>
                <a:latin typeface="Gill Sans MT"/>
                <a:cs typeface="Gill Sans MT"/>
              </a:rPr>
              <a:t>LIMITES</a:t>
            </a:r>
            <a:r>
              <a:rPr dirty="0" sz="5300" spc="-100" b="1">
                <a:solidFill>
                  <a:srgbClr val="664A9E"/>
                </a:solidFill>
                <a:latin typeface="Gill Sans MT"/>
                <a:cs typeface="Gill Sans MT"/>
              </a:rPr>
              <a:t> </a:t>
            </a:r>
            <a:r>
              <a:rPr dirty="0" sz="5300" spc="665" b="1">
                <a:solidFill>
                  <a:srgbClr val="664A9E"/>
                </a:solidFill>
                <a:latin typeface="Gill Sans MT"/>
                <a:cs typeface="Gill Sans MT"/>
              </a:rPr>
              <a:t>???</a:t>
            </a:r>
            <a:endParaRPr sz="53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78789" rIns="0" bIns="0" rtlCol="0" vert="horz">
            <a:spAutoFit/>
          </a:bodyPr>
          <a:lstStyle/>
          <a:p>
            <a:pPr marL="244475">
              <a:lnSpc>
                <a:spcPct val="100000"/>
              </a:lnSpc>
              <a:spcBef>
                <a:spcPts val="95"/>
              </a:spcBef>
            </a:pPr>
            <a:r>
              <a:rPr dirty="0" sz="11150" spc="-10">
                <a:solidFill>
                  <a:srgbClr val="664A9E"/>
                </a:solidFill>
                <a:latin typeface="Bungee Inline"/>
                <a:cs typeface="Bungee Inline"/>
              </a:rPr>
              <a:t>CABEZA</a:t>
            </a:r>
            <a:endParaRPr sz="11150">
              <a:latin typeface="Bungee Inline"/>
              <a:cs typeface="Bungee Inlin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3497" y="2166541"/>
            <a:ext cx="5629274" cy="75437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7175" y="184217"/>
            <a:ext cx="7926070" cy="101854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500">
                <a:solidFill>
                  <a:srgbClr val="664A9E"/>
                </a:solidFill>
              </a:rPr>
              <a:t>base del </a:t>
            </a:r>
            <a:r>
              <a:rPr dirty="0" sz="6500" spc="-10">
                <a:solidFill>
                  <a:srgbClr val="664A9E"/>
                </a:solidFill>
              </a:rPr>
              <a:t>cráneo</a:t>
            </a:r>
            <a:endParaRPr sz="6500"/>
          </a:p>
        </p:txBody>
      </p:sp>
      <p:sp>
        <p:nvSpPr>
          <p:cNvPr id="4" name="object 4" descr=""/>
          <p:cNvSpPr txBox="1"/>
          <p:nvPr/>
        </p:nvSpPr>
        <p:spPr>
          <a:xfrm>
            <a:off x="1422694" y="1404736"/>
            <a:ext cx="4399280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spc="-10">
                <a:solidFill>
                  <a:srgbClr val="654A9E"/>
                </a:solidFill>
                <a:latin typeface="Bungee"/>
                <a:cs typeface="Bungee"/>
              </a:rPr>
              <a:t>EXOCRANEO</a:t>
            </a:r>
            <a:endParaRPr sz="5400">
              <a:latin typeface="Bungee"/>
              <a:cs typeface="Bungee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736953" y="1404736"/>
            <a:ext cx="4921885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spc="-10">
                <a:solidFill>
                  <a:srgbClr val="654A9E"/>
                </a:solidFill>
                <a:latin typeface="Bungee"/>
                <a:cs typeface="Bungee"/>
              </a:rPr>
              <a:t>ENDOCRANEO</a:t>
            </a:r>
            <a:endParaRPr sz="5400">
              <a:latin typeface="Bungee"/>
              <a:cs typeface="Bungee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60396" y="2501008"/>
            <a:ext cx="5676899" cy="72104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443714" y="3"/>
            <a:ext cx="9843770" cy="10287000"/>
            <a:chOff x="8443714" y="3"/>
            <a:chExt cx="984377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43714" y="3"/>
              <a:ext cx="9115424" cy="10286996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39561" y="3"/>
              <a:ext cx="1447799" cy="1447799"/>
            </a:xfrm>
            <a:prstGeom prst="rect">
              <a:avLst/>
            </a:prstGeom>
          </p:spPr>
        </p:pic>
      </p:grpSp>
      <p:grpSp>
        <p:nvGrpSpPr>
          <p:cNvPr id="5" name="object 5" descr=""/>
          <p:cNvGrpSpPr/>
          <p:nvPr/>
        </p:nvGrpSpPr>
        <p:grpSpPr>
          <a:xfrm>
            <a:off x="0" y="7647488"/>
            <a:ext cx="18288000" cy="2639695"/>
            <a:chOff x="0" y="7647488"/>
            <a:chExt cx="18288000" cy="2639695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7647488"/>
              <a:ext cx="5584820" cy="2639511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9745" y="7647488"/>
              <a:ext cx="5838824" cy="2639511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99188" y="7647488"/>
              <a:ext cx="5838824" cy="2639511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960447" y="7647488"/>
              <a:ext cx="4327552" cy="2639511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41480" y="184214"/>
            <a:ext cx="5298440" cy="101854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500" spc="-10">
                <a:solidFill>
                  <a:srgbClr val="664A9E"/>
                </a:solidFill>
              </a:rPr>
              <a:t>EXOcráneo</a:t>
            </a:r>
            <a:endParaRPr sz="6500"/>
          </a:p>
        </p:txBody>
      </p:sp>
      <p:pic>
        <p:nvPicPr>
          <p:cNvPr id="11" name="object 1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18453" y="1976226"/>
            <a:ext cx="161925" cy="161924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18453" y="5595725"/>
            <a:ext cx="161925" cy="161924"/>
          </a:xfrm>
          <a:prstGeom prst="rect">
            <a:avLst/>
          </a:prstGeom>
        </p:spPr>
      </p:pic>
      <p:sp>
        <p:nvSpPr>
          <p:cNvPr id="13" name="object 1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1760" rIns="0" bIns="0" rtlCol="0" vert="horz">
            <a:spAutoFit/>
          </a:bodyPr>
          <a:lstStyle/>
          <a:p>
            <a:pPr marL="898525">
              <a:lnSpc>
                <a:spcPct val="100000"/>
              </a:lnSpc>
              <a:spcBef>
                <a:spcPts val="880"/>
              </a:spcBef>
            </a:pPr>
            <a:r>
              <a:rPr dirty="0" spc="145"/>
              <a:t>se</a:t>
            </a:r>
            <a:r>
              <a:rPr dirty="0" spc="-185"/>
              <a:t> </a:t>
            </a:r>
            <a:r>
              <a:rPr dirty="0"/>
              <a:t>la</a:t>
            </a:r>
            <a:r>
              <a:rPr dirty="0" spc="-185"/>
              <a:t> </a:t>
            </a:r>
            <a:r>
              <a:rPr dirty="0" spc="-20"/>
              <a:t>divide</a:t>
            </a:r>
            <a:r>
              <a:rPr dirty="0" spc="-185"/>
              <a:t> </a:t>
            </a:r>
            <a:r>
              <a:rPr dirty="0"/>
              <a:t>en</a:t>
            </a:r>
            <a:r>
              <a:rPr dirty="0" spc="-185"/>
              <a:t> </a:t>
            </a:r>
            <a:r>
              <a:rPr dirty="0" spc="-45"/>
              <a:t>tres</a:t>
            </a:r>
            <a:r>
              <a:rPr dirty="0" spc="-180"/>
              <a:t> </a:t>
            </a:r>
            <a:r>
              <a:rPr dirty="0" spc="-10"/>
              <a:t>zonas:</a:t>
            </a: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pc="470"/>
              <a:t>-</a:t>
            </a:r>
            <a:r>
              <a:rPr dirty="0" spc="-50"/>
              <a:t>zona</a:t>
            </a:r>
            <a:r>
              <a:rPr dirty="0" spc="-235"/>
              <a:t> </a:t>
            </a:r>
            <a:r>
              <a:rPr dirty="0" spc="-150"/>
              <a:t>anterior</a:t>
            </a:r>
            <a:r>
              <a:rPr dirty="0" spc="-135"/>
              <a:t> </a:t>
            </a:r>
            <a:r>
              <a:rPr dirty="0"/>
              <a:t>o</a:t>
            </a:r>
            <a:r>
              <a:rPr dirty="0" spc="-200"/>
              <a:t> </a:t>
            </a:r>
            <a:r>
              <a:rPr dirty="0" spc="40"/>
              <a:t>facial</a:t>
            </a: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pc="470"/>
              <a:t>-</a:t>
            </a:r>
            <a:r>
              <a:rPr dirty="0" spc="-50"/>
              <a:t>zona</a:t>
            </a:r>
            <a:r>
              <a:rPr dirty="0" spc="-235"/>
              <a:t> </a:t>
            </a:r>
            <a:r>
              <a:rPr dirty="0" spc="-105"/>
              <a:t>media</a:t>
            </a:r>
            <a:r>
              <a:rPr dirty="0" spc="-180"/>
              <a:t> </a:t>
            </a:r>
            <a:r>
              <a:rPr dirty="0"/>
              <a:t>o</a:t>
            </a:r>
            <a:r>
              <a:rPr dirty="0" spc="-245"/>
              <a:t> </a:t>
            </a:r>
            <a:r>
              <a:rPr dirty="0" spc="-10"/>
              <a:t>yugular</a:t>
            </a: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pc="470"/>
              <a:t>-</a:t>
            </a:r>
            <a:r>
              <a:rPr dirty="0" spc="-50"/>
              <a:t>zona</a:t>
            </a:r>
            <a:r>
              <a:rPr dirty="0" spc="-204"/>
              <a:t> </a:t>
            </a:r>
            <a:r>
              <a:rPr dirty="0" spc="-105"/>
              <a:t>posterior</a:t>
            </a:r>
            <a:r>
              <a:rPr dirty="0" spc="-180"/>
              <a:t> </a:t>
            </a:r>
            <a:r>
              <a:rPr dirty="0"/>
              <a:t>u</a:t>
            </a:r>
            <a:r>
              <a:rPr dirty="0" spc="-190"/>
              <a:t> </a:t>
            </a:r>
            <a:r>
              <a:rPr dirty="0" spc="-10"/>
              <a:t>occiptal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900"/>
          </a:p>
          <a:p>
            <a:pPr marL="898525" marR="5080">
              <a:lnSpc>
                <a:spcPct val="115900"/>
              </a:lnSpc>
              <a:spcBef>
                <a:spcPts val="5"/>
              </a:spcBef>
            </a:pPr>
            <a:r>
              <a:rPr dirty="0"/>
              <a:t>el</a:t>
            </a:r>
            <a:r>
              <a:rPr dirty="0" spc="-180"/>
              <a:t> </a:t>
            </a:r>
            <a:r>
              <a:rPr dirty="0" spc="-160"/>
              <a:t>paramento</a:t>
            </a:r>
            <a:r>
              <a:rPr dirty="0" spc="-125"/>
              <a:t> </a:t>
            </a:r>
            <a:r>
              <a:rPr dirty="0"/>
              <a:t>de</a:t>
            </a:r>
            <a:r>
              <a:rPr dirty="0" spc="-155"/>
              <a:t> </a:t>
            </a:r>
            <a:r>
              <a:rPr dirty="0"/>
              <a:t>division</a:t>
            </a:r>
            <a:r>
              <a:rPr dirty="0" spc="-150"/>
              <a:t> </a:t>
            </a:r>
            <a:r>
              <a:rPr dirty="0" spc="-25"/>
              <a:t>son</a:t>
            </a:r>
            <a:r>
              <a:rPr dirty="0" spc="-25"/>
              <a:t> </a:t>
            </a:r>
            <a:r>
              <a:rPr dirty="0"/>
              <a:t>dos</a:t>
            </a:r>
            <a:r>
              <a:rPr dirty="0" spc="30"/>
              <a:t> </a:t>
            </a:r>
            <a:r>
              <a:rPr dirty="0"/>
              <a:t>lineas</a:t>
            </a:r>
            <a:r>
              <a:rPr dirty="0" spc="30"/>
              <a:t> </a:t>
            </a:r>
            <a:r>
              <a:rPr dirty="0" spc="-10"/>
              <a:t>transversales:</a:t>
            </a: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pc="470"/>
              <a:t>-</a:t>
            </a:r>
            <a:r>
              <a:rPr dirty="0"/>
              <a:t>linea</a:t>
            </a:r>
            <a:r>
              <a:rPr dirty="0" spc="-260"/>
              <a:t> </a:t>
            </a:r>
            <a:r>
              <a:rPr dirty="0" spc="-10"/>
              <a:t>bicigomatica</a:t>
            </a: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pc="470"/>
              <a:t>-</a:t>
            </a:r>
            <a:r>
              <a:rPr dirty="0"/>
              <a:t>linea</a:t>
            </a:r>
            <a:r>
              <a:rPr dirty="0" spc="-260"/>
              <a:t> </a:t>
            </a:r>
            <a:r>
              <a:rPr dirty="0" spc="-10"/>
              <a:t>bimastoidea</a:t>
            </a:r>
          </a:p>
        </p:txBody>
      </p:sp>
      <p:sp>
        <p:nvSpPr>
          <p:cNvPr id="14" name="object 14" descr=""/>
          <p:cNvSpPr/>
          <p:nvPr/>
        </p:nvSpPr>
        <p:spPr>
          <a:xfrm>
            <a:off x="8458557" y="3294096"/>
            <a:ext cx="9087485" cy="33020"/>
          </a:xfrm>
          <a:custGeom>
            <a:avLst/>
            <a:gdLst/>
            <a:ahLst/>
            <a:cxnLst/>
            <a:rect l="l" t="t" r="r" b="b"/>
            <a:pathLst>
              <a:path w="9087485" h="33020">
                <a:moveTo>
                  <a:pt x="0" y="32655"/>
                </a:moveTo>
                <a:lnTo>
                  <a:pt x="9086955" y="0"/>
                </a:lnTo>
              </a:path>
            </a:pathLst>
          </a:custGeom>
          <a:ln w="114299">
            <a:solidFill>
              <a:srgbClr val="664A9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8501047" y="6542702"/>
            <a:ext cx="9087485" cy="33020"/>
          </a:xfrm>
          <a:custGeom>
            <a:avLst/>
            <a:gdLst/>
            <a:ahLst/>
            <a:cxnLst/>
            <a:rect l="l" t="t" r="r" b="b"/>
            <a:pathLst>
              <a:path w="9087485" h="33020">
                <a:moveTo>
                  <a:pt x="0" y="32655"/>
                </a:moveTo>
                <a:lnTo>
                  <a:pt x="9086955" y="0"/>
                </a:lnTo>
              </a:path>
            </a:pathLst>
          </a:custGeom>
          <a:ln w="114299">
            <a:solidFill>
              <a:srgbClr val="664A9E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0879" y="2137963"/>
            <a:ext cx="13011149" cy="60102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1529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800">
                <a:solidFill>
                  <a:srgbClr val="664A9E"/>
                </a:solidFill>
                <a:latin typeface="Bungee Inline"/>
                <a:cs typeface="Bungee Inline"/>
              </a:rPr>
              <a:t>zona</a:t>
            </a:r>
            <a:r>
              <a:rPr dirty="0" sz="4800" spc="-20">
                <a:solidFill>
                  <a:srgbClr val="664A9E"/>
                </a:solidFill>
                <a:latin typeface="Bungee Inline"/>
                <a:cs typeface="Bungee Inline"/>
              </a:rPr>
              <a:t> </a:t>
            </a:r>
            <a:r>
              <a:rPr dirty="0" sz="4800">
                <a:solidFill>
                  <a:srgbClr val="664A9E"/>
                </a:solidFill>
                <a:latin typeface="Bungee Inline"/>
                <a:cs typeface="Bungee Inline"/>
              </a:rPr>
              <a:t>anterior</a:t>
            </a:r>
            <a:r>
              <a:rPr dirty="0" sz="4800" spc="-15">
                <a:solidFill>
                  <a:srgbClr val="664A9E"/>
                </a:solidFill>
                <a:latin typeface="Bungee Inline"/>
                <a:cs typeface="Bungee Inline"/>
              </a:rPr>
              <a:t> </a:t>
            </a:r>
            <a:r>
              <a:rPr dirty="0" sz="4800">
                <a:solidFill>
                  <a:srgbClr val="664A9E"/>
                </a:solidFill>
                <a:latin typeface="Bungee Inline"/>
                <a:cs typeface="Bungee Inline"/>
              </a:rPr>
              <a:t>o</a:t>
            </a:r>
            <a:r>
              <a:rPr dirty="0" sz="4800" spc="-15">
                <a:solidFill>
                  <a:srgbClr val="664A9E"/>
                </a:solidFill>
                <a:latin typeface="Bungee Inline"/>
                <a:cs typeface="Bungee Inline"/>
              </a:rPr>
              <a:t> </a:t>
            </a:r>
            <a:r>
              <a:rPr dirty="0" sz="4800" spc="-10">
                <a:solidFill>
                  <a:srgbClr val="664A9E"/>
                </a:solidFill>
                <a:latin typeface="Bungee Inline"/>
                <a:cs typeface="Bungee Inline"/>
              </a:rPr>
              <a:t>facial</a:t>
            </a:r>
            <a:endParaRPr sz="4800">
              <a:latin typeface="Bungee Inline"/>
              <a:cs typeface="Bungee Inlin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2226" y="2438852"/>
            <a:ext cx="13868399" cy="46291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57870" rIns="0" bIns="0" rtlCol="0" vert="horz">
            <a:spAutoFit/>
          </a:bodyPr>
          <a:lstStyle/>
          <a:p>
            <a:pPr marL="99695">
              <a:lnSpc>
                <a:spcPct val="100000"/>
              </a:lnSpc>
              <a:spcBef>
                <a:spcPts val="114"/>
              </a:spcBef>
            </a:pPr>
            <a:r>
              <a:rPr dirty="0" sz="4650">
                <a:solidFill>
                  <a:srgbClr val="664A9E"/>
                </a:solidFill>
                <a:latin typeface="Bungee Inline"/>
                <a:cs typeface="Bungee Inline"/>
              </a:rPr>
              <a:t>zona</a:t>
            </a:r>
            <a:r>
              <a:rPr dirty="0" sz="4650" spc="-25">
                <a:solidFill>
                  <a:srgbClr val="664A9E"/>
                </a:solidFill>
                <a:latin typeface="Bungee Inline"/>
                <a:cs typeface="Bungee Inline"/>
              </a:rPr>
              <a:t> </a:t>
            </a:r>
            <a:r>
              <a:rPr dirty="0" sz="4650">
                <a:solidFill>
                  <a:srgbClr val="664A9E"/>
                </a:solidFill>
                <a:latin typeface="Bungee Inline"/>
                <a:cs typeface="Bungee Inline"/>
              </a:rPr>
              <a:t>media</a:t>
            </a:r>
            <a:r>
              <a:rPr dirty="0" sz="4650" spc="-10">
                <a:solidFill>
                  <a:srgbClr val="664A9E"/>
                </a:solidFill>
                <a:latin typeface="Bungee Inline"/>
                <a:cs typeface="Bungee Inline"/>
              </a:rPr>
              <a:t> </a:t>
            </a:r>
            <a:r>
              <a:rPr dirty="0" sz="4650">
                <a:solidFill>
                  <a:srgbClr val="664A9E"/>
                </a:solidFill>
                <a:latin typeface="Bungee Inline"/>
                <a:cs typeface="Bungee Inline"/>
              </a:rPr>
              <a:t>o</a:t>
            </a:r>
            <a:r>
              <a:rPr dirty="0" sz="4650" spc="-10">
                <a:solidFill>
                  <a:srgbClr val="664A9E"/>
                </a:solidFill>
                <a:latin typeface="Bungee Inline"/>
                <a:cs typeface="Bungee Inline"/>
              </a:rPr>
              <a:t> yugular</a:t>
            </a:r>
            <a:endParaRPr sz="4650">
              <a:latin typeface="Bungee Inline"/>
              <a:cs typeface="Bungee Inlin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6052" y="2847236"/>
            <a:ext cx="11210924" cy="61340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8565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600">
                <a:solidFill>
                  <a:srgbClr val="664A9E"/>
                </a:solidFill>
                <a:latin typeface="Bungee Inline"/>
                <a:cs typeface="Bungee Inline"/>
              </a:rPr>
              <a:t>zona posterior u </a:t>
            </a:r>
            <a:r>
              <a:rPr dirty="0" sz="4600" spc="-10">
                <a:solidFill>
                  <a:srgbClr val="664A9E"/>
                </a:solidFill>
                <a:latin typeface="Bungee Inline"/>
                <a:cs typeface="Bungee Inline"/>
              </a:rPr>
              <a:t>occiptal</a:t>
            </a:r>
            <a:endParaRPr sz="4600">
              <a:latin typeface="Bungee Inline"/>
              <a:cs typeface="Bungee Inlin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008700" y="5"/>
            <a:ext cx="10278745" cy="10287000"/>
            <a:chOff x="8008700" y="5"/>
            <a:chExt cx="10278745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08700" y="238958"/>
              <a:ext cx="9248774" cy="1004804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39561" y="5"/>
              <a:ext cx="1447799" cy="1447799"/>
            </a:xfrm>
            <a:prstGeom prst="rect">
              <a:avLst/>
            </a:prstGeom>
          </p:spPr>
        </p:pic>
      </p:grpSp>
      <p:grpSp>
        <p:nvGrpSpPr>
          <p:cNvPr id="5" name="object 5" descr=""/>
          <p:cNvGrpSpPr/>
          <p:nvPr/>
        </p:nvGrpSpPr>
        <p:grpSpPr>
          <a:xfrm>
            <a:off x="0" y="7647491"/>
            <a:ext cx="18288000" cy="2639695"/>
            <a:chOff x="0" y="7647491"/>
            <a:chExt cx="18288000" cy="2639695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7647491"/>
              <a:ext cx="5584820" cy="2639508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9745" y="7647491"/>
              <a:ext cx="5838824" cy="2639508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99188" y="7647491"/>
              <a:ext cx="5838824" cy="2639508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960447" y="7647491"/>
              <a:ext cx="4327552" cy="2639508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56885" rIns="0" bIns="0" rtlCol="0" vert="horz">
            <a:spAutoFit/>
          </a:bodyPr>
          <a:lstStyle/>
          <a:p>
            <a:pPr marL="229235">
              <a:lnSpc>
                <a:spcPct val="100000"/>
              </a:lnSpc>
              <a:spcBef>
                <a:spcPts val="115"/>
              </a:spcBef>
            </a:pPr>
            <a:r>
              <a:rPr dirty="0" sz="6400" spc="-10">
                <a:solidFill>
                  <a:srgbClr val="664A9E"/>
                </a:solidFill>
              </a:rPr>
              <a:t>ENDOcráneo</a:t>
            </a:r>
            <a:endParaRPr sz="6400"/>
          </a:p>
        </p:txBody>
      </p:sp>
      <p:sp>
        <p:nvSpPr>
          <p:cNvPr id="11" name="object 11" descr=""/>
          <p:cNvSpPr txBox="1"/>
          <p:nvPr/>
        </p:nvSpPr>
        <p:spPr>
          <a:xfrm>
            <a:off x="479587" y="2303668"/>
            <a:ext cx="6510020" cy="42570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900" spc="-114" b="1">
                <a:solidFill>
                  <a:srgbClr val="654A9E"/>
                </a:solidFill>
                <a:latin typeface="Gill Sans MT"/>
                <a:cs typeface="Gill Sans MT"/>
              </a:rPr>
              <a:t>Dividida</a:t>
            </a:r>
            <a:r>
              <a:rPr dirty="0" sz="4900" spc="-204" b="1">
                <a:solidFill>
                  <a:srgbClr val="654A9E"/>
                </a:solidFill>
                <a:latin typeface="Gill Sans MT"/>
                <a:cs typeface="Gill Sans MT"/>
              </a:rPr>
              <a:t> </a:t>
            </a:r>
            <a:r>
              <a:rPr dirty="0" sz="4900" spc="-25" b="1">
                <a:solidFill>
                  <a:srgbClr val="654A9E"/>
                </a:solidFill>
                <a:latin typeface="Gill Sans MT"/>
                <a:cs typeface="Gill Sans MT"/>
              </a:rPr>
              <a:t>en:</a:t>
            </a:r>
            <a:endParaRPr sz="490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670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</a:pPr>
            <a:r>
              <a:rPr dirty="0" sz="4900" spc="565" b="1">
                <a:solidFill>
                  <a:srgbClr val="654A9E"/>
                </a:solidFill>
                <a:latin typeface="Gill Sans MT"/>
                <a:cs typeface="Gill Sans MT"/>
              </a:rPr>
              <a:t>-</a:t>
            </a:r>
            <a:r>
              <a:rPr dirty="0" sz="4900" spc="130" b="1">
                <a:solidFill>
                  <a:srgbClr val="654A9E"/>
                </a:solidFill>
                <a:latin typeface="Gill Sans MT"/>
                <a:cs typeface="Gill Sans MT"/>
              </a:rPr>
              <a:t>fosa</a:t>
            </a:r>
            <a:r>
              <a:rPr dirty="0" sz="4900" spc="-210" b="1">
                <a:solidFill>
                  <a:srgbClr val="654A9E"/>
                </a:solidFill>
                <a:latin typeface="Gill Sans MT"/>
                <a:cs typeface="Gill Sans MT"/>
              </a:rPr>
              <a:t> </a:t>
            </a:r>
            <a:r>
              <a:rPr dirty="0" sz="4900" spc="-35" b="1">
                <a:solidFill>
                  <a:srgbClr val="654A9E"/>
                </a:solidFill>
                <a:latin typeface="Gill Sans MT"/>
                <a:cs typeface="Gill Sans MT"/>
              </a:rPr>
              <a:t>craneal</a:t>
            </a:r>
            <a:r>
              <a:rPr dirty="0" sz="4900" spc="-204" b="1">
                <a:solidFill>
                  <a:srgbClr val="654A9E"/>
                </a:solidFill>
                <a:latin typeface="Gill Sans MT"/>
                <a:cs typeface="Gill Sans MT"/>
              </a:rPr>
              <a:t> </a:t>
            </a:r>
            <a:r>
              <a:rPr dirty="0" sz="4900" spc="-25" b="1">
                <a:solidFill>
                  <a:srgbClr val="654A9E"/>
                </a:solidFill>
                <a:latin typeface="Gill Sans MT"/>
                <a:cs typeface="Gill Sans MT"/>
              </a:rPr>
              <a:t>anterior</a:t>
            </a:r>
            <a:endParaRPr sz="490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dirty="0" sz="4900" spc="565" b="1">
                <a:solidFill>
                  <a:srgbClr val="654A9E"/>
                </a:solidFill>
                <a:latin typeface="Gill Sans MT"/>
                <a:cs typeface="Gill Sans MT"/>
              </a:rPr>
              <a:t>-</a:t>
            </a:r>
            <a:r>
              <a:rPr dirty="0" sz="4900" spc="130" b="1">
                <a:solidFill>
                  <a:srgbClr val="654A9E"/>
                </a:solidFill>
                <a:latin typeface="Gill Sans MT"/>
                <a:cs typeface="Gill Sans MT"/>
              </a:rPr>
              <a:t>fosa</a:t>
            </a:r>
            <a:r>
              <a:rPr dirty="0" sz="4900" spc="-210" b="1">
                <a:solidFill>
                  <a:srgbClr val="654A9E"/>
                </a:solidFill>
                <a:latin typeface="Gill Sans MT"/>
                <a:cs typeface="Gill Sans MT"/>
              </a:rPr>
              <a:t> </a:t>
            </a:r>
            <a:r>
              <a:rPr dirty="0" sz="4900" spc="-35" b="1">
                <a:solidFill>
                  <a:srgbClr val="654A9E"/>
                </a:solidFill>
                <a:latin typeface="Gill Sans MT"/>
                <a:cs typeface="Gill Sans MT"/>
              </a:rPr>
              <a:t>craneal</a:t>
            </a:r>
            <a:r>
              <a:rPr dirty="0" sz="4900" spc="-204" b="1">
                <a:solidFill>
                  <a:srgbClr val="654A9E"/>
                </a:solidFill>
                <a:latin typeface="Gill Sans MT"/>
                <a:cs typeface="Gill Sans MT"/>
              </a:rPr>
              <a:t> </a:t>
            </a:r>
            <a:r>
              <a:rPr dirty="0" sz="4900" spc="-10" b="1">
                <a:solidFill>
                  <a:srgbClr val="654A9E"/>
                </a:solidFill>
                <a:latin typeface="Gill Sans MT"/>
                <a:cs typeface="Gill Sans MT"/>
              </a:rPr>
              <a:t>media</a:t>
            </a:r>
            <a:endParaRPr sz="490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dirty="0" sz="4900" spc="565" b="1">
                <a:solidFill>
                  <a:srgbClr val="654A9E"/>
                </a:solidFill>
                <a:latin typeface="Gill Sans MT"/>
                <a:cs typeface="Gill Sans MT"/>
              </a:rPr>
              <a:t>-</a:t>
            </a:r>
            <a:r>
              <a:rPr dirty="0" sz="4900" spc="130" b="1">
                <a:solidFill>
                  <a:srgbClr val="654A9E"/>
                </a:solidFill>
                <a:latin typeface="Gill Sans MT"/>
                <a:cs typeface="Gill Sans MT"/>
              </a:rPr>
              <a:t>fosa</a:t>
            </a:r>
            <a:r>
              <a:rPr dirty="0" sz="4900" spc="-210" b="1">
                <a:solidFill>
                  <a:srgbClr val="654A9E"/>
                </a:solidFill>
                <a:latin typeface="Gill Sans MT"/>
                <a:cs typeface="Gill Sans MT"/>
              </a:rPr>
              <a:t> </a:t>
            </a:r>
            <a:r>
              <a:rPr dirty="0" sz="4900" spc="-35" b="1">
                <a:solidFill>
                  <a:srgbClr val="654A9E"/>
                </a:solidFill>
                <a:latin typeface="Gill Sans MT"/>
                <a:cs typeface="Gill Sans MT"/>
              </a:rPr>
              <a:t>craneal</a:t>
            </a:r>
            <a:r>
              <a:rPr dirty="0" sz="4900" spc="-204" b="1">
                <a:solidFill>
                  <a:srgbClr val="654A9E"/>
                </a:solidFill>
                <a:latin typeface="Gill Sans MT"/>
                <a:cs typeface="Gill Sans MT"/>
              </a:rPr>
              <a:t> </a:t>
            </a:r>
            <a:r>
              <a:rPr dirty="0" sz="4900" spc="-80" b="1">
                <a:solidFill>
                  <a:srgbClr val="654A9E"/>
                </a:solidFill>
                <a:latin typeface="Gill Sans MT"/>
                <a:cs typeface="Gill Sans MT"/>
              </a:rPr>
              <a:t>posterior</a:t>
            </a:r>
            <a:endParaRPr sz="49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EE6E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39561" y="5"/>
            <a:ext cx="1447799" cy="144779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5"/>
            <a:ext cx="13163549" cy="1028699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319682" y="9175644"/>
            <a:ext cx="5837555" cy="100330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400" spc="-10">
                <a:solidFill>
                  <a:srgbClr val="664A9E"/>
                </a:solidFill>
              </a:rPr>
              <a:t>ENDOcráneo</a:t>
            </a:r>
            <a:endParaRPr sz="6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2814066"/>
            <a:ext cx="7696199" cy="58388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0365" rIns="0" bIns="0" rtlCol="0" vert="horz">
            <a:spAutoFit/>
          </a:bodyPr>
          <a:lstStyle/>
          <a:p>
            <a:pPr marL="577850">
              <a:lnSpc>
                <a:spcPct val="100000"/>
              </a:lnSpc>
              <a:spcBef>
                <a:spcPts val="2995"/>
              </a:spcBef>
            </a:pPr>
            <a:r>
              <a:rPr dirty="0" sz="6400">
                <a:solidFill>
                  <a:srgbClr val="664A9E"/>
                </a:solidFill>
              </a:rPr>
              <a:t>pares</a:t>
            </a:r>
            <a:r>
              <a:rPr dirty="0" sz="6400" spc="-30">
                <a:solidFill>
                  <a:srgbClr val="664A9E"/>
                </a:solidFill>
              </a:rPr>
              <a:t> </a:t>
            </a:r>
            <a:r>
              <a:rPr dirty="0" sz="6400">
                <a:solidFill>
                  <a:srgbClr val="664A9E"/>
                </a:solidFill>
              </a:rPr>
              <a:t>craneales</a:t>
            </a:r>
            <a:r>
              <a:rPr dirty="0" sz="6400" spc="395">
                <a:solidFill>
                  <a:srgbClr val="664A9E"/>
                </a:solidFill>
              </a:rPr>
              <a:t> </a:t>
            </a:r>
            <a:r>
              <a:rPr dirty="0" baseline="-9304" sz="15225" spc="-37">
                <a:solidFill>
                  <a:srgbClr val="664A9E"/>
                </a:solidFill>
                <a:latin typeface="Bungee Inline"/>
                <a:cs typeface="Bungee Inline"/>
              </a:rPr>
              <a:t>12</a:t>
            </a:r>
            <a:endParaRPr baseline="-9304" sz="15225">
              <a:latin typeface="Bungee Inline"/>
              <a:cs typeface="Bungee Inline"/>
            </a:endParaRPr>
          </a:p>
          <a:p>
            <a:pPr marL="781685">
              <a:lnSpc>
                <a:spcPct val="100000"/>
              </a:lnSpc>
              <a:spcBef>
                <a:spcPts val="1225"/>
              </a:spcBef>
            </a:pPr>
            <a:r>
              <a:rPr dirty="0" sz="4150">
                <a:solidFill>
                  <a:srgbClr val="664A9E"/>
                </a:solidFill>
                <a:latin typeface="Bungee Inline"/>
                <a:cs typeface="Bungee Inline"/>
              </a:rPr>
              <a:t>oh</a:t>
            </a:r>
            <a:r>
              <a:rPr dirty="0" sz="4150" spc="-10">
                <a:solidFill>
                  <a:srgbClr val="664A9E"/>
                </a:solidFill>
                <a:latin typeface="Bungee Inline"/>
                <a:cs typeface="Bungee Inline"/>
              </a:rPr>
              <a:t> </a:t>
            </a:r>
            <a:r>
              <a:rPr dirty="0" sz="4150">
                <a:solidFill>
                  <a:srgbClr val="664A9E"/>
                </a:solidFill>
                <a:latin typeface="Bungee Inline"/>
                <a:cs typeface="Bungee Inline"/>
              </a:rPr>
              <a:t>oh</a:t>
            </a:r>
            <a:r>
              <a:rPr dirty="0" sz="4150" spc="-5">
                <a:solidFill>
                  <a:srgbClr val="664A9E"/>
                </a:solidFill>
                <a:latin typeface="Bungee Inline"/>
                <a:cs typeface="Bungee Inline"/>
              </a:rPr>
              <a:t> </a:t>
            </a:r>
            <a:r>
              <a:rPr dirty="0" sz="4150">
                <a:solidFill>
                  <a:srgbClr val="664A9E"/>
                </a:solidFill>
                <a:latin typeface="Bungee Inline"/>
                <a:cs typeface="Bungee Inline"/>
              </a:rPr>
              <a:t>mama</a:t>
            </a:r>
            <a:r>
              <a:rPr dirty="0" sz="4150" spc="-5">
                <a:solidFill>
                  <a:srgbClr val="664A9E"/>
                </a:solidFill>
                <a:latin typeface="Bungee Inline"/>
                <a:cs typeface="Bungee Inline"/>
              </a:rPr>
              <a:t> </a:t>
            </a:r>
            <a:r>
              <a:rPr dirty="0" sz="4150">
                <a:solidFill>
                  <a:srgbClr val="664A9E"/>
                </a:solidFill>
                <a:latin typeface="Bungee Inline"/>
                <a:cs typeface="Bungee Inline"/>
              </a:rPr>
              <a:t>por</a:t>
            </a:r>
            <a:r>
              <a:rPr dirty="0" sz="4150" spc="-5">
                <a:solidFill>
                  <a:srgbClr val="664A9E"/>
                </a:solidFill>
                <a:latin typeface="Bungee Inline"/>
                <a:cs typeface="Bungee Inline"/>
              </a:rPr>
              <a:t> </a:t>
            </a:r>
            <a:r>
              <a:rPr dirty="0" sz="4150">
                <a:solidFill>
                  <a:srgbClr val="664A9E"/>
                </a:solidFill>
                <a:latin typeface="Bungee Inline"/>
                <a:cs typeface="Bungee Inline"/>
              </a:rPr>
              <a:t>ti</a:t>
            </a:r>
            <a:r>
              <a:rPr dirty="0" sz="4150" spc="-5">
                <a:solidFill>
                  <a:srgbClr val="664A9E"/>
                </a:solidFill>
                <a:latin typeface="Bungee Inline"/>
                <a:cs typeface="Bungee Inline"/>
              </a:rPr>
              <a:t> </a:t>
            </a:r>
            <a:r>
              <a:rPr dirty="0" sz="4150">
                <a:solidFill>
                  <a:srgbClr val="664A9E"/>
                </a:solidFill>
                <a:latin typeface="Bungee Inline"/>
                <a:cs typeface="Bungee Inline"/>
              </a:rPr>
              <a:t>me</a:t>
            </a:r>
            <a:r>
              <a:rPr dirty="0" sz="4150" spc="-10">
                <a:solidFill>
                  <a:srgbClr val="664A9E"/>
                </a:solidFill>
                <a:latin typeface="Bungee Inline"/>
                <a:cs typeface="Bungee Inline"/>
              </a:rPr>
              <a:t> </a:t>
            </a:r>
            <a:r>
              <a:rPr dirty="0" sz="4150">
                <a:solidFill>
                  <a:srgbClr val="664A9E"/>
                </a:solidFill>
                <a:latin typeface="Bungee Inline"/>
                <a:cs typeface="Bungee Inline"/>
              </a:rPr>
              <a:t>fui</a:t>
            </a:r>
            <a:r>
              <a:rPr dirty="0" sz="4150" spc="-5">
                <a:solidFill>
                  <a:srgbClr val="664A9E"/>
                </a:solidFill>
                <a:latin typeface="Bungee Inline"/>
                <a:cs typeface="Bungee Inline"/>
              </a:rPr>
              <a:t> </a:t>
            </a:r>
            <a:r>
              <a:rPr dirty="0" sz="4150">
                <a:solidFill>
                  <a:srgbClr val="664A9E"/>
                </a:solidFill>
                <a:latin typeface="Bungee Inline"/>
                <a:cs typeface="Bungee Inline"/>
              </a:rPr>
              <a:t>a</a:t>
            </a:r>
            <a:r>
              <a:rPr dirty="0" sz="4150" spc="-5">
                <a:solidFill>
                  <a:srgbClr val="664A9E"/>
                </a:solidFill>
                <a:latin typeface="Bungee Inline"/>
                <a:cs typeface="Bungee Inline"/>
              </a:rPr>
              <a:t> </a:t>
            </a:r>
            <a:r>
              <a:rPr dirty="0" sz="4150">
                <a:solidFill>
                  <a:srgbClr val="664A9E"/>
                </a:solidFill>
                <a:latin typeface="Bungee Inline"/>
                <a:cs typeface="Bungee Inline"/>
              </a:rPr>
              <a:t>galicia</a:t>
            </a:r>
            <a:r>
              <a:rPr dirty="0" sz="4150" spc="-5">
                <a:solidFill>
                  <a:srgbClr val="664A9E"/>
                </a:solidFill>
                <a:latin typeface="Bungee Inline"/>
                <a:cs typeface="Bungee Inline"/>
              </a:rPr>
              <a:t> </a:t>
            </a:r>
            <a:r>
              <a:rPr dirty="0" sz="4150">
                <a:solidFill>
                  <a:srgbClr val="664A9E"/>
                </a:solidFill>
                <a:latin typeface="Bungee Inline"/>
                <a:cs typeface="Bungee Inline"/>
              </a:rPr>
              <a:t>no</a:t>
            </a:r>
            <a:r>
              <a:rPr dirty="0" sz="4150" spc="-5">
                <a:solidFill>
                  <a:srgbClr val="664A9E"/>
                </a:solidFill>
                <a:latin typeface="Bungee Inline"/>
                <a:cs typeface="Bungee Inline"/>
              </a:rPr>
              <a:t> </a:t>
            </a:r>
            <a:r>
              <a:rPr dirty="0" sz="4150">
                <a:solidFill>
                  <a:srgbClr val="664A9E"/>
                </a:solidFill>
                <a:latin typeface="Bungee Inline"/>
                <a:cs typeface="Bungee Inline"/>
              </a:rPr>
              <a:t>esperes</a:t>
            </a:r>
            <a:r>
              <a:rPr dirty="0" sz="4150" spc="-5">
                <a:solidFill>
                  <a:srgbClr val="664A9E"/>
                </a:solidFill>
                <a:latin typeface="Bungee Inline"/>
                <a:cs typeface="Bungee Inline"/>
              </a:rPr>
              <a:t> </a:t>
            </a:r>
            <a:r>
              <a:rPr dirty="0" sz="4150" spc="-10">
                <a:solidFill>
                  <a:srgbClr val="664A9E"/>
                </a:solidFill>
                <a:latin typeface="Bungee Inline"/>
                <a:cs typeface="Bungee Inline"/>
              </a:rPr>
              <a:t>hijos</a:t>
            </a:r>
            <a:endParaRPr sz="4150">
              <a:latin typeface="Bungee Inline"/>
              <a:cs typeface="Bungee Inlin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8772" y="1806511"/>
            <a:ext cx="9067799" cy="68865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56873" rIns="0" bIns="0" rtlCol="0" vert="horz">
            <a:spAutoFit/>
          </a:bodyPr>
          <a:lstStyle/>
          <a:p>
            <a:pPr marL="435609">
              <a:lnSpc>
                <a:spcPct val="100000"/>
              </a:lnSpc>
              <a:spcBef>
                <a:spcPts val="115"/>
              </a:spcBef>
            </a:pPr>
            <a:r>
              <a:rPr dirty="0" sz="6400">
                <a:solidFill>
                  <a:srgbClr val="664A9E"/>
                </a:solidFill>
              </a:rPr>
              <a:t>pares</a:t>
            </a:r>
            <a:r>
              <a:rPr dirty="0" sz="6400" spc="-30">
                <a:solidFill>
                  <a:srgbClr val="664A9E"/>
                </a:solidFill>
              </a:rPr>
              <a:t> </a:t>
            </a:r>
            <a:r>
              <a:rPr dirty="0" sz="6400">
                <a:solidFill>
                  <a:srgbClr val="664A9E"/>
                </a:solidFill>
              </a:rPr>
              <a:t>craneales</a:t>
            </a:r>
            <a:r>
              <a:rPr dirty="0" sz="6400" spc="-30">
                <a:solidFill>
                  <a:srgbClr val="664A9E"/>
                </a:solidFill>
              </a:rPr>
              <a:t> </a:t>
            </a:r>
            <a:r>
              <a:rPr dirty="0" sz="6400" spc="-10">
                <a:solidFill>
                  <a:srgbClr val="664A9E"/>
                </a:solidFill>
              </a:rPr>
              <a:t>(función)</a:t>
            </a:r>
            <a:endParaRPr sz="6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9730" y="4246137"/>
            <a:ext cx="12698268" cy="60388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2988" y="267811"/>
            <a:ext cx="8087995" cy="72961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600">
                <a:solidFill>
                  <a:srgbClr val="664A9E"/>
                </a:solidFill>
                <a:latin typeface="Bungee Inline"/>
                <a:cs typeface="Bungee Inline"/>
              </a:rPr>
              <a:t>fosa craneal </a:t>
            </a:r>
            <a:r>
              <a:rPr dirty="0" sz="4600" spc="-10">
                <a:solidFill>
                  <a:srgbClr val="664A9E"/>
                </a:solidFill>
                <a:latin typeface="Bungee Inline"/>
                <a:cs typeface="Bungee Inline"/>
              </a:rPr>
              <a:t>anterior</a:t>
            </a:r>
            <a:endParaRPr sz="4600">
              <a:latin typeface="Bungee Inline"/>
              <a:cs typeface="Bungee Inline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94405" y="1235130"/>
            <a:ext cx="9820275" cy="286702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02988" y="1345562"/>
            <a:ext cx="7087234" cy="4225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5599"/>
              </a:lnSpc>
              <a:spcBef>
                <a:spcPts val="95"/>
              </a:spcBef>
            </a:pPr>
            <a:r>
              <a:rPr dirty="0" sz="2650" spc="-140" b="1">
                <a:latin typeface="Gill Sans MT"/>
                <a:cs typeface="Gill Sans MT"/>
              </a:rPr>
              <a:t>Entre</a:t>
            </a:r>
            <a:r>
              <a:rPr dirty="0" sz="2650" spc="-80" b="1">
                <a:latin typeface="Gill Sans MT"/>
                <a:cs typeface="Gill Sans MT"/>
              </a:rPr>
              <a:t> </a:t>
            </a:r>
            <a:r>
              <a:rPr dirty="0" sz="2650" b="1">
                <a:latin typeface="Gill Sans MT"/>
                <a:cs typeface="Gill Sans MT"/>
              </a:rPr>
              <a:t>la</a:t>
            </a:r>
            <a:r>
              <a:rPr dirty="0" sz="2650" spc="-120" b="1">
                <a:latin typeface="Gill Sans MT"/>
                <a:cs typeface="Gill Sans MT"/>
              </a:rPr>
              <a:t> </a:t>
            </a:r>
            <a:r>
              <a:rPr dirty="0" sz="2650" spc="-70" b="1">
                <a:latin typeface="Gill Sans MT"/>
                <a:cs typeface="Gill Sans MT"/>
              </a:rPr>
              <a:t>porción</a:t>
            </a:r>
            <a:r>
              <a:rPr dirty="0" sz="2650" spc="-100" b="1">
                <a:latin typeface="Gill Sans MT"/>
                <a:cs typeface="Gill Sans MT"/>
              </a:rPr>
              <a:t> </a:t>
            </a:r>
            <a:r>
              <a:rPr dirty="0" sz="2650" spc="-40" b="1">
                <a:latin typeface="Gill Sans MT"/>
                <a:cs typeface="Gill Sans MT"/>
              </a:rPr>
              <a:t>vertical</a:t>
            </a:r>
            <a:r>
              <a:rPr dirty="0" sz="2650" spc="-100" b="1">
                <a:latin typeface="Gill Sans MT"/>
                <a:cs typeface="Gill Sans MT"/>
              </a:rPr>
              <a:t> </a:t>
            </a:r>
            <a:r>
              <a:rPr dirty="0" sz="2650" b="1">
                <a:latin typeface="Gill Sans MT"/>
                <a:cs typeface="Gill Sans MT"/>
              </a:rPr>
              <a:t>del</a:t>
            </a:r>
            <a:r>
              <a:rPr dirty="0" sz="2650" spc="-100" b="1">
                <a:latin typeface="Gill Sans MT"/>
                <a:cs typeface="Gill Sans MT"/>
              </a:rPr>
              <a:t> </a:t>
            </a:r>
            <a:r>
              <a:rPr dirty="0" sz="2650" b="1">
                <a:latin typeface="Gill Sans MT"/>
                <a:cs typeface="Gill Sans MT"/>
              </a:rPr>
              <a:t>hueso</a:t>
            </a:r>
            <a:r>
              <a:rPr dirty="0" sz="2650" spc="-100" b="1">
                <a:latin typeface="Gill Sans MT"/>
                <a:cs typeface="Gill Sans MT"/>
              </a:rPr>
              <a:t> </a:t>
            </a:r>
            <a:r>
              <a:rPr dirty="0" sz="2650" spc="-10" b="1">
                <a:latin typeface="Gill Sans MT"/>
                <a:cs typeface="Gill Sans MT"/>
              </a:rPr>
              <a:t>frontal </a:t>
            </a:r>
            <a:r>
              <a:rPr dirty="0" sz="2650" spc="-105" b="1">
                <a:latin typeface="Gill Sans MT"/>
                <a:cs typeface="Gill Sans MT"/>
              </a:rPr>
              <a:t>anteriormente</a:t>
            </a:r>
            <a:r>
              <a:rPr dirty="0" sz="2650" spc="-65" b="1">
                <a:latin typeface="Gill Sans MT"/>
                <a:cs typeface="Gill Sans MT"/>
              </a:rPr>
              <a:t> </a:t>
            </a:r>
            <a:r>
              <a:rPr dirty="0" sz="2650" b="1">
                <a:latin typeface="Gill Sans MT"/>
                <a:cs typeface="Gill Sans MT"/>
              </a:rPr>
              <a:t>y</a:t>
            </a:r>
            <a:r>
              <a:rPr dirty="0" sz="2650" spc="-60" b="1">
                <a:latin typeface="Gill Sans MT"/>
                <a:cs typeface="Gill Sans MT"/>
              </a:rPr>
              <a:t> </a:t>
            </a:r>
            <a:r>
              <a:rPr dirty="0" sz="2650" b="1">
                <a:latin typeface="Gill Sans MT"/>
                <a:cs typeface="Gill Sans MT"/>
              </a:rPr>
              <a:t>el</a:t>
            </a:r>
            <a:r>
              <a:rPr dirty="0" sz="2650" spc="-60" b="1">
                <a:latin typeface="Gill Sans MT"/>
                <a:cs typeface="Gill Sans MT"/>
              </a:rPr>
              <a:t> </a:t>
            </a:r>
            <a:r>
              <a:rPr dirty="0" sz="2650" spc="-70" b="1">
                <a:latin typeface="Gill Sans MT"/>
                <a:cs typeface="Gill Sans MT"/>
              </a:rPr>
              <a:t>tubérculo</a:t>
            </a:r>
            <a:r>
              <a:rPr dirty="0" sz="2650" spc="-65" b="1">
                <a:latin typeface="Gill Sans MT"/>
                <a:cs typeface="Gill Sans MT"/>
              </a:rPr>
              <a:t> </a:t>
            </a:r>
            <a:r>
              <a:rPr dirty="0" sz="2650" b="1">
                <a:latin typeface="Gill Sans MT"/>
                <a:cs typeface="Gill Sans MT"/>
              </a:rPr>
              <a:t>de</a:t>
            </a:r>
            <a:r>
              <a:rPr dirty="0" sz="2650" spc="-60" b="1">
                <a:latin typeface="Gill Sans MT"/>
                <a:cs typeface="Gill Sans MT"/>
              </a:rPr>
              <a:t> </a:t>
            </a:r>
            <a:r>
              <a:rPr dirty="0" sz="2650" b="1">
                <a:latin typeface="Gill Sans MT"/>
                <a:cs typeface="Gill Sans MT"/>
              </a:rPr>
              <a:t>la</a:t>
            </a:r>
            <a:r>
              <a:rPr dirty="0" sz="2650" spc="-60" b="1">
                <a:latin typeface="Gill Sans MT"/>
                <a:cs typeface="Gill Sans MT"/>
              </a:rPr>
              <a:t> </a:t>
            </a:r>
            <a:r>
              <a:rPr dirty="0" sz="2650" b="1">
                <a:latin typeface="Gill Sans MT"/>
                <a:cs typeface="Gill Sans MT"/>
              </a:rPr>
              <a:t>silla</a:t>
            </a:r>
            <a:r>
              <a:rPr dirty="0" sz="2650" spc="-65" b="1">
                <a:latin typeface="Gill Sans MT"/>
                <a:cs typeface="Gill Sans MT"/>
              </a:rPr>
              <a:t> </a:t>
            </a:r>
            <a:r>
              <a:rPr dirty="0" sz="2650" b="1">
                <a:latin typeface="Gill Sans MT"/>
                <a:cs typeface="Gill Sans MT"/>
              </a:rPr>
              <a:t>y</a:t>
            </a:r>
            <a:r>
              <a:rPr dirty="0" sz="2650" spc="-60" b="1">
                <a:latin typeface="Gill Sans MT"/>
                <a:cs typeface="Gill Sans MT"/>
              </a:rPr>
              <a:t> </a:t>
            </a:r>
            <a:r>
              <a:rPr dirty="0" sz="2650" spc="-25" b="1">
                <a:latin typeface="Gill Sans MT"/>
                <a:cs typeface="Gill Sans MT"/>
              </a:rPr>
              <a:t>borde </a:t>
            </a:r>
            <a:r>
              <a:rPr dirty="0" sz="2650" spc="-75" b="1">
                <a:latin typeface="Gill Sans MT"/>
                <a:cs typeface="Gill Sans MT"/>
              </a:rPr>
              <a:t>posterior</a:t>
            </a:r>
            <a:r>
              <a:rPr dirty="0" sz="2650" spc="-105" b="1">
                <a:latin typeface="Gill Sans MT"/>
                <a:cs typeface="Gill Sans MT"/>
              </a:rPr>
              <a:t> </a:t>
            </a:r>
            <a:r>
              <a:rPr dirty="0" sz="2650" b="1">
                <a:latin typeface="Gill Sans MT"/>
                <a:cs typeface="Gill Sans MT"/>
              </a:rPr>
              <a:t>de</a:t>
            </a:r>
            <a:r>
              <a:rPr dirty="0" sz="2650" spc="-100" b="1">
                <a:latin typeface="Gill Sans MT"/>
                <a:cs typeface="Gill Sans MT"/>
              </a:rPr>
              <a:t> </a:t>
            </a:r>
            <a:r>
              <a:rPr dirty="0" sz="2650" spc="75" b="1">
                <a:latin typeface="Gill Sans MT"/>
                <a:cs typeface="Gill Sans MT"/>
              </a:rPr>
              <a:t>las</a:t>
            </a:r>
            <a:r>
              <a:rPr dirty="0" sz="2650" spc="-105" b="1">
                <a:latin typeface="Gill Sans MT"/>
                <a:cs typeface="Gill Sans MT"/>
              </a:rPr>
              <a:t> </a:t>
            </a:r>
            <a:r>
              <a:rPr dirty="0" sz="2650" spc="55" b="1">
                <a:latin typeface="Gill Sans MT"/>
                <a:cs typeface="Gill Sans MT"/>
              </a:rPr>
              <a:t>alas</a:t>
            </a:r>
            <a:r>
              <a:rPr dirty="0" sz="2650" spc="-100" b="1">
                <a:latin typeface="Gill Sans MT"/>
                <a:cs typeface="Gill Sans MT"/>
              </a:rPr>
              <a:t> </a:t>
            </a:r>
            <a:r>
              <a:rPr dirty="0" sz="2650" spc="-70" b="1">
                <a:latin typeface="Gill Sans MT"/>
                <a:cs typeface="Gill Sans MT"/>
              </a:rPr>
              <a:t>menores</a:t>
            </a:r>
            <a:r>
              <a:rPr dirty="0" sz="2650" spc="-105" b="1">
                <a:latin typeface="Gill Sans MT"/>
                <a:cs typeface="Gill Sans MT"/>
              </a:rPr>
              <a:t> </a:t>
            </a:r>
            <a:r>
              <a:rPr dirty="0" sz="2650" b="1">
                <a:latin typeface="Gill Sans MT"/>
                <a:cs typeface="Gill Sans MT"/>
              </a:rPr>
              <a:t>del</a:t>
            </a:r>
            <a:r>
              <a:rPr dirty="0" sz="2650" spc="-100" b="1">
                <a:latin typeface="Gill Sans MT"/>
                <a:cs typeface="Gill Sans MT"/>
              </a:rPr>
              <a:t> </a:t>
            </a:r>
            <a:r>
              <a:rPr dirty="0" sz="2650" spc="-10" b="1">
                <a:latin typeface="Gill Sans MT"/>
                <a:cs typeface="Gill Sans MT"/>
              </a:rPr>
              <a:t>hueso </a:t>
            </a:r>
            <a:r>
              <a:rPr dirty="0" sz="2650" b="1">
                <a:latin typeface="Gill Sans MT"/>
                <a:cs typeface="Gill Sans MT"/>
              </a:rPr>
              <a:t>esfenoides</a:t>
            </a:r>
            <a:r>
              <a:rPr dirty="0" sz="2650" spc="185" b="1">
                <a:latin typeface="Gill Sans MT"/>
                <a:cs typeface="Gill Sans MT"/>
              </a:rPr>
              <a:t> </a:t>
            </a:r>
            <a:r>
              <a:rPr dirty="0" sz="2650" spc="-10" b="1">
                <a:latin typeface="Gill Sans MT"/>
                <a:cs typeface="Gill Sans MT"/>
              </a:rPr>
              <a:t>posteriormente.</a:t>
            </a:r>
            <a:endParaRPr sz="265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5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</a:pPr>
            <a:r>
              <a:rPr dirty="0" sz="2650" b="1">
                <a:latin typeface="Gill Sans MT"/>
                <a:cs typeface="Gill Sans MT"/>
              </a:rPr>
              <a:t>Se</a:t>
            </a:r>
            <a:r>
              <a:rPr dirty="0" sz="2650" spc="-90" b="1">
                <a:latin typeface="Gill Sans MT"/>
                <a:cs typeface="Gill Sans MT"/>
              </a:rPr>
              <a:t> </a:t>
            </a:r>
            <a:r>
              <a:rPr dirty="0" sz="2650" spc="-25" b="1">
                <a:latin typeface="Gill Sans MT"/>
                <a:cs typeface="Gill Sans MT"/>
              </a:rPr>
              <a:t>observan</a:t>
            </a:r>
            <a:r>
              <a:rPr dirty="0" sz="2650" spc="-85" b="1">
                <a:latin typeface="Gill Sans MT"/>
                <a:cs typeface="Gill Sans MT"/>
              </a:rPr>
              <a:t> </a:t>
            </a:r>
            <a:r>
              <a:rPr dirty="0" sz="2650" spc="55" b="1">
                <a:latin typeface="Gill Sans MT"/>
                <a:cs typeface="Gill Sans MT"/>
              </a:rPr>
              <a:t>4</a:t>
            </a:r>
            <a:r>
              <a:rPr dirty="0" sz="2650" spc="-85" b="1">
                <a:latin typeface="Gill Sans MT"/>
                <a:cs typeface="Gill Sans MT"/>
              </a:rPr>
              <a:t> </a:t>
            </a:r>
            <a:r>
              <a:rPr dirty="0" sz="2650" spc="-10" b="1">
                <a:latin typeface="Gill Sans MT"/>
                <a:cs typeface="Gill Sans MT"/>
              </a:rPr>
              <a:t>forámenes:</a:t>
            </a:r>
            <a:endParaRPr sz="26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2650" spc="-60" b="1">
                <a:latin typeface="Gill Sans MT"/>
                <a:cs typeface="Gill Sans MT"/>
              </a:rPr>
              <a:t>Ciego,</a:t>
            </a:r>
            <a:r>
              <a:rPr dirty="0" sz="2650" spc="-85" b="1">
                <a:latin typeface="Gill Sans MT"/>
                <a:cs typeface="Gill Sans MT"/>
              </a:rPr>
              <a:t> </a:t>
            </a:r>
            <a:r>
              <a:rPr dirty="0" sz="2650" spc="-10" b="1">
                <a:latin typeface="Gill Sans MT"/>
                <a:cs typeface="Gill Sans MT"/>
              </a:rPr>
              <a:t>etmoidal</a:t>
            </a:r>
            <a:endParaRPr sz="2650">
              <a:latin typeface="Gill Sans MT"/>
              <a:cs typeface="Gill Sans MT"/>
            </a:endParaRPr>
          </a:p>
          <a:p>
            <a:pPr marL="12700" marR="1144905">
              <a:lnSpc>
                <a:spcPts val="3679"/>
              </a:lnSpc>
              <a:spcBef>
                <a:spcPts val="90"/>
              </a:spcBef>
            </a:pPr>
            <a:r>
              <a:rPr dirty="0" sz="2650" spc="-90" b="1">
                <a:latin typeface="Gill Sans MT"/>
                <a:cs typeface="Gill Sans MT"/>
              </a:rPr>
              <a:t>anterior,</a:t>
            </a:r>
            <a:r>
              <a:rPr dirty="0" sz="2650" spc="-50" b="1">
                <a:latin typeface="Gill Sans MT"/>
                <a:cs typeface="Gill Sans MT"/>
              </a:rPr>
              <a:t> </a:t>
            </a:r>
            <a:r>
              <a:rPr dirty="0" sz="2650" spc="-75" b="1">
                <a:latin typeface="Gill Sans MT"/>
                <a:cs typeface="Gill Sans MT"/>
              </a:rPr>
              <a:t>posterior</a:t>
            </a:r>
            <a:r>
              <a:rPr dirty="0" sz="2650" spc="-55" b="1">
                <a:latin typeface="Gill Sans MT"/>
                <a:cs typeface="Gill Sans MT"/>
              </a:rPr>
              <a:t> </a:t>
            </a:r>
            <a:r>
              <a:rPr dirty="0" sz="2650" b="1">
                <a:latin typeface="Gill Sans MT"/>
                <a:cs typeface="Gill Sans MT"/>
              </a:rPr>
              <a:t>y</a:t>
            </a:r>
            <a:r>
              <a:rPr dirty="0" sz="2650" spc="-55" b="1">
                <a:latin typeface="Gill Sans MT"/>
                <a:cs typeface="Gill Sans MT"/>
              </a:rPr>
              <a:t> </a:t>
            </a:r>
            <a:r>
              <a:rPr dirty="0" sz="2650" b="1">
                <a:latin typeface="Gill Sans MT"/>
                <a:cs typeface="Gill Sans MT"/>
              </a:rPr>
              <a:t>haces</a:t>
            </a:r>
            <a:r>
              <a:rPr dirty="0" sz="2650" spc="-50" b="1">
                <a:latin typeface="Gill Sans MT"/>
                <a:cs typeface="Gill Sans MT"/>
              </a:rPr>
              <a:t> </a:t>
            </a:r>
            <a:r>
              <a:rPr dirty="0" sz="2650" b="1">
                <a:latin typeface="Gill Sans MT"/>
                <a:cs typeface="Gill Sans MT"/>
              </a:rPr>
              <a:t>de</a:t>
            </a:r>
            <a:r>
              <a:rPr dirty="0" sz="2650" spc="-50" b="1">
                <a:latin typeface="Gill Sans MT"/>
                <a:cs typeface="Gill Sans MT"/>
              </a:rPr>
              <a:t> </a:t>
            </a:r>
            <a:r>
              <a:rPr dirty="0" sz="2650" b="1">
                <a:latin typeface="Gill Sans MT"/>
                <a:cs typeface="Gill Sans MT"/>
              </a:rPr>
              <a:t>la</a:t>
            </a:r>
            <a:r>
              <a:rPr dirty="0" sz="2650" spc="-55" b="1">
                <a:latin typeface="Gill Sans MT"/>
                <a:cs typeface="Gill Sans MT"/>
              </a:rPr>
              <a:t> </a:t>
            </a:r>
            <a:r>
              <a:rPr dirty="0" sz="2650" spc="-10" b="1">
                <a:latin typeface="Gill Sans MT"/>
                <a:cs typeface="Gill Sans MT"/>
              </a:rPr>
              <a:t>lamina cribiforme</a:t>
            </a:r>
            <a:endParaRPr sz="265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393" y="1448442"/>
            <a:ext cx="17364074" cy="871537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150" y="6381832"/>
            <a:ext cx="11058524" cy="2533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7655" y="267811"/>
            <a:ext cx="6892925" cy="72961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600">
                <a:solidFill>
                  <a:srgbClr val="664A9E"/>
                </a:solidFill>
                <a:latin typeface="Bungee Inline"/>
                <a:cs typeface="Bungee Inline"/>
              </a:rPr>
              <a:t>fosa craneal </a:t>
            </a:r>
            <a:r>
              <a:rPr dirty="0" sz="4600" spc="-10">
                <a:solidFill>
                  <a:srgbClr val="664A9E"/>
                </a:solidFill>
                <a:latin typeface="Bungee Inline"/>
                <a:cs typeface="Bungee Inline"/>
              </a:rPr>
              <a:t>media</a:t>
            </a:r>
            <a:endParaRPr sz="4600">
              <a:latin typeface="Bungee Inline"/>
              <a:cs typeface="Bungee Inline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242452"/>
            <a:ext cx="13273288" cy="487679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284904" y="1707074"/>
            <a:ext cx="5556250" cy="38550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330200" marR="322580">
              <a:lnSpc>
                <a:spcPct val="116300"/>
              </a:lnSpc>
              <a:spcBef>
                <a:spcPts val="95"/>
              </a:spcBef>
            </a:pPr>
            <a:r>
              <a:rPr dirty="0" sz="2400" spc="-120" b="1">
                <a:latin typeface="Gill Sans MT"/>
                <a:cs typeface="Gill Sans MT"/>
              </a:rPr>
              <a:t>Entre</a:t>
            </a:r>
            <a:r>
              <a:rPr dirty="0" sz="2400" spc="-45" b="1">
                <a:latin typeface="Gill Sans MT"/>
                <a:cs typeface="Gill Sans MT"/>
              </a:rPr>
              <a:t> </a:t>
            </a:r>
            <a:r>
              <a:rPr dirty="0" sz="2400" b="1">
                <a:latin typeface="Gill Sans MT"/>
                <a:cs typeface="Gill Sans MT"/>
              </a:rPr>
              <a:t>el</a:t>
            </a:r>
            <a:r>
              <a:rPr dirty="0" sz="2400" spc="-40" b="1">
                <a:latin typeface="Gill Sans MT"/>
                <a:cs typeface="Gill Sans MT"/>
              </a:rPr>
              <a:t> </a:t>
            </a:r>
            <a:r>
              <a:rPr dirty="0" sz="2400" spc="-50" b="1">
                <a:latin typeface="Gill Sans MT"/>
                <a:cs typeface="Gill Sans MT"/>
              </a:rPr>
              <a:t>tubérculo</a:t>
            </a:r>
            <a:r>
              <a:rPr dirty="0" sz="2400" spc="-45" b="1">
                <a:latin typeface="Gill Sans MT"/>
                <a:cs typeface="Gill Sans MT"/>
              </a:rPr>
              <a:t> </a:t>
            </a:r>
            <a:r>
              <a:rPr dirty="0" sz="2400" b="1">
                <a:latin typeface="Gill Sans MT"/>
                <a:cs typeface="Gill Sans MT"/>
              </a:rPr>
              <a:t>de</a:t>
            </a:r>
            <a:r>
              <a:rPr dirty="0" sz="2400" spc="-40" b="1">
                <a:latin typeface="Gill Sans MT"/>
                <a:cs typeface="Gill Sans MT"/>
              </a:rPr>
              <a:t> </a:t>
            </a:r>
            <a:r>
              <a:rPr dirty="0" sz="2400" b="1">
                <a:latin typeface="Gill Sans MT"/>
                <a:cs typeface="Gill Sans MT"/>
              </a:rPr>
              <a:t>silla</a:t>
            </a:r>
            <a:r>
              <a:rPr dirty="0" sz="2400" spc="-45" b="1">
                <a:latin typeface="Gill Sans MT"/>
                <a:cs typeface="Gill Sans MT"/>
              </a:rPr>
              <a:t> </a:t>
            </a:r>
            <a:r>
              <a:rPr dirty="0" sz="2400" spc="-60" b="1">
                <a:latin typeface="Gill Sans MT"/>
                <a:cs typeface="Gill Sans MT"/>
              </a:rPr>
              <a:t>turca</a:t>
            </a:r>
            <a:r>
              <a:rPr dirty="0" sz="2400" spc="-40" b="1">
                <a:latin typeface="Gill Sans MT"/>
                <a:cs typeface="Gill Sans MT"/>
              </a:rPr>
              <a:t> </a:t>
            </a:r>
            <a:r>
              <a:rPr dirty="0" sz="2400" b="1">
                <a:latin typeface="Gill Sans MT"/>
                <a:cs typeface="Gill Sans MT"/>
              </a:rPr>
              <a:t>y</a:t>
            </a:r>
            <a:r>
              <a:rPr dirty="0" sz="2400" spc="-45" b="1">
                <a:latin typeface="Gill Sans MT"/>
                <a:cs typeface="Gill Sans MT"/>
              </a:rPr>
              <a:t> </a:t>
            </a:r>
            <a:r>
              <a:rPr dirty="0" sz="2400" spc="-25" b="1">
                <a:latin typeface="Gill Sans MT"/>
                <a:cs typeface="Gill Sans MT"/>
              </a:rPr>
              <a:t>el </a:t>
            </a:r>
            <a:r>
              <a:rPr dirty="0" sz="2400" spc="-10" b="1">
                <a:latin typeface="Gill Sans MT"/>
                <a:cs typeface="Gill Sans MT"/>
              </a:rPr>
              <a:t>borde</a:t>
            </a:r>
            <a:endParaRPr sz="2400">
              <a:latin typeface="Gill Sans MT"/>
              <a:cs typeface="Gill Sans MT"/>
            </a:endParaRPr>
          </a:p>
          <a:p>
            <a:pPr algn="ctr" marL="12700" marR="5080">
              <a:lnSpc>
                <a:spcPct val="116300"/>
              </a:lnSpc>
            </a:pPr>
            <a:r>
              <a:rPr dirty="0" sz="2400" spc="-50" b="1">
                <a:latin typeface="Gill Sans MT"/>
                <a:cs typeface="Gill Sans MT"/>
              </a:rPr>
              <a:t>posterior</a:t>
            </a:r>
            <a:r>
              <a:rPr dirty="0" sz="2400" spc="-85" b="1">
                <a:latin typeface="Gill Sans MT"/>
                <a:cs typeface="Gill Sans MT"/>
              </a:rPr>
              <a:t> </a:t>
            </a:r>
            <a:r>
              <a:rPr dirty="0" sz="2400" b="1">
                <a:latin typeface="Gill Sans MT"/>
                <a:cs typeface="Gill Sans MT"/>
              </a:rPr>
              <a:t>de</a:t>
            </a:r>
            <a:r>
              <a:rPr dirty="0" sz="2400" spc="-85" b="1">
                <a:latin typeface="Gill Sans MT"/>
                <a:cs typeface="Gill Sans MT"/>
              </a:rPr>
              <a:t> </a:t>
            </a:r>
            <a:r>
              <a:rPr dirty="0" sz="2400" spc="70" b="1">
                <a:latin typeface="Gill Sans MT"/>
                <a:cs typeface="Gill Sans MT"/>
              </a:rPr>
              <a:t>las</a:t>
            </a:r>
            <a:r>
              <a:rPr dirty="0" sz="2400" spc="-85" b="1">
                <a:latin typeface="Gill Sans MT"/>
                <a:cs typeface="Gill Sans MT"/>
              </a:rPr>
              <a:t> </a:t>
            </a:r>
            <a:r>
              <a:rPr dirty="0" sz="2400" spc="50" b="1">
                <a:latin typeface="Gill Sans MT"/>
                <a:cs typeface="Gill Sans MT"/>
              </a:rPr>
              <a:t>alas</a:t>
            </a:r>
            <a:r>
              <a:rPr dirty="0" sz="2400" spc="-85" b="1">
                <a:latin typeface="Gill Sans MT"/>
                <a:cs typeface="Gill Sans MT"/>
              </a:rPr>
              <a:t> </a:t>
            </a:r>
            <a:r>
              <a:rPr dirty="0" sz="2400" spc="-50" b="1">
                <a:latin typeface="Gill Sans MT"/>
                <a:cs typeface="Gill Sans MT"/>
              </a:rPr>
              <a:t>menores</a:t>
            </a:r>
            <a:r>
              <a:rPr dirty="0" sz="2400" spc="-85" b="1">
                <a:latin typeface="Gill Sans MT"/>
                <a:cs typeface="Gill Sans MT"/>
              </a:rPr>
              <a:t> </a:t>
            </a:r>
            <a:r>
              <a:rPr dirty="0" sz="2400" b="1">
                <a:latin typeface="Gill Sans MT"/>
                <a:cs typeface="Gill Sans MT"/>
              </a:rPr>
              <a:t>del</a:t>
            </a:r>
            <a:r>
              <a:rPr dirty="0" sz="2400" spc="-85" b="1">
                <a:latin typeface="Gill Sans MT"/>
                <a:cs typeface="Gill Sans MT"/>
              </a:rPr>
              <a:t> </a:t>
            </a:r>
            <a:r>
              <a:rPr dirty="0" sz="2400" spc="-10" b="1">
                <a:latin typeface="Gill Sans MT"/>
                <a:cs typeface="Gill Sans MT"/>
              </a:rPr>
              <a:t>hueso esfenoides</a:t>
            </a:r>
            <a:endParaRPr sz="2400">
              <a:latin typeface="Gill Sans MT"/>
              <a:cs typeface="Gill Sans MT"/>
            </a:endParaRPr>
          </a:p>
          <a:p>
            <a:pPr algn="ctr" marL="394970" marR="387350">
              <a:lnSpc>
                <a:spcPct val="116300"/>
              </a:lnSpc>
            </a:pPr>
            <a:r>
              <a:rPr dirty="0" sz="2400" spc="-85" b="1">
                <a:latin typeface="Gill Sans MT"/>
                <a:cs typeface="Gill Sans MT"/>
              </a:rPr>
              <a:t>anteriormente</a:t>
            </a:r>
            <a:r>
              <a:rPr dirty="0" sz="2400" spc="-45" b="1">
                <a:latin typeface="Gill Sans MT"/>
                <a:cs typeface="Gill Sans MT"/>
              </a:rPr>
              <a:t> </a:t>
            </a:r>
            <a:r>
              <a:rPr dirty="0" sz="2400" b="1">
                <a:latin typeface="Gill Sans MT"/>
                <a:cs typeface="Gill Sans MT"/>
              </a:rPr>
              <a:t>y</a:t>
            </a:r>
            <a:r>
              <a:rPr dirty="0" sz="2400" spc="-40" b="1">
                <a:latin typeface="Gill Sans MT"/>
                <a:cs typeface="Gill Sans MT"/>
              </a:rPr>
              <a:t> </a:t>
            </a:r>
            <a:r>
              <a:rPr dirty="0" sz="2400" spc="-70" b="1">
                <a:latin typeface="Gill Sans MT"/>
                <a:cs typeface="Gill Sans MT"/>
              </a:rPr>
              <a:t>posteriormente</a:t>
            </a:r>
            <a:r>
              <a:rPr dirty="0" sz="2400" spc="-40" b="1">
                <a:latin typeface="Gill Sans MT"/>
                <a:cs typeface="Gill Sans MT"/>
              </a:rPr>
              <a:t> </a:t>
            </a:r>
            <a:r>
              <a:rPr dirty="0" sz="2400" spc="-25" b="1">
                <a:latin typeface="Gill Sans MT"/>
                <a:cs typeface="Gill Sans MT"/>
              </a:rPr>
              <a:t>el </a:t>
            </a:r>
            <a:r>
              <a:rPr dirty="0" sz="2400" spc="-65" b="1">
                <a:latin typeface="Gill Sans MT"/>
                <a:cs typeface="Gill Sans MT"/>
              </a:rPr>
              <a:t>borde</a:t>
            </a:r>
            <a:r>
              <a:rPr dirty="0" sz="2400" spc="-90" b="1">
                <a:latin typeface="Gill Sans MT"/>
                <a:cs typeface="Gill Sans MT"/>
              </a:rPr>
              <a:t> </a:t>
            </a:r>
            <a:r>
              <a:rPr dirty="0" sz="2400" spc="-10" b="1">
                <a:latin typeface="Gill Sans MT"/>
                <a:cs typeface="Gill Sans MT"/>
              </a:rPr>
              <a:t>superior</a:t>
            </a:r>
            <a:endParaRPr sz="2400">
              <a:latin typeface="Gill Sans MT"/>
              <a:cs typeface="Gill Sans MT"/>
            </a:endParaRPr>
          </a:p>
          <a:p>
            <a:pPr algn="ctr" marL="602615" marR="594995">
              <a:lnSpc>
                <a:spcPct val="116300"/>
              </a:lnSpc>
            </a:pPr>
            <a:r>
              <a:rPr dirty="0" sz="2400" b="1">
                <a:latin typeface="Gill Sans MT"/>
                <a:cs typeface="Gill Sans MT"/>
              </a:rPr>
              <a:t>de</a:t>
            </a:r>
            <a:r>
              <a:rPr dirty="0" sz="2400" spc="-105" b="1">
                <a:latin typeface="Gill Sans MT"/>
                <a:cs typeface="Gill Sans MT"/>
              </a:rPr>
              <a:t> </a:t>
            </a:r>
            <a:r>
              <a:rPr dirty="0" sz="2400" b="1">
                <a:latin typeface="Gill Sans MT"/>
                <a:cs typeface="Gill Sans MT"/>
              </a:rPr>
              <a:t>la</a:t>
            </a:r>
            <a:r>
              <a:rPr dirty="0" sz="2400" spc="-100" b="1">
                <a:latin typeface="Gill Sans MT"/>
                <a:cs typeface="Gill Sans MT"/>
              </a:rPr>
              <a:t> </a:t>
            </a:r>
            <a:r>
              <a:rPr dirty="0" sz="2400" spc="-45" b="1">
                <a:latin typeface="Gill Sans MT"/>
                <a:cs typeface="Gill Sans MT"/>
              </a:rPr>
              <a:t>porción</a:t>
            </a:r>
            <a:r>
              <a:rPr dirty="0" sz="2400" spc="-105" b="1">
                <a:latin typeface="Gill Sans MT"/>
                <a:cs typeface="Gill Sans MT"/>
              </a:rPr>
              <a:t> </a:t>
            </a:r>
            <a:r>
              <a:rPr dirty="0" sz="2400" spc="-30" b="1">
                <a:latin typeface="Gill Sans MT"/>
                <a:cs typeface="Gill Sans MT"/>
              </a:rPr>
              <a:t>petrosa</a:t>
            </a:r>
            <a:r>
              <a:rPr dirty="0" sz="2400" spc="-100" b="1">
                <a:latin typeface="Gill Sans MT"/>
                <a:cs typeface="Gill Sans MT"/>
              </a:rPr>
              <a:t> </a:t>
            </a:r>
            <a:r>
              <a:rPr dirty="0" sz="2400" b="1">
                <a:latin typeface="Gill Sans MT"/>
                <a:cs typeface="Gill Sans MT"/>
              </a:rPr>
              <a:t>del</a:t>
            </a:r>
            <a:r>
              <a:rPr dirty="0" sz="2400" spc="-105" b="1">
                <a:latin typeface="Gill Sans MT"/>
                <a:cs typeface="Gill Sans MT"/>
              </a:rPr>
              <a:t> </a:t>
            </a:r>
            <a:r>
              <a:rPr dirty="0" sz="2400" spc="-10" b="1">
                <a:latin typeface="Gill Sans MT"/>
                <a:cs typeface="Gill Sans MT"/>
              </a:rPr>
              <a:t>hueso </a:t>
            </a:r>
            <a:r>
              <a:rPr dirty="0" sz="2400" spc="-90" b="1">
                <a:latin typeface="Gill Sans MT"/>
                <a:cs typeface="Gill Sans MT"/>
              </a:rPr>
              <a:t>temporal</a:t>
            </a:r>
            <a:r>
              <a:rPr dirty="0" sz="2400" spc="-50" b="1">
                <a:latin typeface="Gill Sans MT"/>
                <a:cs typeface="Gill Sans MT"/>
              </a:rPr>
              <a:t> </a:t>
            </a:r>
            <a:r>
              <a:rPr dirty="0" sz="2400" b="1">
                <a:latin typeface="Gill Sans MT"/>
                <a:cs typeface="Gill Sans MT"/>
              </a:rPr>
              <a:t>y</a:t>
            </a:r>
            <a:r>
              <a:rPr dirty="0" sz="2400" spc="-45" b="1">
                <a:latin typeface="Gill Sans MT"/>
                <a:cs typeface="Gill Sans MT"/>
              </a:rPr>
              <a:t> </a:t>
            </a:r>
            <a:r>
              <a:rPr dirty="0" sz="2400" b="1">
                <a:latin typeface="Gill Sans MT"/>
                <a:cs typeface="Gill Sans MT"/>
              </a:rPr>
              <a:t>el</a:t>
            </a:r>
            <a:r>
              <a:rPr dirty="0" sz="2400" spc="-50" b="1">
                <a:latin typeface="Gill Sans MT"/>
                <a:cs typeface="Gill Sans MT"/>
              </a:rPr>
              <a:t> </a:t>
            </a:r>
            <a:r>
              <a:rPr dirty="0" sz="2400" spc="-20" b="1">
                <a:latin typeface="Gill Sans MT"/>
                <a:cs typeface="Gill Sans MT"/>
              </a:rPr>
              <a:t>dorso</a:t>
            </a:r>
            <a:endParaRPr sz="2400">
              <a:latin typeface="Gill Sans MT"/>
              <a:cs typeface="Gill Sans MT"/>
            </a:endParaRPr>
          </a:p>
          <a:p>
            <a:pPr algn="ctr">
              <a:lnSpc>
                <a:spcPct val="100000"/>
              </a:lnSpc>
              <a:spcBef>
                <a:spcPts val="470"/>
              </a:spcBef>
            </a:pPr>
            <a:r>
              <a:rPr dirty="0" sz="2400" b="1">
                <a:latin typeface="Gill Sans MT"/>
                <a:cs typeface="Gill Sans MT"/>
              </a:rPr>
              <a:t>de</a:t>
            </a:r>
            <a:r>
              <a:rPr dirty="0" sz="2400" spc="-5" b="1">
                <a:latin typeface="Gill Sans MT"/>
                <a:cs typeface="Gill Sans MT"/>
              </a:rPr>
              <a:t> </a:t>
            </a:r>
            <a:r>
              <a:rPr dirty="0" sz="2400" b="1">
                <a:latin typeface="Gill Sans MT"/>
                <a:cs typeface="Gill Sans MT"/>
              </a:rPr>
              <a:t>la</a:t>
            </a:r>
            <a:r>
              <a:rPr dirty="0" sz="2400" spc="-5" b="1">
                <a:latin typeface="Gill Sans MT"/>
                <a:cs typeface="Gill Sans MT"/>
              </a:rPr>
              <a:t> </a:t>
            </a:r>
            <a:r>
              <a:rPr dirty="0" sz="2400" b="1">
                <a:latin typeface="Gill Sans MT"/>
                <a:cs typeface="Gill Sans MT"/>
              </a:rPr>
              <a:t>silla</a:t>
            </a:r>
            <a:r>
              <a:rPr dirty="0" sz="2400" spc="-5" b="1">
                <a:latin typeface="Gill Sans MT"/>
                <a:cs typeface="Gill Sans MT"/>
              </a:rPr>
              <a:t> </a:t>
            </a:r>
            <a:r>
              <a:rPr dirty="0" sz="2400" spc="-10" b="1">
                <a:latin typeface="Gill Sans MT"/>
                <a:cs typeface="Gill Sans MT"/>
              </a:rPr>
              <a:t>turca.</a:t>
            </a:r>
            <a:endParaRPr sz="2400">
              <a:latin typeface="Gill Sans MT"/>
              <a:cs typeface="Gill Sans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2914025" y="6699990"/>
            <a:ext cx="4679950" cy="20402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15999"/>
              </a:lnSpc>
              <a:spcBef>
                <a:spcPts val="95"/>
              </a:spcBef>
            </a:pPr>
            <a:r>
              <a:rPr dirty="0" sz="1900" spc="-35" b="1">
                <a:latin typeface="Gill Sans MT"/>
                <a:cs typeface="Gill Sans MT"/>
              </a:rPr>
              <a:t>Forámenes:</a:t>
            </a:r>
            <a:r>
              <a:rPr dirty="0" sz="1900" spc="-90" b="1">
                <a:latin typeface="Gill Sans MT"/>
                <a:cs typeface="Gill Sans MT"/>
              </a:rPr>
              <a:t> </a:t>
            </a:r>
            <a:r>
              <a:rPr dirty="0" sz="1900" spc="-45" b="1">
                <a:latin typeface="Gill Sans MT"/>
                <a:cs typeface="Gill Sans MT"/>
              </a:rPr>
              <a:t>Conductos</a:t>
            </a:r>
            <a:r>
              <a:rPr dirty="0" sz="1900" spc="-85" b="1">
                <a:latin typeface="Gill Sans MT"/>
                <a:cs typeface="Gill Sans MT"/>
              </a:rPr>
              <a:t> </a:t>
            </a:r>
            <a:r>
              <a:rPr dirty="0" sz="1900" spc="-10" b="1">
                <a:latin typeface="Gill Sans MT"/>
                <a:cs typeface="Gill Sans MT"/>
              </a:rPr>
              <a:t>ópticos,</a:t>
            </a:r>
            <a:r>
              <a:rPr dirty="0" sz="1900" spc="-85" b="1">
                <a:latin typeface="Gill Sans MT"/>
                <a:cs typeface="Gill Sans MT"/>
              </a:rPr>
              <a:t> </a:t>
            </a:r>
            <a:r>
              <a:rPr dirty="0" sz="1900" spc="-40" b="1">
                <a:latin typeface="Gill Sans MT"/>
                <a:cs typeface="Gill Sans MT"/>
              </a:rPr>
              <a:t>Hendidura </a:t>
            </a:r>
            <a:r>
              <a:rPr dirty="0" sz="1900" b="1">
                <a:latin typeface="Gill Sans MT"/>
                <a:cs typeface="Gill Sans MT"/>
              </a:rPr>
              <a:t>Esfenoidal,</a:t>
            </a:r>
            <a:r>
              <a:rPr dirty="0" sz="1900" spc="-70" b="1">
                <a:latin typeface="Gill Sans MT"/>
                <a:cs typeface="Gill Sans MT"/>
              </a:rPr>
              <a:t> </a:t>
            </a:r>
            <a:r>
              <a:rPr dirty="0" sz="1900" spc="-55" b="1">
                <a:latin typeface="Gill Sans MT"/>
                <a:cs typeface="Gill Sans MT"/>
              </a:rPr>
              <a:t>Redondo</a:t>
            </a:r>
            <a:r>
              <a:rPr dirty="0" sz="1900" spc="-65" b="1">
                <a:latin typeface="Gill Sans MT"/>
                <a:cs typeface="Gill Sans MT"/>
              </a:rPr>
              <a:t> </a:t>
            </a:r>
            <a:r>
              <a:rPr dirty="0" sz="1900" spc="-40" b="1">
                <a:latin typeface="Gill Sans MT"/>
                <a:cs typeface="Gill Sans MT"/>
              </a:rPr>
              <a:t>Mayor</a:t>
            </a:r>
            <a:r>
              <a:rPr dirty="0" sz="1900" spc="-70" b="1">
                <a:latin typeface="Gill Sans MT"/>
                <a:cs typeface="Gill Sans MT"/>
              </a:rPr>
              <a:t> </a:t>
            </a:r>
            <a:r>
              <a:rPr dirty="0" sz="1900" b="1">
                <a:latin typeface="Gill Sans MT"/>
                <a:cs typeface="Gill Sans MT"/>
              </a:rPr>
              <a:t>y</a:t>
            </a:r>
            <a:r>
              <a:rPr dirty="0" sz="1900" spc="-65" b="1">
                <a:latin typeface="Gill Sans MT"/>
                <a:cs typeface="Gill Sans MT"/>
              </a:rPr>
              <a:t> </a:t>
            </a:r>
            <a:r>
              <a:rPr dirty="0" sz="1900" spc="-45" b="1">
                <a:latin typeface="Gill Sans MT"/>
                <a:cs typeface="Gill Sans MT"/>
              </a:rPr>
              <a:t>Menor,</a:t>
            </a:r>
            <a:r>
              <a:rPr dirty="0" sz="1900" spc="-65" b="1">
                <a:latin typeface="Gill Sans MT"/>
                <a:cs typeface="Gill Sans MT"/>
              </a:rPr>
              <a:t> </a:t>
            </a:r>
            <a:r>
              <a:rPr dirty="0" sz="1900" spc="-10" b="1">
                <a:latin typeface="Gill Sans MT"/>
                <a:cs typeface="Gill Sans MT"/>
              </a:rPr>
              <a:t>Oval, Orificio</a:t>
            </a:r>
            <a:endParaRPr sz="1900">
              <a:latin typeface="Gill Sans MT"/>
              <a:cs typeface="Gill Sans MT"/>
            </a:endParaRPr>
          </a:p>
          <a:p>
            <a:pPr algn="ctr" marL="18415" marR="10795">
              <a:lnSpc>
                <a:spcPct val="115999"/>
              </a:lnSpc>
            </a:pPr>
            <a:r>
              <a:rPr dirty="0" sz="1900" b="1">
                <a:latin typeface="Gill Sans MT"/>
                <a:cs typeface="Gill Sans MT"/>
              </a:rPr>
              <a:t>Rasgado</a:t>
            </a:r>
            <a:r>
              <a:rPr dirty="0" sz="1900" spc="-65" b="1">
                <a:latin typeface="Gill Sans MT"/>
                <a:cs typeface="Gill Sans MT"/>
              </a:rPr>
              <a:t> </a:t>
            </a:r>
            <a:r>
              <a:rPr dirty="0" sz="1900" spc="-95" b="1">
                <a:latin typeface="Gill Sans MT"/>
                <a:cs typeface="Gill Sans MT"/>
              </a:rPr>
              <a:t>Anterior</a:t>
            </a:r>
            <a:r>
              <a:rPr dirty="0" sz="1900" spc="-55" b="1">
                <a:latin typeface="Gill Sans MT"/>
                <a:cs typeface="Gill Sans MT"/>
              </a:rPr>
              <a:t> </a:t>
            </a:r>
            <a:r>
              <a:rPr dirty="0" sz="1900" b="1">
                <a:latin typeface="Gill Sans MT"/>
                <a:cs typeface="Gill Sans MT"/>
              </a:rPr>
              <a:t>y</a:t>
            </a:r>
            <a:r>
              <a:rPr dirty="0" sz="1900" spc="-60" b="1">
                <a:latin typeface="Gill Sans MT"/>
                <a:cs typeface="Gill Sans MT"/>
              </a:rPr>
              <a:t> </a:t>
            </a:r>
            <a:r>
              <a:rPr dirty="0" sz="1900" spc="-40" b="1">
                <a:latin typeface="Gill Sans MT"/>
                <a:cs typeface="Gill Sans MT"/>
              </a:rPr>
              <a:t>Posterior,</a:t>
            </a:r>
            <a:r>
              <a:rPr dirty="0" sz="1900" spc="-55" b="1">
                <a:latin typeface="Gill Sans MT"/>
                <a:cs typeface="Gill Sans MT"/>
              </a:rPr>
              <a:t> </a:t>
            </a:r>
            <a:r>
              <a:rPr dirty="0" sz="1900" spc="-30" b="1">
                <a:latin typeface="Gill Sans MT"/>
                <a:cs typeface="Gill Sans MT"/>
              </a:rPr>
              <a:t>Surco</a:t>
            </a:r>
            <a:r>
              <a:rPr dirty="0" sz="1900" spc="-60" b="1">
                <a:latin typeface="Gill Sans MT"/>
                <a:cs typeface="Gill Sans MT"/>
              </a:rPr>
              <a:t> </a:t>
            </a:r>
            <a:r>
              <a:rPr dirty="0" sz="1900" b="1">
                <a:latin typeface="Gill Sans MT"/>
                <a:cs typeface="Gill Sans MT"/>
              </a:rPr>
              <a:t>del</a:t>
            </a:r>
            <a:r>
              <a:rPr dirty="0" sz="1900" spc="-60" b="1">
                <a:latin typeface="Gill Sans MT"/>
                <a:cs typeface="Gill Sans MT"/>
              </a:rPr>
              <a:t> </a:t>
            </a:r>
            <a:r>
              <a:rPr dirty="0" sz="1900" spc="-25" b="1">
                <a:latin typeface="Gill Sans MT"/>
                <a:cs typeface="Gill Sans MT"/>
              </a:rPr>
              <a:t>N. </a:t>
            </a:r>
            <a:r>
              <a:rPr dirty="0" sz="1900" spc="-10" b="1">
                <a:latin typeface="Gill Sans MT"/>
                <a:cs typeface="Gill Sans MT"/>
              </a:rPr>
              <a:t>Petroso</a:t>
            </a:r>
            <a:endParaRPr sz="1900">
              <a:latin typeface="Gill Sans MT"/>
              <a:cs typeface="Gill Sans MT"/>
            </a:endParaRPr>
          </a:p>
          <a:p>
            <a:pPr algn="ctr">
              <a:lnSpc>
                <a:spcPct val="100000"/>
              </a:lnSpc>
              <a:spcBef>
                <a:spcPts val="365"/>
              </a:spcBef>
            </a:pPr>
            <a:r>
              <a:rPr dirty="0" sz="1900" spc="-40" b="1">
                <a:latin typeface="Gill Sans MT"/>
                <a:cs typeface="Gill Sans MT"/>
              </a:rPr>
              <a:t>Mayor</a:t>
            </a:r>
            <a:r>
              <a:rPr dirty="0" sz="1900" spc="-45" b="1">
                <a:latin typeface="Gill Sans MT"/>
                <a:cs typeface="Gill Sans MT"/>
              </a:rPr>
              <a:t> </a:t>
            </a:r>
            <a:r>
              <a:rPr dirty="0" sz="1900" b="1">
                <a:latin typeface="Gill Sans MT"/>
                <a:cs typeface="Gill Sans MT"/>
              </a:rPr>
              <a:t>y</a:t>
            </a:r>
            <a:r>
              <a:rPr dirty="0" sz="1900" spc="-45" b="1">
                <a:latin typeface="Gill Sans MT"/>
                <a:cs typeface="Gill Sans MT"/>
              </a:rPr>
              <a:t> </a:t>
            </a:r>
            <a:r>
              <a:rPr dirty="0" sz="1900" spc="-80" b="1">
                <a:latin typeface="Gill Sans MT"/>
                <a:cs typeface="Gill Sans MT"/>
              </a:rPr>
              <a:t>Conducto</a:t>
            </a:r>
            <a:r>
              <a:rPr dirty="0" sz="1900" spc="-40" b="1">
                <a:latin typeface="Gill Sans MT"/>
                <a:cs typeface="Gill Sans MT"/>
              </a:rPr>
              <a:t> </a:t>
            </a:r>
            <a:r>
              <a:rPr dirty="0" sz="1900" spc="-10" b="1">
                <a:latin typeface="Gill Sans MT"/>
                <a:cs typeface="Gill Sans MT"/>
              </a:rPr>
              <a:t>Carotídeo.</a:t>
            </a:r>
            <a:endParaRPr sz="19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7840" y="724221"/>
            <a:ext cx="14125574" cy="85343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8565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600">
                <a:solidFill>
                  <a:srgbClr val="664A9E"/>
                </a:solidFill>
                <a:latin typeface="Bungee Inline"/>
                <a:cs typeface="Bungee Inline"/>
              </a:rPr>
              <a:t>fosa craneal </a:t>
            </a:r>
            <a:r>
              <a:rPr dirty="0" sz="4600" spc="-10">
                <a:solidFill>
                  <a:srgbClr val="664A9E"/>
                </a:solidFill>
                <a:latin typeface="Bungee Inline"/>
                <a:cs typeface="Bungee Inline"/>
              </a:rPr>
              <a:t>posterior</a:t>
            </a:r>
            <a:endParaRPr sz="4600">
              <a:latin typeface="Bungee Inline"/>
              <a:cs typeface="Bungee Inline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39561" y="11"/>
            <a:ext cx="1447799" cy="1447799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0" y="4199453"/>
            <a:ext cx="18288000" cy="6087745"/>
            <a:chOff x="0" y="4199453"/>
            <a:chExt cx="18288000" cy="6087745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15488" y="4199453"/>
              <a:ext cx="12658724" cy="580072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7647502"/>
              <a:ext cx="5584820" cy="2639496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9745" y="7647502"/>
              <a:ext cx="5838824" cy="2639496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99188" y="7647502"/>
              <a:ext cx="5838824" cy="2639496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960447" y="7647502"/>
              <a:ext cx="4327552" cy="2639496"/>
            </a:xfrm>
            <a:prstGeom prst="rect">
              <a:avLst/>
            </a:prstGeom>
          </p:spPr>
        </p:pic>
      </p:grpSp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35874" y="1661850"/>
            <a:ext cx="9086849" cy="227647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"/>
            <a:ext cx="14119219" cy="956309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95571" y="2049278"/>
            <a:ext cx="5368290" cy="145669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85750" marR="5080" indent="-273685">
              <a:lnSpc>
                <a:spcPct val="114500"/>
              </a:lnSpc>
              <a:spcBef>
                <a:spcPts val="100"/>
              </a:spcBef>
            </a:pPr>
            <a:r>
              <a:rPr dirty="0" sz="4100" spc="-10">
                <a:solidFill>
                  <a:srgbClr val="000000"/>
                </a:solidFill>
              </a:rPr>
              <a:t>agujeros</a:t>
            </a:r>
            <a:r>
              <a:rPr dirty="0" sz="4100" spc="-110">
                <a:solidFill>
                  <a:srgbClr val="000000"/>
                </a:solidFill>
              </a:rPr>
              <a:t> </a:t>
            </a:r>
            <a:r>
              <a:rPr dirty="0" sz="4100">
                <a:solidFill>
                  <a:srgbClr val="000000"/>
                </a:solidFill>
              </a:rPr>
              <a:t>de</a:t>
            </a:r>
            <a:r>
              <a:rPr dirty="0" sz="4100" spc="-110">
                <a:solidFill>
                  <a:srgbClr val="000000"/>
                </a:solidFill>
              </a:rPr>
              <a:t> </a:t>
            </a:r>
            <a:r>
              <a:rPr dirty="0" sz="4100" spc="-20">
                <a:solidFill>
                  <a:srgbClr val="000000"/>
                </a:solidFill>
              </a:rPr>
              <a:t>base </a:t>
            </a:r>
            <a:r>
              <a:rPr dirty="0" sz="4100">
                <a:solidFill>
                  <a:srgbClr val="000000"/>
                </a:solidFill>
              </a:rPr>
              <a:t>(fosa</a:t>
            </a:r>
            <a:r>
              <a:rPr dirty="0" sz="4100" spc="-135">
                <a:solidFill>
                  <a:srgbClr val="000000"/>
                </a:solidFill>
              </a:rPr>
              <a:t> </a:t>
            </a:r>
            <a:r>
              <a:rPr dirty="0" sz="4100" spc="-10">
                <a:solidFill>
                  <a:srgbClr val="000000"/>
                </a:solidFill>
              </a:rPr>
              <a:t>anterior)</a:t>
            </a:r>
            <a:endParaRPr sz="4100"/>
          </a:p>
        </p:txBody>
      </p:sp>
      <p:sp>
        <p:nvSpPr>
          <p:cNvPr id="3" name="object 3" descr=""/>
          <p:cNvSpPr txBox="1"/>
          <p:nvPr/>
        </p:nvSpPr>
        <p:spPr>
          <a:xfrm>
            <a:off x="704849" y="810910"/>
            <a:ext cx="3736340" cy="3262629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algn="ctr" marL="676910">
              <a:lnSpc>
                <a:spcPct val="100000"/>
              </a:lnSpc>
              <a:spcBef>
                <a:spcPts val="190"/>
              </a:spcBef>
            </a:pPr>
            <a:r>
              <a:rPr dirty="0" sz="2800" spc="-10">
                <a:solidFill>
                  <a:srgbClr val="FFFFFF"/>
                </a:solidFill>
                <a:latin typeface="Lucida Sans"/>
                <a:cs typeface="Lucida Sans"/>
              </a:rPr>
              <a:t>Foramen</a:t>
            </a:r>
            <a:endParaRPr sz="28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2425"/>
              </a:spcBef>
            </a:pPr>
            <a:r>
              <a:rPr dirty="0" sz="2400" spc="-170">
                <a:solidFill>
                  <a:srgbClr val="FFFFFF"/>
                </a:solidFill>
                <a:latin typeface="Lucida Sans"/>
                <a:cs typeface="Lucida Sans"/>
              </a:rPr>
              <a:t>Agujero</a:t>
            </a:r>
            <a:r>
              <a:rPr dirty="0" sz="2400" spc="-28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Lucida Sans"/>
                <a:cs typeface="Lucida Sans"/>
              </a:rPr>
              <a:t>Ciego</a:t>
            </a:r>
            <a:endParaRPr sz="24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25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r>
              <a:rPr dirty="0" sz="2400" spc="-120">
                <a:solidFill>
                  <a:srgbClr val="FFFFFF"/>
                </a:solidFill>
                <a:latin typeface="Lucida Sans"/>
                <a:cs typeface="Lucida Sans"/>
              </a:rPr>
              <a:t>Foramen</a:t>
            </a:r>
            <a:r>
              <a:rPr dirty="0" sz="2400" spc="-31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400" spc="-140">
                <a:solidFill>
                  <a:srgbClr val="FFFFFF"/>
                </a:solidFill>
                <a:latin typeface="Lucida Sans"/>
                <a:cs typeface="Lucida Sans"/>
              </a:rPr>
              <a:t>Etomidal</a:t>
            </a:r>
            <a:r>
              <a:rPr dirty="0" sz="2400" spc="-31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Lucida Sans"/>
                <a:cs typeface="Lucida Sans"/>
              </a:rPr>
              <a:t>Anterior</a:t>
            </a:r>
            <a:endParaRPr sz="2400">
              <a:latin typeface="Lucida Sans"/>
              <a:cs typeface="Lucida Sans"/>
            </a:endParaRPr>
          </a:p>
          <a:p>
            <a:pPr>
              <a:lnSpc>
                <a:spcPct val="167900"/>
              </a:lnSpc>
              <a:spcBef>
                <a:spcPts val="1050"/>
              </a:spcBef>
            </a:pPr>
            <a:r>
              <a:rPr dirty="0" sz="2400" spc="-120">
                <a:solidFill>
                  <a:srgbClr val="FFFFFF"/>
                </a:solidFill>
                <a:latin typeface="Lucida Sans"/>
                <a:cs typeface="Lucida Sans"/>
              </a:rPr>
              <a:t>Foramen</a:t>
            </a:r>
            <a:r>
              <a:rPr dirty="0" sz="2400" spc="-31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400" spc="-140">
                <a:solidFill>
                  <a:srgbClr val="FFFFFF"/>
                </a:solidFill>
                <a:latin typeface="Lucida Sans"/>
                <a:cs typeface="Lucida Sans"/>
              </a:rPr>
              <a:t>Etomidal</a:t>
            </a:r>
            <a:r>
              <a:rPr dirty="0" sz="2400" spc="-31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400" spc="-35">
                <a:solidFill>
                  <a:srgbClr val="FFFFFF"/>
                </a:solidFill>
                <a:latin typeface="Lucida Sans"/>
                <a:cs typeface="Lucida Sans"/>
              </a:rPr>
              <a:t>Posterior </a:t>
            </a:r>
            <a:r>
              <a:rPr dirty="0" sz="2400" spc="-160">
                <a:solidFill>
                  <a:srgbClr val="FFFFFF"/>
                </a:solidFill>
                <a:latin typeface="Lucida Sans"/>
                <a:cs typeface="Lucida Sans"/>
              </a:rPr>
              <a:t>Orificios</a:t>
            </a:r>
            <a:r>
              <a:rPr dirty="0" sz="2400" spc="-295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400" spc="-80">
                <a:solidFill>
                  <a:srgbClr val="FFFFFF"/>
                </a:solidFill>
                <a:latin typeface="Lucida Sans"/>
                <a:cs typeface="Lucida Sans"/>
              </a:rPr>
              <a:t>de</a:t>
            </a:r>
            <a:r>
              <a:rPr dirty="0" sz="2400" spc="-29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400" spc="-105">
                <a:solidFill>
                  <a:srgbClr val="FFFFFF"/>
                </a:solidFill>
                <a:latin typeface="Lucida Sans"/>
                <a:cs typeface="Lucida Sans"/>
              </a:rPr>
              <a:t>la</a:t>
            </a:r>
            <a:r>
              <a:rPr dirty="0" sz="2400" spc="-29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400" spc="-130">
                <a:solidFill>
                  <a:srgbClr val="FFFFFF"/>
                </a:solidFill>
                <a:latin typeface="Lucida Sans"/>
                <a:cs typeface="Lucida Sans"/>
              </a:rPr>
              <a:t>lamina</a:t>
            </a:r>
            <a:r>
              <a:rPr dirty="0" sz="2400" spc="-29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400" spc="-110">
                <a:solidFill>
                  <a:srgbClr val="FFFFFF"/>
                </a:solidFill>
                <a:latin typeface="Lucida Sans"/>
                <a:cs typeface="Lucida Sans"/>
              </a:rPr>
              <a:t>cribosa</a:t>
            </a:r>
            <a:endParaRPr sz="2400">
              <a:latin typeface="Lucida Sans"/>
              <a:cs typeface="Lucida San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127456" y="810910"/>
            <a:ext cx="4695825" cy="3262629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844039">
              <a:lnSpc>
                <a:spcPct val="100000"/>
              </a:lnSpc>
              <a:spcBef>
                <a:spcPts val="190"/>
              </a:spcBef>
            </a:pPr>
            <a:r>
              <a:rPr dirty="0" sz="2800" spc="-65">
                <a:solidFill>
                  <a:srgbClr val="FFFFFF"/>
                </a:solidFill>
                <a:latin typeface="Lucida Sans"/>
                <a:cs typeface="Lucida Sans"/>
              </a:rPr>
              <a:t>Contenido</a:t>
            </a:r>
            <a:endParaRPr sz="2800">
              <a:latin typeface="Lucida Sans"/>
              <a:cs typeface="Lucida Sans"/>
            </a:endParaRPr>
          </a:p>
          <a:p>
            <a:pPr>
              <a:lnSpc>
                <a:spcPts val="5890"/>
              </a:lnSpc>
              <a:spcBef>
                <a:spcPts val="110"/>
              </a:spcBef>
            </a:pPr>
            <a:r>
              <a:rPr dirty="0" sz="2400" spc="-125">
                <a:solidFill>
                  <a:srgbClr val="FFFFFF"/>
                </a:solidFill>
                <a:latin typeface="Lucida Sans"/>
                <a:cs typeface="Lucida Sans"/>
              </a:rPr>
              <a:t>Vena</a:t>
            </a:r>
            <a:r>
              <a:rPr dirty="0" sz="2400" spc="-30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400" spc="-80">
                <a:solidFill>
                  <a:srgbClr val="FFFFFF"/>
                </a:solidFill>
                <a:latin typeface="Lucida Sans"/>
                <a:cs typeface="Lucida Sans"/>
              </a:rPr>
              <a:t>de</a:t>
            </a:r>
            <a:r>
              <a:rPr dirty="0" sz="2400" spc="-30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400" spc="-125">
                <a:solidFill>
                  <a:srgbClr val="FFFFFF"/>
                </a:solidFill>
                <a:latin typeface="Lucida Sans"/>
                <a:cs typeface="Lucida Sans"/>
              </a:rPr>
              <a:t>drenaje</a:t>
            </a:r>
            <a:r>
              <a:rPr dirty="0" sz="2400" spc="-30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400" spc="-80">
                <a:solidFill>
                  <a:srgbClr val="FFFFFF"/>
                </a:solidFill>
                <a:latin typeface="Lucida Sans"/>
                <a:cs typeface="Lucida Sans"/>
              </a:rPr>
              <a:t>de</a:t>
            </a:r>
            <a:r>
              <a:rPr dirty="0" sz="2400" spc="-295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400" spc="-105">
                <a:solidFill>
                  <a:srgbClr val="FFFFFF"/>
                </a:solidFill>
                <a:latin typeface="Lucida Sans"/>
                <a:cs typeface="Lucida Sans"/>
              </a:rPr>
              <a:t>la</a:t>
            </a:r>
            <a:r>
              <a:rPr dirty="0" sz="2400" spc="-30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400" spc="-135">
                <a:solidFill>
                  <a:srgbClr val="FFFFFF"/>
                </a:solidFill>
                <a:latin typeface="Lucida Sans"/>
                <a:cs typeface="Lucida Sans"/>
              </a:rPr>
              <a:t>mucosa</a:t>
            </a:r>
            <a:r>
              <a:rPr dirty="0" sz="2400" spc="-30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400" spc="-70">
                <a:solidFill>
                  <a:srgbClr val="FFFFFF"/>
                </a:solidFill>
                <a:latin typeface="Lucida Sans"/>
                <a:cs typeface="Lucida Sans"/>
              </a:rPr>
              <a:t>nasal </a:t>
            </a:r>
            <a:r>
              <a:rPr dirty="0" sz="2400" spc="-155">
                <a:solidFill>
                  <a:srgbClr val="FFFFFF"/>
                </a:solidFill>
                <a:latin typeface="Lucida Sans"/>
                <a:cs typeface="Lucida Sans"/>
              </a:rPr>
              <a:t>Vasos</a:t>
            </a:r>
            <a:r>
              <a:rPr dirty="0" sz="2400" spc="-30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400" spc="-60">
                <a:solidFill>
                  <a:srgbClr val="FFFFFF"/>
                </a:solidFill>
                <a:latin typeface="Lucida Sans"/>
                <a:cs typeface="Lucida Sans"/>
              </a:rPr>
              <a:t>y</a:t>
            </a:r>
            <a:r>
              <a:rPr dirty="0" sz="2400" spc="-295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400" spc="-125">
                <a:solidFill>
                  <a:srgbClr val="FFFFFF"/>
                </a:solidFill>
                <a:latin typeface="Lucida Sans"/>
                <a:cs typeface="Lucida Sans"/>
              </a:rPr>
              <a:t>nervio</a:t>
            </a:r>
            <a:r>
              <a:rPr dirty="0" sz="2400" spc="-30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400" spc="-135">
                <a:solidFill>
                  <a:srgbClr val="FFFFFF"/>
                </a:solidFill>
                <a:latin typeface="Lucida Sans"/>
                <a:cs typeface="Lucida Sans"/>
              </a:rPr>
              <a:t>etmoidal</a:t>
            </a:r>
            <a:r>
              <a:rPr dirty="0" sz="2400" spc="-295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Lucida Sans"/>
                <a:cs typeface="Lucida Sans"/>
              </a:rPr>
              <a:t>anterior</a:t>
            </a:r>
            <a:endParaRPr sz="2400">
              <a:latin typeface="Lucida Sans"/>
              <a:cs typeface="Lucida Sans"/>
            </a:endParaRPr>
          </a:p>
          <a:p>
            <a:pPr marR="321945">
              <a:lnSpc>
                <a:spcPct val="167900"/>
              </a:lnSpc>
              <a:spcBef>
                <a:spcPts val="350"/>
              </a:spcBef>
            </a:pPr>
            <a:r>
              <a:rPr dirty="0" sz="2400" spc="-155">
                <a:solidFill>
                  <a:srgbClr val="FFFFFF"/>
                </a:solidFill>
                <a:latin typeface="Lucida Sans"/>
                <a:cs typeface="Lucida Sans"/>
              </a:rPr>
              <a:t>Vasos</a:t>
            </a:r>
            <a:r>
              <a:rPr dirty="0" sz="2400" spc="-30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400" spc="-60">
                <a:solidFill>
                  <a:srgbClr val="FFFFFF"/>
                </a:solidFill>
                <a:latin typeface="Lucida Sans"/>
                <a:cs typeface="Lucida Sans"/>
              </a:rPr>
              <a:t>y</a:t>
            </a:r>
            <a:r>
              <a:rPr dirty="0" sz="2400" spc="-295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400" spc="-125">
                <a:solidFill>
                  <a:srgbClr val="FFFFFF"/>
                </a:solidFill>
                <a:latin typeface="Lucida Sans"/>
                <a:cs typeface="Lucida Sans"/>
              </a:rPr>
              <a:t>nervio</a:t>
            </a:r>
            <a:r>
              <a:rPr dirty="0" sz="2400" spc="-30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400" spc="-135">
                <a:solidFill>
                  <a:srgbClr val="FFFFFF"/>
                </a:solidFill>
                <a:latin typeface="Lucida Sans"/>
                <a:cs typeface="Lucida Sans"/>
              </a:rPr>
              <a:t>etmoidal</a:t>
            </a:r>
            <a:r>
              <a:rPr dirty="0" sz="2400" spc="-295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400" spc="-105">
                <a:solidFill>
                  <a:srgbClr val="FFFFFF"/>
                </a:solidFill>
                <a:latin typeface="Lucida Sans"/>
                <a:cs typeface="Lucida Sans"/>
              </a:rPr>
              <a:t>posterior </a:t>
            </a:r>
            <a:r>
              <a:rPr dirty="0" sz="2400" spc="-125">
                <a:solidFill>
                  <a:srgbClr val="FFFFFF"/>
                </a:solidFill>
                <a:latin typeface="Lucida Sans"/>
                <a:cs typeface="Lucida Sans"/>
              </a:rPr>
              <a:t>Haces</a:t>
            </a:r>
            <a:r>
              <a:rPr dirty="0" sz="2400" spc="-295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400" spc="-120">
                <a:solidFill>
                  <a:srgbClr val="FFFFFF"/>
                </a:solidFill>
                <a:latin typeface="Lucida Sans"/>
                <a:cs typeface="Lucida Sans"/>
              </a:rPr>
              <a:t>del</a:t>
            </a:r>
            <a:r>
              <a:rPr dirty="0" sz="2400" spc="-295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400" spc="-125">
                <a:solidFill>
                  <a:srgbClr val="FFFFFF"/>
                </a:solidFill>
                <a:latin typeface="Lucida Sans"/>
                <a:cs typeface="Lucida Sans"/>
              </a:rPr>
              <a:t>nervio</a:t>
            </a:r>
            <a:r>
              <a:rPr dirty="0" sz="2400" spc="-295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Lucida Sans"/>
                <a:cs typeface="Lucida Sans"/>
              </a:rPr>
              <a:t>olfatorio</a:t>
            </a:r>
            <a:endParaRPr sz="2400">
              <a:latin typeface="Lucida Sans"/>
              <a:cs typeface="Lucida Sans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695324" y="733758"/>
          <a:ext cx="9730105" cy="3368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2775"/>
                <a:gridCol w="5298440"/>
              </a:tblGrid>
              <a:tr h="649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747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747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747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4768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1808263" y="6186164"/>
            <a:ext cx="5368290" cy="14566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15975" marR="5080" indent="-803910">
              <a:lnSpc>
                <a:spcPct val="114500"/>
              </a:lnSpc>
              <a:spcBef>
                <a:spcPts val="100"/>
              </a:spcBef>
            </a:pPr>
            <a:r>
              <a:rPr dirty="0" sz="4100" spc="-10">
                <a:latin typeface="Bungee"/>
                <a:cs typeface="Bungee"/>
              </a:rPr>
              <a:t>agujeros</a:t>
            </a:r>
            <a:r>
              <a:rPr dirty="0" sz="4100" spc="-110">
                <a:latin typeface="Bungee"/>
                <a:cs typeface="Bungee"/>
              </a:rPr>
              <a:t> </a:t>
            </a:r>
            <a:r>
              <a:rPr dirty="0" sz="4100">
                <a:latin typeface="Bungee"/>
                <a:cs typeface="Bungee"/>
              </a:rPr>
              <a:t>de</a:t>
            </a:r>
            <a:r>
              <a:rPr dirty="0" sz="4100" spc="-110">
                <a:latin typeface="Bungee"/>
                <a:cs typeface="Bungee"/>
              </a:rPr>
              <a:t> </a:t>
            </a:r>
            <a:r>
              <a:rPr dirty="0" sz="4100" spc="-20">
                <a:latin typeface="Bungee"/>
                <a:cs typeface="Bungee"/>
              </a:rPr>
              <a:t>base </a:t>
            </a:r>
            <a:r>
              <a:rPr dirty="0" sz="4100">
                <a:latin typeface="Bungee"/>
                <a:cs typeface="Bungee"/>
              </a:rPr>
              <a:t>(fosa</a:t>
            </a:r>
            <a:r>
              <a:rPr dirty="0" sz="4100" spc="-135">
                <a:latin typeface="Bungee"/>
                <a:cs typeface="Bungee"/>
              </a:rPr>
              <a:t> </a:t>
            </a:r>
            <a:r>
              <a:rPr dirty="0" sz="4100" spc="-10">
                <a:latin typeface="Bungee"/>
                <a:cs typeface="Bungee"/>
              </a:rPr>
              <a:t>media)</a:t>
            </a:r>
            <a:endParaRPr sz="4100">
              <a:latin typeface="Bungee"/>
              <a:cs typeface="Bungee"/>
            </a:endParaRP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8474709" y="4542876"/>
          <a:ext cx="8784590" cy="4875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6075"/>
                <a:gridCol w="5888990"/>
              </a:tblGrid>
              <a:tr h="552450"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800" spc="-1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Foramen</a:t>
                      </a:r>
                      <a:endParaRPr sz="2800">
                        <a:latin typeface="Lucida Sans"/>
                        <a:cs typeface="Lucida Sans"/>
                      </a:endParaRPr>
                    </a:p>
                  </a:txBody>
                  <a:tcPr marL="0" marR="0" marB="0" marT="5397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800" spc="-6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Contenido</a:t>
                      </a:r>
                      <a:endParaRPr sz="2800">
                        <a:latin typeface="Lucida Sans"/>
                        <a:cs typeface="Lucida Sans"/>
                      </a:endParaRPr>
                    </a:p>
                  </a:txBody>
                  <a:tcPr marL="0" marR="0" marB="0" marT="5397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518795"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2000" spc="-14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Agujero</a:t>
                      </a:r>
                      <a:r>
                        <a:rPr dirty="0" sz="2000" spc="-22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1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Óptico</a:t>
                      </a:r>
                      <a:endParaRPr sz="2000">
                        <a:latin typeface="Lucida Sans"/>
                        <a:cs typeface="Lucida Sans"/>
                      </a:endParaRPr>
                    </a:p>
                  </a:txBody>
                  <a:tcPr marL="0" marR="0" marB="0" marT="9334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2000" spc="-8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N.</a:t>
                      </a:r>
                      <a:r>
                        <a:rPr dirty="0" sz="2000" spc="-254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12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Óptico</a:t>
                      </a:r>
                      <a:r>
                        <a:rPr dirty="0" sz="2000" spc="-25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5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y</a:t>
                      </a:r>
                      <a:r>
                        <a:rPr dirty="0" sz="2000" spc="-25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16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A.</a:t>
                      </a:r>
                      <a:r>
                        <a:rPr dirty="0" sz="2000" spc="-25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1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Oftálmica</a:t>
                      </a:r>
                      <a:endParaRPr sz="2000">
                        <a:latin typeface="Lucida Sans"/>
                        <a:cs typeface="Lucida Sans"/>
                      </a:endParaRPr>
                    </a:p>
                  </a:txBody>
                  <a:tcPr marL="0" marR="0" marB="0" marT="9334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518795"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2000" spc="-11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Hendidura</a:t>
                      </a:r>
                      <a:r>
                        <a:rPr dirty="0" sz="2000" spc="-23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2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esfenoidal</a:t>
                      </a:r>
                      <a:endParaRPr sz="2000">
                        <a:latin typeface="Lucida Sans"/>
                        <a:cs typeface="Lucida Sans"/>
                      </a:endParaRPr>
                    </a:p>
                  </a:txBody>
                  <a:tcPr marL="0" marR="0" marB="0" marT="9334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2000" spc="-15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V.</a:t>
                      </a:r>
                      <a:r>
                        <a:rPr dirty="0" sz="2000" spc="-254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5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y</a:t>
                      </a:r>
                      <a:r>
                        <a:rPr dirty="0" sz="2000" spc="-25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8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N.</a:t>
                      </a:r>
                      <a:r>
                        <a:rPr dirty="0" sz="2000" spc="-254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13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Oftálmico,</a:t>
                      </a:r>
                      <a:r>
                        <a:rPr dirty="0" sz="2000" spc="-25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6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PC</a:t>
                      </a:r>
                      <a:r>
                        <a:rPr dirty="0" sz="2000" spc="-25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12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III,</a:t>
                      </a:r>
                      <a:r>
                        <a:rPr dirty="0" sz="2000" spc="-254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12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IV</a:t>
                      </a:r>
                      <a:r>
                        <a:rPr dirty="0" sz="2000" spc="-25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5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y</a:t>
                      </a:r>
                      <a:r>
                        <a:rPr dirty="0" sz="2000" spc="-25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15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VI,</a:t>
                      </a:r>
                      <a:r>
                        <a:rPr dirty="0" sz="2000" spc="-254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114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Fibras</a:t>
                      </a:r>
                      <a:r>
                        <a:rPr dirty="0" sz="2000" spc="-25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1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simpaticas</a:t>
                      </a:r>
                      <a:endParaRPr sz="2000">
                        <a:latin typeface="Lucida Sans"/>
                        <a:cs typeface="Lucida Sans"/>
                      </a:endParaRPr>
                    </a:p>
                  </a:txBody>
                  <a:tcPr marL="0" marR="0" marB="0" marT="9334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518795"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2000" spc="-12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Orificio</a:t>
                      </a:r>
                      <a:r>
                        <a:rPr dirty="0" sz="2000" spc="-22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10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Redondo</a:t>
                      </a:r>
                      <a:r>
                        <a:rPr dirty="0" sz="2000" spc="-22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2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Mayor</a:t>
                      </a:r>
                      <a:endParaRPr sz="2000">
                        <a:latin typeface="Lucida Sans"/>
                        <a:cs typeface="Lucida Sans"/>
                      </a:endParaRPr>
                    </a:p>
                  </a:txBody>
                  <a:tcPr marL="0" marR="0" marB="0" marT="9334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2000" spc="-9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N.</a:t>
                      </a:r>
                      <a:r>
                        <a:rPr dirty="0" sz="2000" spc="-28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1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Maxilar</a:t>
                      </a:r>
                      <a:endParaRPr sz="2000">
                        <a:latin typeface="Lucida Sans"/>
                        <a:cs typeface="Lucida Sans"/>
                      </a:endParaRPr>
                    </a:p>
                  </a:txBody>
                  <a:tcPr marL="0" marR="0" marB="0" marT="9334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518795"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2000" spc="-12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Orificio</a:t>
                      </a:r>
                      <a:r>
                        <a:rPr dirty="0" sz="2000" spc="-23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2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Oval</a:t>
                      </a:r>
                      <a:endParaRPr sz="2000">
                        <a:latin typeface="Lucida Sans"/>
                        <a:cs typeface="Lucida Sans"/>
                      </a:endParaRPr>
                    </a:p>
                  </a:txBody>
                  <a:tcPr marL="0" marR="0" marB="0" marT="9334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2000" spc="-9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N.</a:t>
                      </a:r>
                      <a:r>
                        <a:rPr dirty="0" sz="2000" spc="-28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13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Mandibular,</a:t>
                      </a:r>
                      <a:r>
                        <a:rPr dirty="0" sz="2000" spc="-28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17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A.</a:t>
                      </a:r>
                      <a:r>
                        <a:rPr dirty="0" sz="2000" spc="-28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12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Meníngea</a:t>
                      </a:r>
                      <a:r>
                        <a:rPr dirty="0" sz="2000" spc="-28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2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Acc.</a:t>
                      </a:r>
                      <a:endParaRPr sz="2000">
                        <a:latin typeface="Lucida Sans"/>
                        <a:cs typeface="Lucida Sans"/>
                      </a:endParaRPr>
                    </a:p>
                  </a:txBody>
                  <a:tcPr marL="0" marR="0" marB="0" marT="9334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518795"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2000" spc="-14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Agujero</a:t>
                      </a:r>
                      <a:r>
                        <a:rPr dirty="0" sz="2000" spc="-21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10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Redondo</a:t>
                      </a:r>
                      <a:r>
                        <a:rPr dirty="0" sz="2000" spc="-21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2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Menor</a:t>
                      </a:r>
                      <a:endParaRPr sz="2000">
                        <a:latin typeface="Lucida Sans"/>
                        <a:cs typeface="Lucida Sans"/>
                      </a:endParaRPr>
                    </a:p>
                  </a:txBody>
                  <a:tcPr marL="0" marR="0" marB="0" marT="9334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2000" spc="-16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A.</a:t>
                      </a:r>
                      <a:r>
                        <a:rPr dirty="0" sz="2000" spc="-24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5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y</a:t>
                      </a:r>
                      <a:r>
                        <a:rPr dirty="0" sz="2000" spc="-24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15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V.</a:t>
                      </a:r>
                      <a:r>
                        <a:rPr dirty="0" sz="2000" spc="-24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10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Meníngea</a:t>
                      </a:r>
                      <a:r>
                        <a:rPr dirty="0" sz="2000" spc="-24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10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Media,</a:t>
                      </a:r>
                      <a:r>
                        <a:rPr dirty="0" sz="2000" spc="-24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9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Ramo</a:t>
                      </a:r>
                      <a:r>
                        <a:rPr dirty="0" sz="2000" spc="-24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12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meníngeo</a:t>
                      </a:r>
                      <a:r>
                        <a:rPr dirty="0" sz="2000" spc="-24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10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del</a:t>
                      </a:r>
                      <a:r>
                        <a:rPr dirty="0" sz="2000" spc="-24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2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PC.</a:t>
                      </a:r>
                      <a:endParaRPr sz="2000">
                        <a:latin typeface="Lucida Sans"/>
                        <a:cs typeface="Lucida Sans"/>
                      </a:endParaRPr>
                    </a:p>
                  </a:txBody>
                  <a:tcPr marL="0" marR="0" marB="0" marT="9334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518795"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2000" spc="-12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Orificio</a:t>
                      </a:r>
                      <a:r>
                        <a:rPr dirty="0" sz="2000" spc="-22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12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Rasgado</a:t>
                      </a:r>
                      <a:r>
                        <a:rPr dirty="0" sz="2000" spc="-22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1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Anterior</a:t>
                      </a:r>
                      <a:endParaRPr sz="2000">
                        <a:latin typeface="Lucida Sans"/>
                        <a:cs typeface="Lucida Sans"/>
                      </a:endParaRPr>
                    </a:p>
                  </a:txBody>
                  <a:tcPr marL="0" marR="0" marB="0" marT="9334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2000" spc="-4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Se</a:t>
                      </a:r>
                      <a:r>
                        <a:rPr dirty="0" sz="2000" spc="-24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10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cierra</a:t>
                      </a:r>
                      <a:r>
                        <a:rPr dirty="0" sz="2000" spc="-24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6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en</a:t>
                      </a:r>
                      <a:r>
                        <a:rPr dirty="0" sz="2000" spc="-24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10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vida</a:t>
                      </a:r>
                      <a:r>
                        <a:rPr dirty="0" sz="2000" spc="-24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5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y</a:t>
                      </a:r>
                      <a:r>
                        <a:rPr dirty="0" sz="2000" spc="-24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11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las</a:t>
                      </a:r>
                      <a:r>
                        <a:rPr dirty="0" sz="2000" spc="-24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114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estructuras</a:t>
                      </a:r>
                      <a:r>
                        <a:rPr dirty="0" sz="2000" spc="-24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10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pasan</a:t>
                      </a:r>
                      <a:r>
                        <a:rPr dirty="0" sz="2000" spc="-24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8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por</a:t>
                      </a:r>
                      <a:r>
                        <a:rPr dirty="0" sz="2000" spc="-24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1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arriba</a:t>
                      </a:r>
                      <a:endParaRPr sz="2000">
                        <a:latin typeface="Lucida Sans"/>
                        <a:cs typeface="Lucida Sans"/>
                      </a:endParaRPr>
                    </a:p>
                  </a:txBody>
                  <a:tcPr marL="0" marR="0" marB="0" marT="9334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691515">
                <a:tc>
                  <a:txBody>
                    <a:bodyPr/>
                    <a:lstStyle/>
                    <a:p>
                      <a:pPr marL="4445" marR="694055">
                        <a:lnSpc>
                          <a:spcPts val="2320"/>
                        </a:lnSpc>
                        <a:spcBef>
                          <a:spcPts val="430"/>
                        </a:spcBef>
                      </a:pPr>
                      <a:r>
                        <a:rPr dirty="0" sz="2000" spc="-10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Hiato</a:t>
                      </a:r>
                      <a:r>
                        <a:rPr dirty="0" sz="2000" spc="-25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10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del</a:t>
                      </a:r>
                      <a:r>
                        <a:rPr dirty="0" sz="2000" spc="-25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8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N.</a:t>
                      </a:r>
                      <a:r>
                        <a:rPr dirty="0" sz="2000" spc="-24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8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Petroso </a:t>
                      </a:r>
                      <a:r>
                        <a:rPr dirty="0" sz="2000" spc="-1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Mayor</a:t>
                      </a:r>
                      <a:endParaRPr sz="2000">
                        <a:latin typeface="Lucida Sans"/>
                        <a:cs typeface="Lucida Sans"/>
                      </a:endParaRPr>
                    </a:p>
                  </a:txBody>
                  <a:tcPr marL="0" marR="0" marB="0" marT="5461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4445" marR="459740">
                        <a:lnSpc>
                          <a:spcPts val="2320"/>
                        </a:lnSpc>
                        <a:spcBef>
                          <a:spcPts val="430"/>
                        </a:spcBef>
                      </a:pPr>
                      <a:r>
                        <a:rPr dirty="0" sz="2000" spc="-9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N.</a:t>
                      </a:r>
                      <a:r>
                        <a:rPr dirty="0" sz="2000" spc="-28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9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Petroso</a:t>
                      </a:r>
                      <a:r>
                        <a:rPr dirty="0" sz="2000" spc="-26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11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Mayor,</a:t>
                      </a:r>
                      <a:r>
                        <a:rPr dirty="0" sz="2000" spc="-27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8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rama</a:t>
                      </a:r>
                      <a:r>
                        <a:rPr dirty="0" sz="2000" spc="-26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11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petrosa</a:t>
                      </a:r>
                      <a:r>
                        <a:rPr dirty="0" sz="2000" spc="-26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7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de</a:t>
                      </a:r>
                      <a:r>
                        <a:rPr dirty="0" sz="2000" spc="-27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9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la</a:t>
                      </a:r>
                      <a:r>
                        <a:rPr dirty="0" sz="2000" spc="-26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16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A.</a:t>
                      </a:r>
                      <a:r>
                        <a:rPr dirty="0" sz="2000" spc="-26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8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Meníngea </a:t>
                      </a:r>
                      <a:r>
                        <a:rPr dirty="0" sz="2000" spc="-1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Media</a:t>
                      </a:r>
                      <a:endParaRPr sz="2000">
                        <a:latin typeface="Lucida Sans"/>
                        <a:cs typeface="Lucida Sans"/>
                      </a:endParaRPr>
                    </a:p>
                  </a:txBody>
                  <a:tcPr marL="0" marR="0" marB="0" marT="5461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518795"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2000" spc="-13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Conducto</a:t>
                      </a:r>
                      <a:r>
                        <a:rPr dirty="0" sz="2000" spc="-23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1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Carotideo</a:t>
                      </a:r>
                      <a:endParaRPr sz="2000">
                        <a:latin typeface="Lucida Sans"/>
                        <a:cs typeface="Lucida Sans"/>
                      </a:endParaRPr>
                    </a:p>
                  </a:txBody>
                  <a:tcPr marL="0" marR="0" marB="0" marT="9334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2000" spc="-16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A.</a:t>
                      </a:r>
                      <a:r>
                        <a:rPr dirty="0" sz="2000" spc="-25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114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Carótida</a:t>
                      </a:r>
                      <a:r>
                        <a:rPr dirty="0" sz="2000" spc="-24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2000" spc="-1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Interna</a:t>
                      </a:r>
                      <a:endParaRPr sz="2000">
                        <a:latin typeface="Lucida Sans"/>
                        <a:cs typeface="Lucida Sans"/>
                      </a:endParaRPr>
                    </a:p>
                  </a:txBody>
                  <a:tcPr marL="0" marR="0" marB="0" marT="9334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0745559" y="11"/>
            <a:ext cx="7541895" cy="10287000"/>
            <a:chOff x="10745559" y="11"/>
            <a:chExt cx="7541895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39561" y="11"/>
              <a:ext cx="1447799" cy="144779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45559" y="1448443"/>
              <a:ext cx="7399634" cy="8838557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1570521" y="2666982"/>
            <a:ext cx="2923540" cy="479425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65"/>
              </a:spcBef>
            </a:pPr>
            <a:r>
              <a:rPr dirty="0" sz="2400" spc="-10">
                <a:solidFill>
                  <a:srgbClr val="FFFFFF"/>
                </a:solidFill>
                <a:latin typeface="Lucida Sans"/>
                <a:cs typeface="Lucida Sans"/>
              </a:rPr>
              <a:t>Foramen</a:t>
            </a:r>
            <a:endParaRPr sz="24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r>
              <a:rPr dirty="0" sz="2000" spc="-125">
                <a:solidFill>
                  <a:srgbClr val="FFFFFF"/>
                </a:solidFill>
                <a:latin typeface="Lucida Sans"/>
                <a:cs typeface="Lucida Sans"/>
              </a:rPr>
              <a:t>Conducto</a:t>
            </a:r>
            <a:r>
              <a:rPr dirty="0" sz="2000" spc="-215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135">
                <a:solidFill>
                  <a:srgbClr val="FFFFFF"/>
                </a:solidFill>
                <a:latin typeface="Lucida Sans"/>
                <a:cs typeface="Lucida Sans"/>
              </a:rPr>
              <a:t>Auditivo</a:t>
            </a:r>
            <a:r>
              <a:rPr dirty="0" sz="2000" spc="-215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100">
                <a:solidFill>
                  <a:srgbClr val="FFFFFF"/>
                </a:solidFill>
                <a:latin typeface="Lucida Sans"/>
                <a:cs typeface="Lucida Sans"/>
              </a:rPr>
              <a:t>Externo</a:t>
            </a:r>
            <a:endParaRPr sz="2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27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1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r>
              <a:rPr dirty="0" sz="2000" spc="-140">
                <a:solidFill>
                  <a:srgbClr val="FFFFFF"/>
                </a:solidFill>
                <a:latin typeface="Lucida Sans"/>
                <a:cs typeface="Lucida Sans"/>
              </a:rPr>
              <a:t>Agujero</a:t>
            </a:r>
            <a:r>
              <a:rPr dirty="0" sz="2000" spc="-225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Lucida Sans"/>
                <a:cs typeface="Lucida Sans"/>
              </a:rPr>
              <a:t>Magno</a:t>
            </a:r>
            <a:endParaRPr sz="2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27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27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32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r>
              <a:rPr dirty="0" sz="2000" spc="-125">
                <a:solidFill>
                  <a:srgbClr val="FFFFFF"/>
                </a:solidFill>
                <a:latin typeface="Lucida Sans"/>
                <a:cs typeface="Lucida Sans"/>
              </a:rPr>
              <a:t>Orificio</a:t>
            </a:r>
            <a:r>
              <a:rPr dirty="0" sz="2000" spc="-235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Lucida Sans"/>
                <a:cs typeface="Lucida Sans"/>
              </a:rPr>
              <a:t>Yugular</a:t>
            </a:r>
            <a:endParaRPr sz="2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950">
              <a:latin typeface="Lucida Sans"/>
              <a:cs typeface="Lucida Sans"/>
            </a:endParaRPr>
          </a:p>
          <a:p>
            <a:pPr marR="706755">
              <a:lnSpc>
                <a:spcPct val="160800"/>
              </a:lnSpc>
              <a:spcBef>
                <a:spcPts val="5"/>
              </a:spcBef>
            </a:pPr>
            <a:r>
              <a:rPr dirty="0" sz="2000" spc="-135">
                <a:solidFill>
                  <a:srgbClr val="FFFFFF"/>
                </a:solidFill>
                <a:latin typeface="Lucida Sans"/>
                <a:cs typeface="Lucida Sans"/>
              </a:rPr>
              <a:t>Conducto</a:t>
            </a:r>
            <a:r>
              <a:rPr dirty="0" sz="2000" spc="-235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135">
                <a:solidFill>
                  <a:srgbClr val="FFFFFF"/>
                </a:solidFill>
                <a:latin typeface="Lucida Sans"/>
                <a:cs typeface="Lucida Sans"/>
              </a:rPr>
              <a:t>Hipogloso </a:t>
            </a:r>
            <a:r>
              <a:rPr dirty="0" sz="2000" spc="-125">
                <a:solidFill>
                  <a:srgbClr val="FFFFFF"/>
                </a:solidFill>
                <a:latin typeface="Lucida Sans"/>
                <a:cs typeface="Lucida Sans"/>
              </a:rPr>
              <a:t>Conducto</a:t>
            </a:r>
            <a:r>
              <a:rPr dirty="0" sz="2000" spc="-225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Lucida Sans"/>
                <a:cs typeface="Lucida Sans"/>
              </a:rPr>
              <a:t>Condíleo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529633" y="2666982"/>
            <a:ext cx="5350510" cy="493712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algn="ctr" marL="108585">
              <a:lnSpc>
                <a:spcPct val="100000"/>
              </a:lnSpc>
              <a:spcBef>
                <a:spcPts val="165"/>
              </a:spcBef>
            </a:pPr>
            <a:r>
              <a:rPr dirty="0" sz="2400" spc="-45">
                <a:solidFill>
                  <a:srgbClr val="FFFFFF"/>
                </a:solidFill>
                <a:latin typeface="Lucida Sans"/>
                <a:cs typeface="Lucida Sans"/>
              </a:rPr>
              <a:t>Contenido</a:t>
            </a:r>
            <a:endParaRPr sz="24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r>
              <a:rPr dirty="0" sz="2000" spc="-160">
                <a:solidFill>
                  <a:srgbClr val="FFFFFF"/>
                </a:solidFill>
                <a:latin typeface="Lucida Sans"/>
                <a:cs typeface="Lucida Sans"/>
              </a:rPr>
              <a:t>A.</a:t>
            </a:r>
            <a:r>
              <a:rPr dirty="0" sz="2000" spc="-24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125">
                <a:solidFill>
                  <a:srgbClr val="FFFFFF"/>
                </a:solidFill>
                <a:latin typeface="Lucida Sans"/>
                <a:cs typeface="Lucida Sans"/>
              </a:rPr>
              <a:t>Laberíntica,</a:t>
            </a:r>
            <a:r>
              <a:rPr dirty="0" sz="2000" spc="-24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85">
                <a:solidFill>
                  <a:srgbClr val="FFFFFF"/>
                </a:solidFill>
                <a:latin typeface="Lucida Sans"/>
                <a:cs typeface="Lucida Sans"/>
              </a:rPr>
              <a:t>N.</a:t>
            </a:r>
            <a:r>
              <a:rPr dirty="0" sz="2000" spc="-24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120">
                <a:solidFill>
                  <a:srgbClr val="FFFFFF"/>
                </a:solidFill>
                <a:latin typeface="Lucida Sans"/>
                <a:cs typeface="Lucida Sans"/>
              </a:rPr>
              <a:t>Facial</a:t>
            </a:r>
            <a:r>
              <a:rPr dirty="0" sz="2000" spc="-24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50">
                <a:solidFill>
                  <a:srgbClr val="FFFFFF"/>
                </a:solidFill>
                <a:latin typeface="Lucida Sans"/>
                <a:cs typeface="Lucida Sans"/>
              </a:rPr>
              <a:t>y</a:t>
            </a:r>
            <a:r>
              <a:rPr dirty="0" sz="2000" spc="-235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Lucida Sans"/>
                <a:cs typeface="Lucida Sans"/>
              </a:rPr>
              <a:t>Auditivo</a:t>
            </a:r>
            <a:endParaRPr sz="2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850">
              <a:latin typeface="Lucida Sans"/>
              <a:cs typeface="Lucida Sans"/>
            </a:endParaRPr>
          </a:p>
          <a:p>
            <a:pPr>
              <a:lnSpc>
                <a:spcPts val="2365"/>
              </a:lnSpc>
            </a:pPr>
            <a:r>
              <a:rPr dirty="0" sz="2000" spc="-75">
                <a:solidFill>
                  <a:srgbClr val="FFFFFF"/>
                </a:solidFill>
                <a:latin typeface="Lucida Sans"/>
                <a:cs typeface="Lucida Sans"/>
              </a:rPr>
              <a:t>Bulbo</a:t>
            </a:r>
            <a:r>
              <a:rPr dirty="0" sz="2000" spc="-24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105">
                <a:solidFill>
                  <a:srgbClr val="FFFFFF"/>
                </a:solidFill>
                <a:latin typeface="Lucida Sans"/>
                <a:cs typeface="Lucida Sans"/>
              </a:rPr>
              <a:t>raquídeo</a:t>
            </a:r>
            <a:r>
              <a:rPr dirty="0" sz="2000" spc="-24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50">
                <a:solidFill>
                  <a:srgbClr val="FFFFFF"/>
                </a:solidFill>
                <a:latin typeface="Lucida Sans"/>
                <a:cs typeface="Lucida Sans"/>
              </a:rPr>
              <a:t>y</a:t>
            </a:r>
            <a:r>
              <a:rPr dirty="0" sz="2000" spc="-235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Lucida Sans"/>
                <a:cs typeface="Lucida Sans"/>
              </a:rPr>
              <a:t>Meninges</a:t>
            </a:r>
            <a:endParaRPr sz="2000">
              <a:latin typeface="Lucida Sans"/>
              <a:cs typeface="Lucida Sans"/>
            </a:endParaRPr>
          </a:p>
          <a:p>
            <a:pPr>
              <a:lnSpc>
                <a:spcPts val="2325"/>
              </a:lnSpc>
            </a:pPr>
            <a:r>
              <a:rPr dirty="0" sz="2000" spc="-165">
                <a:solidFill>
                  <a:srgbClr val="FFFFFF"/>
                </a:solidFill>
                <a:latin typeface="Lucida Sans"/>
                <a:cs typeface="Lucida Sans"/>
              </a:rPr>
              <a:t>A.</a:t>
            </a:r>
            <a:r>
              <a:rPr dirty="0" sz="2000" spc="-285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30">
                <a:solidFill>
                  <a:srgbClr val="FFFFFF"/>
                </a:solidFill>
                <a:latin typeface="Lucida Sans"/>
                <a:cs typeface="Lucida Sans"/>
              </a:rPr>
              <a:t>Vertebrales</a:t>
            </a:r>
            <a:endParaRPr sz="2000">
              <a:latin typeface="Lucida Sans"/>
              <a:cs typeface="Lucida Sans"/>
            </a:endParaRPr>
          </a:p>
          <a:p>
            <a:pPr>
              <a:lnSpc>
                <a:spcPts val="2365"/>
              </a:lnSpc>
            </a:pPr>
            <a:r>
              <a:rPr dirty="0" sz="2000" spc="-120">
                <a:solidFill>
                  <a:srgbClr val="FFFFFF"/>
                </a:solidFill>
                <a:latin typeface="Lucida Sans"/>
                <a:cs typeface="Lucida Sans"/>
              </a:rPr>
              <a:t>Raíces</a:t>
            </a:r>
            <a:r>
              <a:rPr dirty="0" sz="2000" spc="-245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120">
                <a:solidFill>
                  <a:srgbClr val="FFFFFF"/>
                </a:solidFill>
                <a:latin typeface="Lucida Sans"/>
                <a:cs typeface="Lucida Sans"/>
              </a:rPr>
              <a:t>espinales</a:t>
            </a:r>
            <a:r>
              <a:rPr dirty="0" sz="2000" spc="-24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100">
                <a:solidFill>
                  <a:srgbClr val="FFFFFF"/>
                </a:solidFill>
                <a:latin typeface="Lucida Sans"/>
                <a:cs typeface="Lucida Sans"/>
              </a:rPr>
              <a:t>del</a:t>
            </a:r>
            <a:r>
              <a:rPr dirty="0" sz="2000" spc="-245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65">
                <a:solidFill>
                  <a:srgbClr val="FFFFFF"/>
                </a:solidFill>
                <a:latin typeface="Lucida Sans"/>
                <a:cs typeface="Lucida Sans"/>
              </a:rPr>
              <a:t>PC</a:t>
            </a:r>
            <a:r>
              <a:rPr dirty="0" sz="2000" spc="-24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110">
                <a:solidFill>
                  <a:srgbClr val="FFFFFF"/>
                </a:solidFill>
                <a:latin typeface="Lucida Sans"/>
                <a:cs typeface="Lucida Sans"/>
              </a:rPr>
              <a:t>XI</a:t>
            </a:r>
            <a:r>
              <a:rPr dirty="0" sz="2000" spc="-24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114">
                <a:solidFill>
                  <a:srgbClr val="FFFFFF"/>
                </a:solidFill>
                <a:latin typeface="Lucida Sans"/>
                <a:cs typeface="Lucida Sans"/>
              </a:rPr>
              <a:t>Venas</a:t>
            </a:r>
            <a:r>
              <a:rPr dirty="0" sz="2000" spc="-245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65">
                <a:solidFill>
                  <a:srgbClr val="FFFFFF"/>
                </a:solidFill>
                <a:latin typeface="Lucida Sans"/>
                <a:cs typeface="Lucida Sans"/>
              </a:rPr>
              <a:t>de</a:t>
            </a:r>
            <a:r>
              <a:rPr dirty="0" sz="2000" spc="-24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85">
                <a:solidFill>
                  <a:srgbClr val="FFFFFF"/>
                </a:solidFill>
                <a:latin typeface="Lucida Sans"/>
                <a:cs typeface="Lucida Sans"/>
              </a:rPr>
              <a:t>la</a:t>
            </a:r>
            <a:r>
              <a:rPr dirty="0" sz="2000" spc="-245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70">
                <a:solidFill>
                  <a:srgbClr val="FFFFFF"/>
                </a:solidFill>
                <a:latin typeface="Lucida Sans"/>
                <a:cs typeface="Lucida Sans"/>
              </a:rPr>
              <a:t>duramadre</a:t>
            </a:r>
            <a:endParaRPr sz="2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650">
              <a:latin typeface="Lucida Sans"/>
              <a:cs typeface="Lucida Sans"/>
            </a:endParaRPr>
          </a:p>
          <a:p>
            <a:pPr>
              <a:lnSpc>
                <a:spcPts val="2365"/>
              </a:lnSpc>
            </a:pPr>
            <a:r>
              <a:rPr dirty="0" sz="2000" spc="-85">
                <a:solidFill>
                  <a:srgbClr val="FFFFFF"/>
                </a:solidFill>
                <a:latin typeface="Lucida Sans"/>
                <a:cs typeface="Lucida Sans"/>
              </a:rPr>
              <a:t>N.</a:t>
            </a:r>
            <a:r>
              <a:rPr dirty="0" sz="2000" spc="-229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125">
                <a:solidFill>
                  <a:srgbClr val="FFFFFF"/>
                </a:solidFill>
                <a:latin typeface="Lucida Sans"/>
                <a:cs typeface="Lucida Sans"/>
              </a:rPr>
              <a:t>Glosofaríngeo</a:t>
            </a:r>
            <a:r>
              <a:rPr dirty="0" sz="2000" spc="-225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155">
                <a:solidFill>
                  <a:srgbClr val="FFFFFF"/>
                </a:solidFill>
                <a:latin typeface="Lucida Sans"/>
                <a:cs typeface="Lucida Sans"/>
              </a:rPr>
              <a:t>(IX),Vago</a:t>
            </a:r>
            <a:r>
              <a:rPr dirty="0" sz="2000" spc="-229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140">
                <a:solidFill>
                  <a:srgbClr val="FFFFFF"/>
                </a:solidFill>
                <a:latin typeface="Lucida Sans"/>
                <a:cs typeface="Lucida Sans"/>
              </a:rPr>
              <a:t>(X)</a:t>
            </a:r>
            <a:r>
              <a:rPr dirty="0" sz="2000" spc="-225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50">
                <a:solidFill>
                  <a:srgbClr val="FFFFFF"/>
                </a:solidFill>
                <a:latin typeface="Lucida Sans"/>
                <a:cs typeface="Lucida Sans"/>
              </a:rPr>
              <a:t>y</a:t>
            </a:r>
            <a:r>
              <a:rPr dirty="0" sz="2000" spc="-229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114">
                <a:solidFill>
                  <a:srgbClr val="FFFFFF"/>
                </a:solidFill>
                <a:latin typeface="Lucida Sans"/>
                <a:cs typeface="Lucida Sans"/>
              </a:rPr>
              <a:t>Espinal</a:t>
            </a:r>
            <a:r>
              <a:rPr dirty="0" sz="2000" spc="-225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Lucida Sans"/>
                <a:cs typeface="Lucida Sans"/>
              </a:rPr>
              <a:t>(XI)</a:t>
            </a:r>
            <a:endParaRPr sz="2000">
              <a:latin typeface="Lucida Sans"/>
              <a:cs typeface="Lucida Sans"/>
            </a:endParaRPr>
          </a:p>
          <a:p>
            <a:pPr>
              <a:lnSpc>
                <a:spcPts val="2325"/>
              </a:lnSpc>
            </a:pPr>
            <a:r>
              <a:rPr dirty="0" sz="2000" spc="-160">
                <a:solidFill>
                  <a:srgbClr val="FFFFFF"/>
                </a:solidFill>
                <a:latin typeface="Lucida Sans"/>
                <a:cs typeface="Lucida Sans"/>
              </a:rPr>
              <a:t>V.</a:t>
            </a:r>
            <a:r>
              <a:rPr dirty="0" sz="2000" spc="-27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145">
                <a:solidFill>
                  <a:srgbClr val="FFFFFF"/>
                </a:solidFill>
                <a:latin typeface="Lucida Sans"/>
                <a:cs typeface="Lucida Sans"/>
              </a:rPr>
              <a:t>Yugular</a:t>
            </a:r>
            <a:r>
              <a:rPr dirty="0" sz="2000" spc="-27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Lucida Sans"/>
                <a:cs typeface="Lucida Sans"/>
              </a:rPr>
              <a:t>Interna</a:t>
            </a:r>
            <a:endParaRPr sz="2000">
              <a:latin typeface="Lucida Sans"/>
              <a:cs typeface="Lucida Sans"/>
            </a:endParaRPr>
          </a:p>
          <a:p>
            <a:pPr marR="1275715">
              <a:lnSpc>
                <a:spcPts val="2330"/>
              </a:lnSpc>
              <a:spcBef>
                <a:spcPts val="95"/>
              </a:spcBef>
            </a:pPr>
            <a:r>
              <a:rPr dirty="0" sz="2000" spc="-100">
                <a:solidFill>
                  <a:srgbClr val="FFFFFF"/>
                </a:solidFill>
                <a:latin typeface="Lucida Sans"/>
                <a:cs typeface="Lucida Sans"/>
              </a:rPr>
              <a:t>Senos</a:t>
            </a:r>
            <a:r>
              <a:rPr dirty="0" sz="2000" spc="-26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95">
                <a:solidFill>
                  <a:srgbClr val="FFFFFF"/>
                </a:solidFill>
                <a:latin typeface="Lucida Sans"/>
                <a:cs typeface="Lucida Sans"/>
              </a:rPr>
              <a:t>Petroso</a:t>
            </a:r>
            <a:r>
              <a:rPr dirty="0" sz="2000" spc="-26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114">
                <a:solidFill>
                  <a:srgbClr val="FFFFFF"/>
                </a:solidFill>
                <a:latin typeface="Lucida Sans"/>
                <a:cs typeface="Lucida Sans"/>
              </a:rPr>
              <a:t>Inferior</a:t>
            </a:r>
            <a:r>
              <a:rPr dirty="0" sz="2000" spc="-26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50">
                <a:solidFill>
                  <a:srgbClr val="FFFFFF"/>
                </a:solidFill>
                <a:latin typeface="Lucida Sans"/>
                <a:cs typeface="Lucida Sans"/>
              </a:rPr>
              <a:t>y</a:t>
            </a:r>
            <a:r>
              <a:rPr dirty="0" sz="2000" spc="-254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Lucida Sans"/>
                <a:cs typeface="Lucida Sans"/>
              </a:rPr>
              <a:t>Sigmoideo </a:t>
            </a:r>
            <a:r>
              <a:rPr dirty="0" sz="2000" spc="-95">
                <a:solidFill>
                  <a:srgbClr val="FFFFFF"/>
                </a:solidFill>
                <a:latin typeface="Lucida Sans"/>
                <a:cs typeface="Lucida Sans"/>
              </a:rPr>
              <a:t>Ramas</a:t>
            </a:r>
            <a:r>
              <a:rPr dirty="0" sz="2000" spc="-25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110">
                <a:solidFill>
                  <a:srgbClr val="FFFFFF"/>
                </a:solidFill>
                <a:latin typeface="Lucida Sans"/>
                <a:cs typeface="Lucida Sans"/>
              </a:rPr>
              <a:t>Meníngeas</a:t>
            </a:r>
            <a:r>
              <a:rPr dirty="0" sz="2000" spc="-245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65">
                <a:solidFill>
                  <a:srgbClr val="FFFFFF"/>
                </a:solidFill>
                <a:latin typeface="Lucida Sans"/>
                <a:cs typeface="Lucida Sans"/>
              </a:rPr>
              <a:t>de</a:t>
            </a:r>
            <a:r>
              <a:rPr dirty="0" sz="2000" spc="-25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110">
                <a:solidFill>
                  <a:srgbClr val="FFFFFF"/>
                </a:solidFill>
                <a:latin typeface="Lucida Sans"/>
                <a:cs typeface="Lucida Sans"/>
              </a:rPr>
              <a:t>las</a:t>
            </a:r>
            <a:r>
              <a:rPr dirty="0" sz="2000" spc="-245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160">
                <a:solidFill>
                  <a:srgbClr val="FFFFFF"/>
                </a:solidFill>
                <a:latin typeface="Lucida Sans"/>
                <a:cs typeface="Lucida Sans"/>
              </a:rPr>
              <a:t>A.</a:t>
            </a:r>
            <a:r>
              <a:rPr dirty="0" sz="2000" spc="-25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100">
                <a:solidFill>
                  <a:srgbClr val="FFFFFF"/>
                </a:solidFill>
                <a:latin typeface="Lucida Sans"/>
                <a:cs typeface="Lucida Sans"/>
              </a:rPr>
              <a:t>Faríngeas </a:t>
            </a:r>
            <a:r>
              <a:rPr dirty="0" sz="2000" spc="-125">
                <a:solidFill>
                  <a:srgbClr val="FFFFFF"/>
                </a:solidFill>
                <a:latin typeface="Lucida Sans"/>
                <a:cs typeface="Lucida Sans"/>
              </a:rPr>
              <a:t>Ascendentes</a:t>
            </a:r>
            <a:r>
              <a:rPr dirty="0" sz="2000" spc="-225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50">
                <a:solidFill>
                  <a:srgbClr val="FFFFFF"/>
                </a:solidFill>
                <a:latin typeface="Lucida Sans"/>
                <a:cs typeface="Lucida Sans"/>
              </a:rPr>
              <a:t>y</a:t>
            </a:r>
            <a:r>
              <a:rPr dirty="0" sz="2000" spc="-225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Lucida Sans"/>
                <a:cs typeface="Lucida Sans"/>
              </a:rPr>
              <a:t>Occipital</a:t>
            </a:r>
            <a:endParaRPr sz="2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r>
              <a:rPr dirty="0" sz="2000" spc="-90">
                <a:solidFill>
                  <a:srgbClr val="FFFFFF"/>
                </a:solidFill>
                <a:latin typeface="Lucida Sans"/>
                <a:cs typeface="Lucida Sans"/>
              </a:rPr>
              <a:t>N.</a:t>
            </a:r>
            <a:r>
              <a:rPr dirty="0" sz="2000" spc="-28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30">
                <a:solidFill>
                  <a:srgbClr val="FFFFFF"/>
                </a:solidFill>
                <a:latin typeface="Lucida Sans"/>
                <a:cs typeface="Lucida Sans"/>
              </a:rPr>
              <a:t>Hipogloso</a:t>
            </a:r>
            <a:endParaRPr sz="2000">
              <a:latin typeface="Lucida Sans"/>
              <a:cs typeface="Lucida Sans"/>
            </a:endParaRPr>
          </a:p>
          <a:p>
            <a:pPr marR="406400">
              <a:lnSpc>
                <a:spcPts val="2330"/>
              </a:lnSpc>
              <a:spcBef>
                <a:spcPts val="400"/>
              </a:spcBef>
            </a:pPr>
            <a:r>
              <a:rPr dirty="0" sz="2000" spc="-155">
                <a:solidFill>
                  <a:srgbClr val="FFFFFF"/>
                </a:solidFill>
                <a:latin typeface="Lucida Sans"/>
                <a:cs typeface="Lucida Sans"/>
              </a:rPr>
              <a:t>V.</a:t>
            </a:r>
            <a:r>
              <a:rPr dirty="0" sz="2000" spc="-245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105">
                <a:solidFill>
                  <a:srgbClr val="FFFFFF"/>
                </a:solidFill>
                <a:latin typeface="Lucida Sans"/>
                <a:cs typeface="Lucida Sans"/>
              </a:rPr>
              <a:t>Emisaria</a:t>
            </a:r>
            <a:r>
              <a:rPr dirty="0" sz="2000" spc="-245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45">
                <a:solidFill>
                  <a:srgbClr val="FFFFFF"/>
                </a:solidFill>
                <a:latin typeface="Lucida Sans"/>
                <a:cs typeface="Lucida Sans"/>
              </a:rPr>
              <a:t>q</a:t>
            </a:r>
            <a:r>
              <a:rPr dirty="0" sz="2000" spc="-245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95">
                <a:solidFill>
                  <a:srgbClr val="FFFFFF"/>
                </a:solidFill>
                <a:latin typeface="Lucida Sans"/>
                <a:cs typeface="Lucida Sans"/>
              </a:rPr>
              <a:t>pasa</a:t>
            </a:r>
            <a:r>
              <a:rPr dirty="0" sz="2000" spc="-245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100">
                <a:solidFill>
                  <a:srgbClr val="FFFFFF"/>
                </a:solidFill>
                <a:latin typeface="Lucida Sans"/>
                <a:cs typeface="Lucida Sans"/>
              </a:rPr>
              <a:t>del</a:t>
            </a:r>
            <a:r>
              <a:rPr dirty="0" sz="2000" spc="-245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100">
                <a:solidFill>
                  <a:srgbClr val="FFFFFF"/>
                </a:solidFill>
                <a:latin typeface="Lucida Sans"/>
                <a:cs typeface="Lucida Sans"/>
              </a:rPr>
              <a:t>seno</a:t>
            </a:r>
            <a:r>
              <a:rPr dirty="0" sz="2000" spc="-24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135">
                <a:solidFill>
                  <a:srgbClr val="FFFFFF"/>
                </a:solidFill>
                <a:latin typeface="Lucida Sans"/>
                <a:cs typeface="Lucida Sans"/>
              </a:rPr>
              <a:t>sigmoideo</a:t>
            </a:r>
            <a:r>
              <a:rPr dirty="0" sz="2000" spc="-245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"/>
                <a:cs typeface="Lucida Sans"/>
              </a:rPr>
              <a:t>a</a:t>
            </a:r>
            <a:r>
              <a:rPr dirty="0" sz="2000" spc="-245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110">
                <a:solidFill>
                  <a:srgbClr val="FFFFFF"/>
                </a:solidFill>
                <a:latin typeface="Lucida Sans"/>
                <a:cs typeface="Lucida Sans"/>
              </a:rPr>
              <a:t>las</a:t>
            </a:r>
            <a:r>
              <a:rPr dirty="0" sz="2000" spc="-245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65">
                <a:solidFill>
                  <a:srgbClr val="FFFFFF"/>
                </a:solidFill>
                <a:latin typeface="Lucida Sans"/>
                <a:cs typeface="Lucida Sans"/>
              </a:rPr>
              <a:t>V. </a:t>
            </a:r>
            <a:r>
              <a:rPr dirty="0" sz="2000" spc="-114">
                <a:solidFill>
                  <a:srgbClr val="FFFFFF"/>
                </a:solidFill>
                <a:latin typeface="Lucida Sans"/>
                <a:cs typeface="Lucida Sans"/>
              </a:rPr>
              <a:t>Vertebrales</a:t>
            </a:r>
            <a:r>
              <a:rPr dirty="0" sz="2000" spc="-215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100">
                <a:solidFill>
                  <a:srgbClr val="FFFFFF"/>
                </a:solidFill>
                <a:latin typeface="Lucida Sans"/>
                <a:cs typeface="Lucida Sans"/>
              </a:rPr>
              <a:t>del</a:t>
            </a:r>
            <a:r>
              <a:rPr dirty="0" sz="2000" spc="-21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Lucida Sans"/>
                <a:cs typeface="Lucida Sans"/>
              </a:rPr>
              <a:t>cuello</a:t>
            </a:r>
            <a:endParaRPr sz="2000">
              <a:latin typeface="Lucida Sans"/>
              <a:cs typeface="Lucida Sans"/>
            </a:endParaRP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1560996" y="2687966"/>
          <a:ext cx="8437245" cy="4908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9100"/>
                <a:gridCol w="5468620"/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6884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504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6165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89572" y="590085"/>
            <a:ext cx="5368290" cy="145669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32715" marR="5080" indent="-120650">
              <a:lnSpc>
                <a:spcPct val="114500"/>
              </a:lnSpc>
              <a:spcBef>
                <a:spcPts val="100"/>
              </a:spcBef>
            </a:pPr>
            <a:r>
              <a:rPr dirty="0" sz="4100" spc="-10">
                <a:solidFill>
                  <a:srgbClr val="000000"/>
                </a:solidFill>
              </a:rPr>
              <a:t>agujeros</a:t>
            </a:r>
            <a:r>
              <a:rPr dirty="0" sz="4100" spc="-110">
                <a:solidFill>
                  <a:srgbClr val="000000"/>
                </a:solidFill>
              </a:rPr>
              <a:t> </a:t>
            </a:r>
            <a:r>
              <a:rPr dirty="0" sz="4100">
                <a:solidFill>
                  <a:srgbClr val="000000"/>
                </a:solidFill>
              </a:rPr>
              <a:t>de</a:t>
            </a:r>
            <a:r>
              <a:rPr dirty="0" sz="4100" spc="-110">
                <a:solidFill>
                  <a:srgbClr val="000000"/>
                </a:solidFill>
              </a:rPr>
              <a:t> </a:t>
            </a:r>
            <a:r>
              <a:rPr dirty="0" sz="4100" spc="-20">
                <a:solidFill>
                  <a:srgbClr val="000000"/>
                </a:solidFill>
              </a:rPr>
              <a:t>base </a:t>
            </a:r>
            <a:r>
              <a:rPr dirty="0" sz="4100">
                <a:solidFill>
                  <a:srgbClr val="000000"/>
                </a:solidFill>
              </a:rPr>
              <a:t>(fosa</a:t>
            </a:r>
            <a:r>
              <a:rPr dirty="0" sz="4100" spc="-135">
                <a:solidFill>
                  <a:srgbClr val="000000"/>
                </a:solidFill>
              </a:rPr>
              <a:t> </a:t>
            </a:r>
            <a:r>
              <a:rPr dirty="0" sz="4100" spc="-10">
                <a:solidFill>
                  <a:srgbClr val="000000"/>
                </a:solidFill>
              </a:rPr>
              <a:t>posterior)</a:t>
            </a:r>
            <a:endParaRPr sz="4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761" y="1563893"/>
            <a:ext cx="10048874" cy="78200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40125" rIns="0" bIns="0" rtlCol="0" vert="horz">
            <a:spAutoFit/>
          </a:bodyPr>
          <a:lstStyle/>
          <a:p>
            <a:pPr marL="374650">
              <a:lnSpc>
                <a:spcPct val="100000"/>
              </a:lnSpc>
              <a:spcBef>
                <a:spcPts val="90"/>
              </a:spcBef>
            </a:pPr>
            <a:r>
              <a:rPr dirty="0" sz="5100" spc="-10">
                <a:solidFill>
                  <a:srgbClr val="000000"/>
                </a:solidFill>
              </a:rPr>
              <a:t>agujeros</a:t>
            </a:r>
            <a:r>
              <a:rPr dirty="0" sz="5100" spc="-145">
                <a:solidFill>
                  <a:srgbClr val="000000"/>
                </a:solidFill>
              </a:rPr>
              <a:t> </a:t>
            </a:r>
            <a:r>
              <a:rPr dirty="0" sz="5100">
                <a:solidFill>
                  <a:srgbClr val="000000"/>
                </a:solidFill>
              </a:rPr>
              <a:t>de</a:t>
            </a:r>
            <a:r>
              <a:rPr dirty="0" sz="5100" spc="-145">
                <a:solidFill>
                  <a:srgbClr val="000000"/>
                </a:solidFill>
              </a:rPr>
              <a:t> </a:t>
            </a:r>
            <a:r>
              <a:rPr dirty="0" sz="5100" spc="-20">
                <a:solidFill>
                  <a:srgbClr val="000000"/>
                </a:solidFill>
              </a:rPr>
              <a:t>base</a:t>
            </a:r>
            <a:endParaRPr sz="5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39561" y="0"/>
            <a:ext cx="1447799" cy="14477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3059" rIns="0" bIns="0" rtlCol="0" vert="horz">
            <a:spAutoFit/>
          </a:bodyPr>
          <a:lstStyle/>
          <a:p>
            <a:pPr marL="170815">
              <a:lnSpc>
                <a:spcPct val="100000"/>
              </a:lnSpc>
              <a:spcBef>
                <a:spcPts val="105"/>
              </a:spcBef>
            </a:pPr>
            <a:r>
              <a:rPr dirty="0"/>
              <a:t>muchas</a:t>
            </a:r>
            <a:r>
              <a:rPr dirty="0" spc="-35"/>
              <a:t> </a:t>
            </a:r>
            <a:r>
              <a:rPr dirty="0" spc="-10"/>
              <a:t>gracias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647489"/>
              <a:ext cx="5584820" cy="263951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9745" y="7647489"/>
              <a:ext cx="5838824" cy="263951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99188" y="7647489"/>
              <a:ext cx="5838824" cy="263951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960447" y="7647489"/>
              <a:ext cx="4327552" cy="263951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55842" y="0"/>
              <a:ext cx="7086599" cy="102825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Alumed Instituto</dc:creator>
  <cp:keywords>DAE-nM_ciTo,BAEtqI1F-Vk</cp:keywords>
  <dc:title>AGUJEROS BASE CRANEO - ALUMED</dc:title>
  <dcterms:created xsi:type="dcterms:W3CDTF">2022-07-20T15:14:46Z</dcterms:created>
  <dcterms:modified xsi:type="dcterms:W3CDTF">2022-07-20T15:14:46Z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2022-04-22T00:00:00Z</vt:filetime>
  </property>
  <property fmtid="{D5CDD505-2E9C-101B-9397-08002B2CF9AE}" pid="3" name="Creator">
    <vt:lpwstr>Canva</vt:lpwstr>
  </property>
  <property fmtid="{D5CDD505-2E9C-101B-9397-08002B2CF9AE}" pid="4" name="Producer">
    <vt:lpwstr>Canva</vt:lpwstr>
  </property>
  <property fmtid="{D5CDD505-2E9C-101B-9397-08002B2CF9AE}" pid="5" name="LastSaved">
    <vt:filetime>2022-04-22T00:00:00Z</vt:filetime>
  </property>
</Properties>
</file>
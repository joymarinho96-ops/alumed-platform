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8"/>
  </p:notesMasterIdLst>
  <p:sldIdLst>
    <p:sldId id="281"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12af4ec3ea2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12af4ec3ea2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12af4ec3ea2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12af4ec3ea2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2af4ec3ea2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12af4ec3ea2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12af4ec3ea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12af4ec3ea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12af4ec3ea2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12af4ec3ea2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2af4ec3ea2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2af4ec3ea2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12af4ec3ea2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12af4ec3ea2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2af4ec3ea2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2af4ec3ea2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2af4ec3ea2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12af4ec3ea2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2af4ec3ea2_0_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2af4ec3ea2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2af4ec3ea2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12af4ec3ea2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12af4ec3ea2_0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12af4ec3ea2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12af4ec3ea2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12af4ec3ea2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12af4ec3ea2_0_2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12af4ec3ea2_0_2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12af4ec3ea2_0_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12af4ec3ea2_0_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12af4ec3ea2_0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12af4ec3ea2_0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12af4ec3ea2_0_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2af4ec3ea2_0_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2af4ec3ea2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2af4ec3ea2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12af4ec3ea2_0_2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12af4ec3ea2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2af4ec3ea2_0_3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12af4ec3ea2_0_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12af4ec3ea2_0_3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12af4ec3ea2_0_3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12af4ec3ea2_0_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12af4ec3ea2_0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12af4ec3ea2_0_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12af4ec3ea2_0_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12af4ec3ea2_0_3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12af4ec3ea2_0_3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1.xml"/><Relationship Id="rId6" Type="http://schemas.openxmlformats.org/officeDocument/2006/relationships/image" Target="../media/image2.png"/><Relationship Id="rId5" Type="http://schemas.openxmlformats.org/officeDocument/2006/relationships/image" Target="../media/image26.pn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ADD9DB-795D-8DFE-D011-9E762E84CA6D}"/>
              </a:ext>
            </a:extLst>
          </p:cNvPr>
          <p:cNvSpPr>
            <a:spLocks noGrp="1"/>
          </p:cNvSpPr>
          <p:nvPr>
            <p:ph type="title"/>
          </p:nvPr>
        </p:nvSpPr>
        <p:spPr/>
        <p:txBody>
          <a:bodyPr/>
          <a:lstStyle/>
          <a:p>
            <a:endParaRPr lang="es-AR"/>
          </a:p>
        </p:txBody>
      </p:sp>
      <p:pic>
        <p:nvPicPr>
          <p:cNvPr id="4" name="Imagen 3" descr="Imagen que contiene Texto&#10;&#10;Descripción generada automáticamente">
            <a:extLst>
              <a:ext uri="{FF2B5EF4-FFF2-40B4-BE49-F238E27FC236}">
                <a16:creationId xmlns:a16="http://schemas.microsoft.com/office/drawing/2014/main" id="{64418D95-163F-DC98-CE4D-C3EB033EEB05}"/>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1422860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3" name="Imagen 2" descr="Imagen que contiene Gráfico&#10;&#10;Descripción generada automáticamente">
            <a:extLst>
              <a:ext uri="{FF2B5EF4-FFF2-40B4-BE49-F238E27FC236}">
                <a16:creationId xmlns:a16="http://schemas.microsoft.com/office/drawing/2014/main" id="{DF817FD2-5A25-521C-2C6F-9762B81DA116}"/>
              </a:ext>
            </a:extLst>
          </p:cNvPr>
          <p:cNvPicPr>
            <a:picLocks noChangeAspect="1"/>
          </p:cNvPicPr>
          <p:nvPr/>
        </p:nvPicPr>
        <p:blipFill>
          <a:blip r:embed="rId3"/>
          <a:stretch>
            <a:fillRect/>
          </a:stretch>
        </p:blipFill>
        <p:spPr>
          <a:xfrm>
            <a:off x="0" y="0"/>
            <a:ext cx="9144000" cy="5143500"/>
          </a:xfrm>
          <a:prstGeom prst="rect">
            <a:avLst/>
          </a:prstGeom>
        </p:spPr>
      </p:pic>
      <p:sp>
        <p:nvSpPr>
          <p:cNvPr id="54" name="Google Shape;54;p13"/>
          <p:cNvSpPr txBox="1">
            <a:spLocks noGrp="1"/>
          </p:cNvSpPr>
          <p:nvPr>
            <p:ph type="ctrTitle"/>
          </p:nvPr>
        </p:nvSpPr>
        <p:spPr>
          <a:xfrm>
            <a:off x="372708" y="14764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419" b="1" dirty="0">
                <a:latin typeface="Bungee" pitchFamily="2" charset="0"/>
              </a:rPr>
              <a:t>IRRIGACIÓN DEL MIEMBRO SUPERIOR</a:t>
            </a:r>
            <a:endParaRPr b="1" dirty="0">
              <a:latin typeface="Bungee" pitchFamily="2" charset="0"/>
            </a:endParaRPr>
          </a:p>
        </p:txBody>
      </p:sp>
      <p:pic>
        <p:nvPicPr>
          <p:cNvPr id="5" name="Imagen 4" descr="Logotipo&#10;&#10;Descripción generada automáticamente">
            <a:extLst>
              <a:ext uri="{FF2B5EF4-FFF2-40B4-BE49-F238E27FC236}">
                <a16:creationId xmlns:a16="http://schemas.microsoft.com/office/drawing/2014/main" id="{312C8127-EDA6-246C-660D-35BCD64DA744}"/>
              </a:ext>
            </a:extLst>
          </p:cNvPr>
          <p:cNvPicPr>
            <a:picLocks noChangeAspect="1"/>
          </p:cNvPicPr>
          <p:nvPr/>
        </p:nvPicPr>
        <p:blipFill>
          <a:blip r:embed="rId4"/>
          <a:stretch>
            <a:fillRect/>
          </a:stretch>
        </p:blipFill>
        <p:spPr>
          <a:xfrm>
            <a:off x="8081470" y="0"/>
            <a:ext cx="1263805" cy="7108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b="1" u="sng"/>
              <a:t>IRRIGACIÓN</a:t>
            </a:r>
            <a:endParaRPr b="1" u="sng"/>
          </a:p>
        </p:txBody>
      </p:sp>
      <p:pic>
        <p:nvPicPr>
          <p:cNvPr id="60" name="Google Shape;60;p14"/>
          <p:cNvPicPr preferRelativeResize="0"/>
          <p:nvPr/>
        </p:nvPicPr>
        <p:blipFill rotWithShape="1">
          <a:blip r:embed="rId3">
            <a:alphaModFix/>
          </a:blip>
          <a:srcRect l="38898" t="39120" r="36936" b="14963"/>
          <a:stretch/>
        </p:blipFill>
        <p:spPr>
          <a:xfrm>
            <a:off x="2962349" y="700276"/>
            <a:ext cx="3652175" cy="3901574"/>
          </a:xfrm>
          <a:prstGeom prst="rect">
            <a:avLst/>
          </a:prstGeom>
          <a:noFill/>
          <a:ln>
            <a:noFill/>
          </a:ln>
        </p:spPr>
      </p:pic>
      <p:pic>
        <p:nvPicPr>
          <p:cNvPr id="4" name="Imagen 3" descr="Imagen que contiene Gráfico&#10;&#10;Descripción generada automáticamente">
            <a:extLst>
              <a:ext uri="{FF2B5EF4-FFF2-40B4-BE49-F238E27FC236}">
                <a16:creationId xmlns:a16="http://schemas.microsoft.com/office/drawing/2014/main" id="{203DB218-B198-F144-0E15-815EDC07C44E}"/>
              </a:ext>
            </a:extLst>
          </p:cNvPr>
          <p:cNvPicPr>
            <a:picLocks noChangeAspect="1"/>
          </p:cNvPicPr>
          <p:nvPr/>
        </p:nvPicPr>
        <p:blipFill>
          <a:blip r:embed="rId4"/>
          <a:stretch>
            <a:fillRect/>
          </a:stretch>
        </p:blipFill>
        <p:spPr>
          <a:xfrm>
            <a:off x="0" y="0"/>
            <a:ext cx="9144000" cy="5143500"/>
          </a:xfrm>
          <a:prstGeom prst="rect">
            <a:avLst/>
          </a:prstGeom>
        </p:spPr>
      </p:pic>
      <p:pic>
        <p:nvPicPr>
          <p:cNvPr id="5" name="Imagen 4" descr="Logotipo&#10;&#10;Descripción generada automáticamente">
            <a:extLst>
              <a:ext uri="{FF2B5EF4-FFF2-40B4-BE49-F238E27FC236}">
                <a16:creationId xmlns:a16="http://schemas.microsoft.com/office/drawing/2014/main" id="{3BB94117-7160-D786-8BF4-298C5CAC16EA}"/>
              </a:ext>
            </a:extLst>
          </p:cNvPr>
          <p:cNvPicPr>
            <a:picLocks noChangeAspect="1"/>
          </p:cNvPicPr>
          <p:nvPr/>
        </p:nvPicPr>
        <p:blipFill>
          <a:blip r:embed="rId5"/>
          <a:stretch>
            <a:fillRect/>
          </a:stretch>
        </p:blipFill>
        <p:spPr>
          <a:xfrm>
            <a:off x="8081470" y="0"/>
            <a:ext cx="1263805" cy="71089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pic>
        <p:nvPicPr>
          <p:cNvPr id="65" name="Google Shape;65;p15"/>
          <p:cNvPicPr preferRelativeResize="0"/>
          <p:nvPr/>
        </p:nvPicPr>
        <p:blipFill>
          <a:blip r:embed="rId3">
            <a:alphaModFix/>
          </a:blip>
          <a:stretch>
            <a:fillRect/>
          </a:stretch>
        </p:blipFill>
        <p:spPr>
          <a:xfrm>
            <a:off x="2531675" y="72925"/>
            <a:ext cx="4838700" cy="4838700"/>
          </a:xfrm>
          <a:prstGeom prst="rect">
            <a:avLst/>
          </a:prstGeom>
          <a:noFill/>
          <a:ln>
            <a:noFill/>
          </a:ln>
        </p:spPr>
      </p:pic>
      <p:pic>
        <p:nvPicPr>
          <p:cNvPr id="3" name="Imagen 2" descr="Imagen que contiene Gráfico&#10;&#10;Descripción generada automáticamente">
            <a:extLst>
              <a:ext uri="{FF2B5EF4-FFF2-40B4-BE49-F238E27FC236}">
                <a16:creationId xmlns:a16="http://schemas.microsoft.com/office/drawing/2014/main" id="{2E4AA74B-0B89-D959-442D-7D2AA9D21ACC}"/>
              </a:ext>
            </a:extLst>
          </p:cNvPr>
          <p:cNvPicPr>
            <a:picLocks noChangeAspect="1"/>
          </p:cNvPicPr>
          <p:nvPr/>
        </p:nvPicPr>
        <p:blipFill>
          <a:blip r:embed="rId4"/>
          <a:stretch>
            <a:fillRect/>
          </a:stretch>
        </p:blipFill>
        <p:spPr>
          <a:xfrm>
            <a:off x="0" y="0"/>
            <a:ext cx="9144000" cy="5143500"/>
          </a:xfrm>
          <a:prstGeom prst="rect">
            <a:avLst/>
          </a:prstGeom>
        </p:spPr>
      </p:pic>
      <p:pic>
        <p:nvPicPr>
          <p:cNvPr id="4" name="Imagen 3" descr="Logotipo&#10;&#10;Descripción generada automáticamente">
            <a:extLst>
              <a:ext uri="{FF2B5EF4-FFF2-40B4-BE49-F238E27FC236}">
                <a16:creationId xmlns:a16="http://schemas.microsoft.com/office/drawing/2014/main" id="{4BC113EB-CD65-8478-6C29-274B8C706E59}"/>
              </a:ext>
            </a:extLst>
          </p:cNvPr>
          <p:cNvPicPr>
            <a:picLocks noChangeAspect="1"/>
          </p:cNvPicPr>
          <p:nvPr/>
        </p:nvPicPr>
        <p:blipFill>
          <a:blip r:embed="rId5"/>
          <a:stretch>
            <a:fillRect/>
          </a:stretch>
        </p:blipFill>
        <p:spPr>
          <a:xfrm>
            <a:off x="8081470" y="0"/>
            <a:ext cx="1263805" cy="71089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b="1">
                <a:highlight>
                  <a:srgbClr val="E6B8AF"/>
                </a:highlight>
              </a:rPr>
              <a:t>Arteria subclavia </a:t>
            </a:r>
            <a:endParaRPr b="1">
              <a:highlight>
                <a:srgbClr val="E6B8AF"/>
              </a:highlight>
            </a:endParaRPr>
          </a:p>
        </p:txBody>
      </p:sp>
      <p:sp>
        <p:nvSpPr>
          <p:cNvPr id="71" name="Google Shape;71;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es-419" b="1">
                <a:solidFill>
                  <a:schemeClr val="dk1"/>
                </a:solidFill>
              </a:rPr>
              <a:t>Origen</a:t>
            </a:r>
            <a:r>
              <a:rPr lang="es-419">
                <a:solidFill>
                  <a:schemeClr val="dk1"/>
                </a:solidFill>
              </a:rPr>
              <a:t>: La izquierda nace del cayado aórtico mientras que la derecha nace del tronco braquiocefálico. </a:t>
            </a:r>
            <a:endParaRPr>
              <a:solidFill>
                <a:schemeClr val="dk1"/>
              </a:solidFill>
            </a:endParaRPr>
          </a:p>
          <a:p>
            <a:pPr marL="457200" lvl="0" indent="-342900" algn="l" rtl="0">
              <a:spcBef>
                <a:spcPts val="0"/>
              </a:spcBef>
              <a:spcAft>
                <a:spcPts val="0"/>
              </a:spcAft>
              <a:buClr>
                <a:schemeClr val="dk1"/>
              </a:buClr>
              <a:buSzPts val="1800"/>
              <a:buChar char="●"/>
            </a:pPr>
            <a:r>
              <a:rPr lang="es-419" b="1">
                <a:solidFill>
                  <a:schemeClr val="dk1"/>
                </a:solidFill>
              </a:rPr>
              <a:t>Recorrido</a:t>
            </a:r>
            <a:r>
              <a:rPr lang="es-419">
                <a:solidFill>
                  <a:schemeClr val="dk1"/>
                </a:solidFill>
              </a:rPr>
              <a:t>: Discurren entre los músculos escalenos anterior y posterior para ir luego por debajo de la clavícula, finalizando su recorrido cuando pasan la línea hemiclavicular (mitad de la clavícula) donde cambian de nombre y pasan a llamarse </a:t>
            </a:r>
            <a:r>
              <a:rPr lang="es-419" u="sng">
                <a:solidFill>
                  <a:schemeClr val="dk1"/>
                </a:solidFill>
              </a:rPr>
              <a:t>arterias axilares</a:t>
            </a:r>
            <a:r>
              <a:rPr lang="es-419">
                <a:solidFill>
                  <a:schemeClr val="dk1"/>
                </a:solidFill>
              </a:rPr>
              <a:t> por encontrarse en la región de la axila.</a:t>
            </a:r>
            <a:endParaRPr>
              <a:solidFill>
                <a:schemeClr val="dk1"/>
              </a:solidFill>
            </a:endParaRPr>
          </a:p>
          <a:p>
            <a:pPr marL="457200" lvl="0" indent="-342900" algn="l" rtl="0">
              <a:spcBef>
                <a:spcPts val="0"/>
              </a:spcBef>
              <a:spcAft>
                <a:spcPts val="0"/>
              </a:spcAft>
              <a:buClr>
                <a:schemeClr val="dk1"/>
              </a:buClr>
              <a:buSzPts val="1800"/>
              <a:buChar char="●"/>
            </a:pPr>
            <a:r>
              <a:rPr lang="es-419" b="1">
                <a:solidFill>
                  <a:schemeClr val="dk1"/>
                </a:solidFill>
              </a:rPr>
              <a:t>Relaciones</a:t>
            </a:r>
            <a:r>
              <a:rPr lang="es-419">
                <a:solidFill>
                  <a:schemeClr val="dk1"/>
                </a:solidFill>
              </a:rPr>
              <a:t>: se ubica entre los músculos escalenos Anterior y Medio y es acompañada por las raíces del Plexo Braquial</a:t>
            </a:r>
            <a:endParaRPr>
              <a:solidFill>
                <a:schemeClr val="dk1"/>
              </a:solidFill>
            </a:endParaRPr>
          </a:p>
        </p:txBody>
      </p:sp>
      <p:pic>
        <p:nvPicPr>
          <p:cNvPr id="4" name="Imagen 3" descr="Imagen que contiene Gráfico&#10;&#10;Descripción generada automáticamente">
            <a:extLst>
              <a:ext uri="{FF2B5EF4-FFF2-40B4-BE49-F238E27FC236}">
                <a16:creationId xmlns:a16="http://schemas.microsoft.com/office/drawing/2014/main" id="{ED28624A-1FE4-1CE9-7058-055B4D2BFFA1}"/>
              </a:ext>
            </a:extLst>
          </p:cNvPr>
          <p:cNvPicPr>
            <a:picLocks noChangeAspect="1"/>
          </p:cNvPicPr>
          <p:nvPr/>
        </p:nvPicPr>
        <p:blipFill>
          <a:blip r:embed="rId3"/>
          <a:stretch>
            <a:fillRect/>
          </a:stretch>
        </p:blipFill>
        <p:spPr>
          <a:xfrm>
            <a:off x="0" y="0"/>
            <a:ext cx="9144000" cy="5143500"/>
          </a:xfrm>
          <a:prstGeom prst="rect">
            <a:avLst/>
          </a:prstGeom>
        </p:spPr>
      </p:pic>
      <p:pic>
        <p:nvPicPr>
          <p:cNvPr id="5" name="Imagen 4" descr="Logotipo&#10;&#10;Descripción generada automáticamente">
            <a:extLst>
              <a:ext uri="{FF2B5EF4-FFF2-40B4-BE49-F238E27FC236}">
                <a16:creationId xmlns:a16="http://schemas.microsoft.com/office/drawing/2014/main" id="{627C6A64-D390-F7AE-A586-1F2F62472D6D}"/>
              </a:ext>
            </a:extLst>
          </p:cNvPr>
          <p:cNvPicPr>
            <a:picLocks noChangeAspect="1"/>
          </p:cNvPicPr>
          <p:nvPr/>
        </p:nvPicPr>
        <p:blipFill>
          <a:blip r:embed="rId4"/>
          <a:stretch>
            <a:fillRect/>
          </a:stretch>
        </p:blipFill>
        <p:spPr>
          <a:xfrm>
            <a:off x="8081470" y="0"/>
            <a:ext cx="1263805" cy="71089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17"/>
          <p:cNvPicPr preferRelativeResize="0"/>
          <p:nvPr/>
        </p:nvPicPr>
        <p:blipFill rotWithShape="1">
          <a:blip r:embed="rId3">
            <a:alphaModFix/>
          </a:blip>
          <a:srcRect l="33252" t="37816" r="35353" b="13844"/>
          <a:stretch/>
        </p:blipFill>
        <p:spPr>
          <a:xfrm>
            <a:off x="108600" y="110675"/>
            <a:ext cx="3377298" cy="2923624"/>
          </a:xfrm>
          <a:prstGeom prst="rect">
            <a:avLst/>
          </a:prstGeom>
          <a:noFill/>
          <a:ln>
            <a:noFill/>
          </a:ln>
        </p:spPr>
      </p:pic>
      <p:sp>
        <p:nvSpPr>
          <p:cNvPr id="77" name="Google Shape;77;p17"/>
          <p:cNvSpPr txBox="1"/>
          <p:nvPr/>
        </p:nvSpPr>
        <p:spPr>
          <a:xfrm>
            <a:off x="161300" y="3583425"/>
            <a:ext cx="2167500" cy="461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419" sz="900" b="1"/>
              <a:t>Escaleno Medio</a:t>
            </a:r>
            <a:r>
              <a:rPr lang="es-419" sz="900"/>
              <a:t>: -Apof Trasversas C3 a C6 -Tubérculo 1ra Costilla</a:t>
            </a:r>
            <a:endParaRPr sz="900"/>
          </a:p>
        </p:txBody>
      </p:sp>
      <p:sp>
        <p:nvSpPr>
          <p:cNvPr id="78" name="Google Shape;78;p17"/>
          <p:cNvSpPr txBox="1"/>
          <p:nvPr/>
        </p:nvSpPr>
        <p:spPr>
          <a:xfrm>
            <a:off x="161300" y="3074875"/>
            <a:ext cx="2167500" cy="461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419" sz="900" b="1"/>
              <a:t>Escaleno Anterior</a:t>
            </a:r>
            <a:r>
              <a:rPr lang="es-419" sz="900"/>
              <a:t>: -Apof Trasversa C3 a C6 -Tuberculo de Lisfranc</a:t>
            </a:r>
            <a:endParaRPr sz="900"/>
          </a:p>
        </p:txBody>
      </p:sp>
      <p:sp>
        <p:nvSpPr>
          <p:cNvPr id="79" name="Google Shape;79;p17"/>
          <p:cNvSpPr txBox="1"/>
          <p:nvPr/>
        </p:nvSpPr>
        <p:spPr>
          <a:xfrm>
            <a:off x="161300" y="4097575"/>
            <a:ext cx="2167500" cy="461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419" sz="900" b="1"/>
              <a:t>Escaleno Posterior:</a:t>
            </a:r>
            <a:r>
              <a:rPr lang="es-419" sz="900"/>
              <a:t> -Apof Trasversas C3 a C5 -Tubérculo 2da Costilla</a:t>
            </a:r>
            <a:endParaRPr sz="900"/>
          </a:p>
        </p:txBody>
      </p:sp>
      <p:sp>
        <p:nvSpPr>
          <p:cNvPr id="80" name="Google Shape;80;p17"/>
          <p:cNvSpPr txBox="1"/>
          <p:nvPr/>
        </p:nvSpPr>
        <p:spPr>
          <a:xfrm>
            <a:off x="161300" y="4611725"/>
            <a:ext cx="2167500" cy="4617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419" sz="900" b="1"/>
              <a:t>Tubérculo de Lisfranc</a:t>
            </a:r>
            <a:r>
              <a:rPr lang="es-419" sz="900"/>
              <a:t>: Tubérculo adicional presente en la 1er costilla</a:t>
            </a:r>
            <a:endParaRPr sz="900"/>
          </a:p>
        </p:txBody>
      </p:sp>
      <p:pic>
        <p:nvPicPr>
          <p:cNvPr id="81" name="Google Shape;81;p17"/>
          <p:cNvPicPr preferRelativeResize="0"/>
          <p:nvPr/>
        </p:nvPicPr>
        <p:blipFill>
          <a:blip r:embed="rId4">
            <a:alphaModFix/>
          </a:blip>
          <a:stretch>
            <a:fillRect/>
          </a:stretch>
        </p:blipFill>
        <p:spPr>
          <a:xfrm>
            <a:off x="3829848" y="717925"/>
            <a:ext cx="4191000" cy="3562350"/>
          </a:xfrm>
          <a:prstGeom prst="rect">
            <a:avLst/>
          </a:prstGeom>
          <a:noFill/>
          <a:ln>
            <a:noFill/>
          </a:ln>
        </p:spPr>
      </p:pic>
      <p:pic>
        <p:nvPicPr>
          <p:cNvPr id="8" name="Imagen 7" descr="Imagen que contiene Gráfico&#10;&#10;Descripción generada automáticamente">
            <a:extLst>
              <a:ext uri="{FF2B5EF4-FFF2-40B4-BE49-F238E27FC236}">
                <a16:creationId xmlns:a16="http://schemas.microsoft.com/office/drawing/2014/main" id="{2B91F396-0DF4-17FD-B984-6A75472F7F90}"/>
              </a:ext>
            </a:extLst>
          </p:cNvPr>
          <p:cNvPicPr>
            <a:picLocks noChangeAspect="1"/>
          </p:cNvPicPr>
          <p:nvPr/>
        </p:nvPicPr>
        <p:blipFill>
          <a:blip r:embed="rId5"/>
          <a:stretch>
            <a:fillRect/>
          </a:stretch>
        </p:blipFill>
        <p:spPr>
          <a:xfrm>
            <a:off x="0" y="0"/>
            <a:ext cx="9144000" cy="5143500"/>
          </a:xfrm>
          <a:prstGeom prst="rect">
            <a:avLst/>
          </a:prstGeom>
        </p:spPr>
      </p:pic>
      <p:pic>
        <p:nvPicPr>
          <p:cNvPr id="9" name="Imagen 8" descr="Logotipo&#10;&#10;Descripción generada automáticamente">
            <a:extLst>
              <a:ext uri="{FF2B5EF4-FFF2-40B4-BE49-F238E27FC236}">
                <a16:creationId xmlns:a16="http://schemas.microsoft.com/office/drawing/2014/main" id="{5AB30B8C-F211-B1D2-AAAD-E16F35CA8702}"/>
              </a:ext>
            </a:extLst>
          </p:cNvPr>
          <p:cNvPicPr>
            <a:picLocks noChangeAspect="1"/>
          </p:cNvPicPr>
          <p:nvPr/>
        </p:nvPicPr>
        <p:blipFill>
          <a:blip r:embed="rId6"/>
          <a:stretch>
            <a:fillRect/>
          </a:stretch>
        </p:blipFill>
        <p:spPr>
          <a:xfrm>
            <a:off x="8081470" y="0"/>
            <a:ext cx="1263805" cy="7108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8"/>
          <p:cNvPicPr preferRelativeResize="0"/>
          <p:nvPr/>
        </p:nvPicPr>
        <p:blipFill>
          <a:blip r:embed="rId3">
            <a:alphaModFix/>
          </a:blip>
          <a:stretch>
            <a:fillRect/>
          </a:stretch>
        </p:blipFill>
        <p:spPr>
          <a:xfrm>
            <a:off x="1219200" y="152400"/>
            <a:ext cx="7119496" cy="4838699"/>
          </a:xfrm>
          <a:prstGeom prst="rect">
            <a:avLst/>
          </a:prstGeom>
          <a:noFill/>
          <a:ln>
            <a:noFill/>
          </a:ln>
        </p:spPr>
      </p:pic>
      <p:pic>
        <p:nvPicPr>
          <p:cNvPr id="3" name="Imagen 2" descr="Imagen que contiene Gráfico&#10;&#10;Descripción generada automáticamente">
            <a:extLst>
              <a:ext uri="{FF2B5EF4-FFF2-40B4-BE49-F238E27FC236}">
                <a16:creationId xmlns:a16="http://schemas.microsoft.com/office/drawing/2014/main" id="{B97ED0C2-F756-97E0-EC47-2BB35C21546A}"/>
              </a:ext>
            </a:extLst>
          </p:cNvPr>
          <p:cNvPicPr>
            <a:picLocks noChangeAspect="1"/>
          </p:cNvPicPr>
          <p:nvPr/>
        </p:nvPicPr>
        <p:blipFill>
          <a:blip r:embed="rId4"/>
          <a:stretch>
            <a:fillRect/>
          </a:stretch>
        </p:blipFill>
        <p:spPr>
          <a:xfrm>
            <a:off x="0" y="0"/>
            <a:ext cx="9144000" cy="5143500"/>
          </a:xfrm>
          <a:prstGeom prst="rect">
            <a:avLst/>
          </a:prstGeom>
        </p:spPr>
      </p:pic>
      <p:pic>
        <p:nvPicPr>
          <p:cNvPr id="4" name="Imagen 3" descr="Logotipo&#10;&#10;Descripción generada automáticamente">
            <a:extLst>
              <a:ext uri="{FF2B5EF4-FFF2-40B4-BE49-F238E27FC236}">
                <a16:creationId xmlns:a16="http://schemas.microsoft.com/office/drawing/2014/main" id="{5C5C2D3E-1818-719D-916F-924B71EA5632}"/>
              </a:ext>
            </a:extLst>
          </p:cNvPr>
          <p:cNvPicPr>
            <a:picLocks noChangeAspect="1"/>
          </p:cNvPicPr>
          <p:nvPr/>
        </p:nvPicPr>
        <p:blipFill>
          <a:blip r:embed="rId5"/>
          <a:stretch>
            <a:fillRect/>
          </a:stretch>
        </p:blipFill>
        <p:spPr>
          <a:xfrm>
            <a:off x="8081470" y="0"/>
            <a:ext cx="1263805" cy="7108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b="1"/>
              <a:t>Ramas de la A. subclavia</a:t>
            </a:r>
            <a:endParaRPr b="1"/>
          </a:p>
        </p:txBody>
      </p:sp>
      <p:sp>
        <p:nvSpPr>
          <p:cNvPr id="92" name="Google Shape;92;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a:bodyPr>
          <a:lstStyle/>
          <a:p>
            <a:pPr marL="457200" lvl="0" indent="-342900" algn="l" rtl="0">
              <a:spcBef>
                <a:spcPts val="0"/>
              </a:spcBef>
              <a:spcAft>
                <a:spcPts val="0"/>
              </a:spcAft>
              <a:buClr>
                <a:schemeClr val="dk1"/>
              </a:buClr>
              <a:buSzPts val="1800"/>
              <a:buChar char="●"/>
            </a:pPr>
            <a:r>
              <a:rPr lang="es-419" b="1">
                <a:solidFill>
                  <a:schemeClr val="dk1"/>
                </a:solidFill>
              </a:rPr>
              <a:t>Rama terminal:</a:t>
            </a:r>
            <a:r>
              <a:rPr lang="es-419">
                <a:solidFill>
                  <a:schemeClr val="dk1"/>
                </a:solidFill>
              </a:rPr>
              <a:t> </a:t>
            </a:r>
            <a:r>
              <a:rPr lang="es-419" i="1">
                <a:solidFill>
                  <a:schemeClr val="dk1"/>
                </a:solidFill>
              </a:rPr>
              <a:t>A. axilar.</a:t>
            </a:r>
            <a:r>
              <a:rPr lang="es-419">
                <a:solidFill>
                  <a:schemeClr val="dk1"/>
                </a:solidFill>
              </a:rPr>
              <a:t> Principal arteria del miembro superior</a:t>
            </a:r>
            <a:endParaRPr>
              <a:solidFill>
                <a:schemeClr val="dk1"/>
              </a:solidFill>
            </a:endParaRPr>
          </a:p>
          <a:p>
            <a:pPr marL="457200" lvl="0" indent="-342900" algn="l" rtl="0">
              <a:spcBef>
                <a:spcPts val="0"/>
              </a:spcBef>
              <a:spcAft>
                <a:spcPts val="0"/>
              </a:spcAft>
              <a:buClr>
                <a:schemeClr val="dk1"/>
              </a:buClr>
              <a:buSzPts val="1800"/>
              <a:buChar char="●"/>
            </a:pPr>
            <a:r>
              <a:rPr lang="es-419" b="1">
                <a:solidFill>
                  <a:schemeClr val="dk1"/>
                </a:solidFill>
              </a:rPr>
              <a:t>Ramas colaterales: </a:t>
            </a:r>
            <a:endParaRPr b="1">
              <a:solidFill>
                <a:schemeClr val="dk1"/>
              </a:solidFill>
            </a:endParaRPr>
          </a:p>
          <a:p>
            <a:pPr marL="914400" lvl="1" indent="-317500" algn="l" rtl="0">
              <a:spcBef>
                <a:spcPts val="0"/>
              </a:spcBef>
              <a:spcAft>
                <a:spcPts val="0"/>
              </a:spcAft>
              <a:buClr>
                <a:schemeClr val="dk1"/>
              </a:buClr>
              <a:buSzPts val="1400"/>
              <a:buChar char="○"/>
            </a:pPr>
            <a:r>
              <a:rPr lang="es-419" i="1">
                <a:solidFill>
                  <a:schemeClr val="dk1"/>
                </a:solidFill>
              </a:rPr>
              <a:t>Tronco costocervical:</a:t>
            </a:r>
            <a:endParaRPr i="1">
              <a:solidFill>
                <a:schemeClr val="dk1"/>
              </a:solidFill>
            </a:endParaRPr>
          </a:p>
          <a:p>
            <a:pPr marL="1371600" lvl="2" indent="-317500" algn="l" rtl="0">
              <a:spcBef>
                <a:spcPts val="0"/>
              </a:spcBef>
              <a:spcAft>
                <a:spcPts val="0"/>
              </a:spcAft>
              <a:buClr>
                <a:schemeClr val="dk1"/>
              </a:buClr>
              <a:buSzPts val="1400"/>
              <a:buChar char="■"/>
            </a:pPr>
            <a:r>
              <a:rPr lang="es-419">
                <a:solidFill>
                  <a:schemeClr val="dk1"/>
                </a:solidFill>
              </a:rPr>
              <a:t>A. cervical profunda</a:t>
            </a:r>
            <a:endParaRPr>
              <a:solidFill>
                <a:schemeClr val="dk1"/>
              </a:solidFill>
            </a:endParaRPr>
          </a:p>
          <a:p>
            <a:pPr marL="1371600" lvl="2" indent="-317500" algn="l" rtl="0">
              <a:spcBef>
                <a:spcPts val="0"/>
              </a:spcBef>
              <a:spcAft>
                <a:spcPts val="0"/>
              </a:spcAft>
              <a:buClr>
                <a:schemeClr val="dk1"/>
              </a:buClr>
              <a:buSzPts val="1400"/>
              <a:buChar char="■"/>
            </a:pPr>
            <a:r>
              <a:rPr lang="es-419">
                <a:solidFill>
                  <a:schemeClr val="dk1"/>
                </a:solidFill>
              </a:rPr>
              <a:t>A. intercostal suprema</a:t>
            </a:r>
            <a:endParaRPr>
              <a:solidFill>
                <a:schemeClr val="dk1"/>
              </a:solidFill>
            </a:endParaRPr>
          </a:p>
          <a:p>
            <a:pPr marL="914400" lvl="1" indent="-317500" algn="l" rtl="0">
              <a:spcBef>
                <a:spcPts val="0"/>
              </a:spcBef>
              <a:spcAft>
                <a:spcPts val="0"/>
              </a:spcAft>
              <a:buClr>
                <a:schemeClr val="dk1"/>
              </a:buClr>
              <a:buSzPts val="1400"/>
              <a:buChar char="○"/>
            </a:pPr>
            <a:r>
              <a:rPr lang="es-419" i="1">
                <a:solidFill>
                  <a:schemeClr val="dk1"/>
                </a:solidFill>
              </a:rPr>
              <a:t>A. tirocervical:</a:t>
            </a:r>
            <a:endParaRPr>
              <a:solidFill>
                <a:schemeClr val="dk1"/>
              </a:solidFill>
            </a:endParaRPr>
          </a:p>
          <a:p>
            <a:pPr marL="1371600" lvl="2" indent="-317500" algn="l" rtl="0">
              <a:spcBef>
                <a:spcPts val="0"/>
              </a:spcBef>
              <a:spcAft>
                <a:spcPts val="0"/>
              </a:spcAft>
              <a:buClr>
                <a:schemeClr val="dk1"/>
              </a:buClr>
              <a:buSzPts val="1400"/>
              <a:buChar char="■"/>
            </a:pPr>
            <a:r>
              <a:rPr lang="es-419">
                <a:solidFill>
                  <a:schemeClr val="dk1"/>
                </a:solidFill>
              </a:rPr>
              <a:t>A. vertebral:</a:t>
            </a:r>
            <a:endParaRPr>
              <a:solidFill>
                <a:schemeClr val="dk1"/>
              </a:solidFill>
            </a:endParaRPr>
          </a:p>
          <a:p>
            <a:pPr marL="1371600" lvl="2" indent="-317500" algn="l" rtl="0">
              <a:spcBef>
                <a:spcPts val="0"/>
              </a:spcBef>
              <a:spcAft>
                <a:spcPts val="0"/>
              </a:spcAft>
              <a:buClr>
                <a:schemeClr val="dk1"/>
              </a:buClr>
              <a:buSzPts val="1400"/>
              <a:buChar char="■"/>
            </a:pPr>
            <a:r>
              <a:rPr lang="es-419">
                <a:solidFill>
                  <a:schemeClr val="dk1"/>
                </a:solidFill>
              </a:rPr>
              <a:t>A. torácica interna</a:t>
            </a:r>
            <a:endParaRPr>
              <a:solidFill>
                <a:schemeClr val="dk1"/>
              </a:solidFill>
            </a:endParaRPr>
          </a:p>
          <a:p>
            <a:pPr marL="1371600" lvl="2" indent="-317500" algn="l" rtl="0">
              <a:spcBef>
                <a:spcPts val="0"/>
              </a:spcBef>
              <a:spcAft>
                <a:spcPts val="0"/>
              </a:spcAft>
              <a:buClr>
                <a:schemeClr val="dk1"/>
              </a:buClr>
              <a:buSzPts val="1400"/>
              <a:buChar char="■"/>
            </a:pPr>
            <a:r>
              <a:rPr lang="es-419">
                <a:solidFill>
                  <a:schemeClr val="dk1"/>
                </a:solidFill>
              </a:rPr>
              <a:t>A. tiroidea inferior</a:t>
            </a:r>
            <a:endParaRPr>
              <a:solidFill>
                <a:schemeClr val="dk1"/>
              </a:solidFill>
            </a:endParaRPr>
          </a:p>
          <a:p>
            <a:pPr marL="1371600" lvl="2" indent="-317500" algn="l" rtl="0">
              <a:spcBef>
                <a:spcPts val="0"/>
              </a:spcBef>
              <a:spcAft>
                <a:spcPts val="0"/>
              </a:spcAft>
              <a:buClr>
                <a:schemeClr val="dk1"/>
              </a:buClr>
              <a:buSzPts val="1400"/>
              <a:buChar char="■"/>
            </a:pPr>
            <a:r>
              <a:rPr lang="es-419">
                <a:solidFill>
                  <a:schemeClr val="dk1"/>
                </a:solidFill>
              </a:rPr>
              <a:t>A. cervical ascendente</a:t>
            </a:r>
            <a:endParaRPr>
              <a:solidFill>
                <a:schemeClr val="dk1"/>
              </a:solidFill>
            </a:endParaRPr>
          </a:p>
          <a:p>
            <a:pPr marL="1371600" lvl="2" indent="-317500" algn="l" rtl="0">
              <a:spcBef>
                <a:spcPts val="0"/>
              </a:spcBef>
              <a:spcAft>
                <a:spcPts val="0"/>
              </a:spcAft>
              <a:buClr>
                <a:schemeClr val="dk1"/>
              </a:buClr>
              <a:buSzPts val="1400"/>
              <a:buChar char="■"/>
            </a:pPr>
            <a:r>
              <a:rPr lang="es-419">
                <a:solidFill>
                  <a:schemeClr val="dk1"/>
                </a:solidFill>
              </a:rPr>
              <a:t>A. transversa del cuello</a:t>
            </a:r>
            <a:endParaRPr>
              <a:solidFill>
                <a:schemeClr val="dk1"/>
              </a:solidFill>
            </a:endParaRPr>
          </a:p>
          <a:p>
            <a:pPr marL="1371600" lvl="2" indent="-317500" algn="l" rtl="0">
              <a:spcBef>
                <a:spcPts val="0"/>
              </a:spcBef>
              <a:spcAft>
                <a:spcPts val="0"/>
              </a:spcAft>
              <a:buClr>
                <a:schemeClr val="dk1"/>
              </a:buClr>
              <a:buSzPts val="1400"/>
              <a:buChar char="■"/>
            </a:pPr>
            <a:r>
              <a:rPr lang="es-419">
                <a:solidFill>
                  <a:schemeClr val="dk1"/>
                </a:solidFill>
              </a:rPr>
              <a:t>A. supraescapular</a:t>
            </a:r>
            <a:endParaRPr>
              <a:solidFill>
                <a:schemeClr val="dk1"/>
              </a:solidFill>
            </a:endParaRPr>
          </a:p>
          <a:p>
            <a:pPr marL="1371600" lvl="2" indent="-317500" algn="l" rtl="0">
              <a:spcBef>
                <a:spcPts val="0"/>
              </a:spcBef>
              <a:spcAft>
                <a:spcPts val="0"/>
              </a:spcAft>
              <a:buClr>
                <a:schemeClr val="dk1"/>
              </a:buClr>
              <a:buSzPts val="1400"/>
              <a:buChar char="■"/>
            </a:pPr>
            <a:r>
              <a:rPr lang="es-419">
                <a:solidFill>
                  <a:schemeClr val="dk1"/>
                </a:solidFill>
              </a:rPr>
              <a:t>A. cervical profunda</a:t>
            </a:r>
            <a:endParaRPr>
              <a:solidFill>
                <a:schemeClr val="dk1"/>
              </a:solidFill>
            </a:endParaRPr>
          </a:p>
          <a:p>
            <a:pPr marL="1371600" lvl="2" indent="-317500" algn="l" rtl="0">
              <a:spcBef>
                <a:spcPts val="0"/>
              </a:spcBef>
              <a:spcAft>
                <a:spcPts val="0"/>
              </a:spcAft>
              <a:buClr>
                <a:schemeClr val="dk1"/>
              </a:buClr>
              <a:buSzPts val="1400"/>
              <a:buChar char="■"/>
            </a:pPr>
            <a:r>
              <a:rPr lang="es-419">
                <a:solidFill>
                  <a:schemeClr val="dk1"/>
                </a:solidFill>
              </a:rPr>
              <a:t>A. intercostal suprema</a:t>
            </a:r>
            <a:endParaRPr>
              <a:solidFill>
                <a:schemeClr val="dk1"/>
              </a:solidFill>
            </a:endParaRPr>
          </a:p>
        </p:txBody>
      </p:sp>
      <p:pic>
        <p:nvPicPr>
          <p:cNvPr id="4" name="Imagen 3" descr="Imagen que contiene Gráfico&#10;&#10;Descripción generada automáticamente">
            <a:extLst>
              <a:ext uri="{FF2B5EF4-FFF2-40B4-BE49-F238E27FC236}">
                <a16:creationId xmlns:a16="http://schemas.microsoft.com/office/drawing/2014/main" id="{88BE8EAD-7A8A-39DD-1ABD-A6C3B1C9128F}"/>
              </a:ext>
            </a:extLst>
          </p:cNvPr>
          <p:cNvPicPr>
            <a:picLocks noChangeAspect="1"/>
          </p:cNvPicPr>
          <p:nvPr/>
        </p:nvPicPr>
        <p:blipFill>
          <a:blip r:embed="rId3"/>
          <a:stretch>
            <a:fillRect/>
          </a:stretch>
        </p:blipFill>
        <p:spPr>
          <a:xfrm>
            <a:off x="0" y="0"/>
            <a:ext cx="9144000" cy="5143500"/>
          </a:xfrm>
          <a:prstGeom prst="rect">
            <a:avLst/>
          </a:prstGeom>
        </p:spPr>
      </p:pic>
      <p:pic>
        <p:nvPicPr>
          <p:cNvPr id="5" name="Imagen 4" descr="Logotipo&#10;&#10;Descripción generada automáticamente">
            <a:extLst>
              <a:ext uri="{FF2B5EF4-FFF2-40B4-BE49-F238E27FC236}">
                <a16:creationId xmlns:a16="http://schemas.microsoft.com/office/drawing/2014/main" id="{6595FE43-27DC-7E24-9EEE-AA72C6A26A12}"/>
              </a:ext>
            </a:extLst>
          </p:cNvPr>
          <p:cNvPicPr>
            <a:picLocks noChangeAspect="1"/>
          </p:cNvPicPr>
          <p:nvPr/>
        </p:nvPicPr>
        <p:blipFill>
          <a:blip r:embed="rId4"/>
          <a:stretch>
            <a:fillRect/>
          </a:stretch>
        </p:blipFill>
        <p:spPr>
          <a:xfrm>
            <a:off x="8081470" y="0"/>
            <a:ext cx="1263805" cy="7108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b="1">
                <a:highlight>
                  <a:srgbClr val="F4CCCC"/>
                </a:highlight>
              </a:rPr>
              <a:t>Arteria axilar </a:t>
            </a:r>
            <a:endParaRPr b="1">
              <a:highlight>
                <a:srgbClr val="F4CCCC"/>
              </a:highlight>
            </a:endParaRPr>
          </a:p>
        </p:txBody>
      </p:sp>
      <p:sp>
        <p:nvSpPr>
          <p:cNvPr id="98" name="Google Shape;98;p20"/>
          <p:cNvSpPr txBox="1">
            <a:spLocks noGrp="1"/>
          </p:cNvSpPr>
          <p:nvPr>
            <p:ph type="body" idx="1"/>
          </p:nvPr>
        </p:nvSpPr>
        <p:spPr>
          <a:xfrm>
            <a:off x="311700" y="1152475"/>
            <a:ext cx="5283600" cy="3753300"/>
          </a:xfrm>
          <a:prstGeom prst="rect">
            <a:avLst/>
          </a:prstGeom>
        </p:spPr>
        <p:txBody>
          <a:bodyPr spcFirstLastPara="1" wrap="square" lIns="91425" tIns="91425" rIns="91425" bIns="91425" anchor="t" anchorCtr="0">
            <a:normAutofit fontScale="92500" lnSpcReduction="10000"/>
          </a:bodyPr>
          <a:lstStyle/>
          <a:p>
            <a:pPr marL="457200" lvl="0" indent="-302409" algn="l" rtl="0">
              <a:spcBef>
                <a:spcPts val="0"/>
              </a:spcBef>
              <a:spcAft>
                <a:spcPts val="0"/>
              </a:spcAft>
              <a:buClr>
                <a:schemeClr val="dk1"/>
              </a:buClr>
              <a:buSzPct val="100000"/>
              <a:buChar char="●"/>
            </a:pPr>
            <a:r>
              <a:rPr lang="es-419" sz="1256" b="1">
                <a:solidFill>
                  <a:schemeClr val="dk1"/>
                </a:solidFill>
              </a:rPr>
              <a:t>Origen</a:t>
            </a:r>
            <a:r>
              <a:rPr lang="es-419" sz="1256">
                <a:solidFill>
                  <a:schemeClr val="dk1"/>
                </a:solidFill>
              </a:rPr>
              <a:t>: Nace cuando la subclavia pasa la línea Hemiclavicular (Mitad de la clavícula)</a:t>
            </a:r>
            <a:endParaRPr sz="1256">
              <a:solidFill>
                <a:schemeClr val="dk1"/>
              </a:solidFill>
            </a:endParaRPr>
          </a:p>
          <a:p>
            <a:pPr marL="457200" lvl="0" indent="-302409" algn="l" rtl="0">
              <a:spcBef>
                <a:spcPts val="0"/>
              </a:spcBef>
              <a:spcAft>
                <a:spcPts val="0"/>
              </a:spcAft>
              <a:buClr>
                <a:schemeClr val="dk1"/>
              </a:buClr>
              <a:buSzPct val="100000"/>
              <a:buChar char="●"/>
            </a:pPr>
            <a:r>
              <a:rPr lang="es-419" sz="1256" b="1">
                <a:solidFill>
                  <a:schemeClr val="dk1"/>
                </a:solidFill>
              </a:rPr>
              <a:t>Trayecto</a:t>
            </a:r>
            <a:r>
              <a:rPr lang="es-419" sz="1256">
                <a:solidFill>
                  <a:schemeClr val="dk1"/>
                </a:solidFill>
              </a:rPr>
              <a:t>: Se coloca entre las raíces posteriores y anteriores del plexo braquial. Se encuentra en la profundidad de los planos musculares lo que dificulta palparla. En toda su extensión la arteria axilar está acompañada por la vena axilar. Termina en el borde inferior del músculo pectoral mayor, donde se continúa con la arteria braquial o humeral </a:t>
            </a:r>
            <a:endParaRPr sz="1256">
              <a:solidFill>
                <a:schemeClr val="dk1"/>
              </a:solidFill>
            </a:endParaRPr>
          </a:p>
          <a:p>
            <a:pPr marL="457200" lvl="0" indent="-302409" algn="l" rtl="0">
              <a:spcBef>
                <a:spcPts val="0"/>
              </a:spcBef>
              <a:spcAft>
                <a:spcPts val="0"/>
              </a:spcAft>
              <a:buClr>
                <a:schemeClr val="dk1"/>
              </a:buClr>
              <a:buSzPct val="100000"/>
              <a:buChar char="●"/>
            </a:pPr>
            <a:r>
              <a:rPr lang="es-419" sz="1256" b="1">
                <a:solidFill>
                  <a:schemeClr val="dk1"/>
                </a:solidFill>
              </a:rPr>
              <a:t>Relaciones: ingresa en la fosa axilar por su vértice, limitado hacia delante por la clavícula y el músculo subclavio, hacia medial por la primera costilla y el músculo serrato anterior, hacia posterior por el borde superior de la escápula y hacia lateral por la apófisis coracoides y el ligamento conoideo. </a:t>
            </a:r>
            <a:endParaRPr sz="1256" b="1">
              <a:solidFill>
                <a:schemeClr val="dk1"/>
              </a:solidFill>
            </a:endParaRPr>
          </a:p>
          <a:p>
            <a:pPr marL="457200" lvl="0" indent="0" algn="l" rtl="0">
              <a:spcBef>
                <a:spcPts val="1200"/>
              </a:spcBef>
              <a:spcAft>
                <a:spcPts val="0"/>
              </a:spcAft>
              <a:buNone/>
            </a:pPr>
            <a:r>
              <a:rPr lang="es-419" sz="1256">
                <a:solidFill>
                  <a:schemeClr val="dk1"/>
                </a:solidFill>
              </a:rPr>
              <a:t>Por su oblicuidad, las relaciones con la pared anterior y medial son las más estrechas; se relaciona con los músculos que componen la pared anterior de la fosa axilar: el músculo subclavio, el músculo pectoral menor y la fascia clavipectoral que los envuelve</a:t>
            </a:r>
            <a:endParaRPr sz="1256">
              <a:solidFill>
                <a:schemeClr val="dk1"/>
              </a:solidFill>
            </a:endParaRPr>
          </a:p>
          <a:p>
            <a:pPr marL="0" lvl="0" indent="0" algn="l" rtl="0">
              <a:spcBef>
                <a:spcPts val="1200"/>
              </a:spcBef>
              <a:spcAft>
                <a:spcPts val="1200"/>
              </a:spcAft>
              <a:buNone/>
            </a:pPr>
            <a:endParaRPr/>
          </a:p>
        </p:txBody>
      </p:sp>
      <p:pic>
        <p:nvPicPr>
          <p:cNvPr id="99" name="Google Shape;99;p20"/>
          <p:cNvPicPr preferRelativeResize="0"/>
          <p:nvPr/>
        </p:nvPicPr>
        <p:blipFill>
          <a:blip r:embed="rId3">
            <a:alphaModFix/>
          </a:blip>
          <a:stretch>
            <a:fillRect/>
          </a:stretch>
        </p:blipFill>
        <p:spPr>
          <a:xfrm>
            <a:off x="5652275" y="1283225"/>
            <a:ext cx="3298999" cy="2898101"/>
          </a:xfrm>
          <a:prstGeom prst="rect">
            <a:avLst/>
          </a:prstGeom>
          <a:noFill/>
          <a:ln>
            <a:noFill/>
          </a:ln>
        </p:spPr>
      </p:pic>
      <p:pic>
        <p:nvPicPr>
          <p:cNvPr id="5" name="Imagen 4" descr="Imagen que contiene Gráfico&#10;&#10;Descripción generada automáticamente">
            <a:extLst>
              <a:ext uri="{FF2B5EF4-FFF2-40B4-BE49-F238E27FC236}">
                <a16:creationId xmlns:a16="http://schemas.microsoft.com/office/drawing/2014/main" id="{C9589076-5702-3C62-F99B-27DFB96FBE82}"/>
              </a:ext>
            </a:extLst>
          </p:cNvPr>
          <p:cNvPicPr>
            <a:picLocks noChangeAspect="1"/>
          </p:cNvPicPr>
          <p:nvPr/>
        </p:nvPicPr>
        <p:blipFill>
          <a:blip r:embed="rId4"/>
          <a:stretch>
            <a:fillRect/>
          </a:stretch>
        </p:blipFill>
        <p:spPr>
          <a:xfrm>
            <a:off x="0" y="0"/>
            <a:ext cx="9144000" cy="5143500"/>
          </a:xfrm>
          <a:prstGeom prst="rect">
            <a:avLst/>
          </a:prstGeom>
        </p:spPr>
      </p:pic>
      <p:pic>
        <p:nvPicPr>
          <p:cNvPr id="6" name="Imagen 5" descr="Logotipo&#10;&#10;Descripción generada automáticamente">
            <a:extLst>
              <a:ext uri="{FF2B5EF4-FFF2-40B4-BE49-F238E27FC236}">
                <a16:creationId xmlns:a16="http://schemas.microsoft.com/office/drawing/2014/main" id="{1C997E5E-D016-B9A1-FD58-EB201723BB9C}"/>
              </a:ext>
            </a:extLst>
          </p:cNvPr>
          <p:cNvPicPr>
            <a:picLocks noChangeAspect="1"/>
          </p:cNvPicPr>
          <p:nvPr/>
        </p:nvPicPr>
        <p:blipFill>
          <a:blip r:embed="rId5"/>
          <a:stretch>
            <a:fillRect/>
          </a:stretch>
        </p:blipFill>
        <p:spPr>
          <a:xfrm>
            <a:off x="8081470" y="0"/>
            <a:ext cx="1263805" cy="71089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21"/>
          <p:cNvPicPr preferRelativeResize="0"/>
          <p:nvPr/>
        </p:nvPicPr>
        <p:blipFill rotWithShape="1">
          <a:blip r:embed="rId3">
            <a:alphaModFix/>
          </a:blip>
          <a:srcRect l="29154" t="23438" r="30665" b="24890"/>
          <a:stretch/>
        </p:blipFill>
        <p:spPr>
          <a:xfrm>
            <a:off x="1772925" y="364875"/>
            <a:ext cx="5911075" cy="4273876"/>
          </a:xfrm>
          <a:prstGeom prst="rect">
            <a:avLst/>
          </a:prstGeom>
          <a:noFill/>
          <a:ln>
            <a:noFill/>
          </a:ln>
        </p:spPr>
      </p:pic>
      <p:pic>
        <p:nvPicPr>
          <p:cNvPr id="3" name="Imagen 2" descr="Imagen que contiene Gráfico&#10;&#10;Descripción generada automáticamente">
            <a:extLst>
              <a:ext uri="{FF2B5EF4-FFF2-40B4-BE49-F238E27FC236}">
                <a16:creationId xmlns:a16="http://schemas.microsoft.com/office/drawing/2014/main" id="{8803DC26-08C6-E663-520E-63212C973A6F}"/>
              </a:ext>
            </a:extLst>
          </p:cNvPr>
          <p:cNvPicPr>
            <a:picLocks noChangeAspect="1"/>
          </p:cNvPicPr>
          <p:nvPr/>
        </p:nvPicPr>
        <p:blipFill>
          <a:blip r:embed="rId4"/>
          <a:stretch>
            <a:fillRect/>
          </a:stretch>
        </p:blipFill>
        <p:spPr>
          <a:xfrm>
            <a:off x="0" y="0"/>
            <a:ext cx="9144000" cy="5143500"/>
          </a:xfrm>
          <a:prstGeom prst="rect">
            <a:avLst/>
          </a:prstGeom>
        </p:spPr>
      </p:pic>
      <p:pic>
        <p:nvPicPr>
          <p:cNvPr id="4" name="Imagen 3" descr="Logotipo&#10;&#10;Descripción generada automáticamente">
            <a:extLst>
              <a:ext uri="{FF2B5EF4-FFF2-40B4-BE49-F238E27FC236}">
                <a16:creationId xmlns:a16="http://schemas.microsoft.com/office/drawing/2014/main" id="{212095B3-FFC4-6085-2364-63BE861015A8}"/>
              </a:ext>
            </a:extLst>
          </p:cNvPr>
          <p:cNvPicPr>
            <a:picLocks noChangeAspect="1"/>
          </p:cNvPicPr>
          <p:nvPr/>
        </p:nvPicPr>
        <p:blipFill>
          <a:blip r:embed="rId5"/>
          <a:stretch>
            <a:fillRect/>
          </a:stretch>
        </p:blipFill>
        <p:spPr>
          <a:xfrm>
            <a:off x="8081470" y="0"/>
            <a:ext cx="1263805" cy="7108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b="1"/>
              <a:t>Ramas de la arteria axilar </a:t>
            </a:r>
            <a:endParaRPr b="1"/>
          </a:p>
        </p:txBody>
      </p:sp>
      <p:sp>
        <p:nvSpPr>
          <p:cNvPr id="110" name="Google Shape;110;p22"/>
          <p:cNvSpPr txBox="1">
            <a:spLocks noGrp="1"/>
          </p:cNvSpPr>
          <p:nvPr>
            <p:ph type="body" idx="1"/>
          </p:nvPr>
        </p:nvSpPr>
        <p:spPr>
          <a:xfrm>
            <a:off x="311700" y="1152475"/>
            <a:ext cx="6048300" cy="3690300"/>
          </a:xfrm>
          <a:prstGeom prst="rect">
            <a:avLst/>
          </a:prstGeom>
        </p:spPr>
        <p:txBody>
          <a:bodyPr spcFirstLastPara="1" wrap="square" lIns="91425" tIns="91425" rIns="91425" bIns="91425" anchor="t" anchorCtr="0">
            <a:normAutofit fontScale="77500" lnSpcReduction="20000"/>
          </a:bodyPr>
          <a:lstStyle/>
          <a:p>
            <a:pPr marL="457200" lvl="0" indent="-317182" algn="l" rtl="0">
              <a:spcBef>
                <a:spcPts val="0"/>
              </a:spcBef>
              <a:spcAft>
                <a:spcPts val="0"/>
              </a:spcAft>
              <a:buClr>
                <a:schemeClr val="dk1"/>
              </a:buClr>
              <a:buSzPct val="100000"/>
              <a:buChar char="●"/>
            </a:pPr>
            <a:r>
              <a:rPr lang="es-419" b="1">
                <a:solidFill>
                  <a:schemeClr val="dk1"/>
                </a:solidFill>
              </a:rPr>
              <a:t>Ramas colaterales:</a:t>
            </a:r>
            <a:endParaRPr b="1">
              <a:solidFill>
                <a:schemeClr val="dk1"/>
              </a:solidFill>
            </a:endParaRPr>
          </a:p>
          <a:p>
            <a:pPr marL="914400" lvl="1" indent="-297497" algn="l" rtl="0">
              <a:spcBef>
                <a:spcPts val="0"/>
              </a:spcBef>
              <a:spcAft>
                <a:spcPts val="0"/>
              </a:spcAft>
              <a:buClr>
                <a:schemeClr val="dk1"/>
              </a:buClr>
              <a:buSzPct val="100000"/>
              <a:buChar char="○"/>
            </a:pPr>
            <a:r>
              <a:rPr lang="es-419" i="1">
                <a:solidFill>
                  <a:schemeClr val="dk1"/>
                </a:solidFill>
              </a:rPr>
              <a:t>A. toracoacromial [acromiotorácica]:</a:t>
            </a:r>
            <a:r>
              <a:rPr lang="es-419">
                <a:solidFill>
                  <a:schemeClr val="dk1"/>
                </a:solidFill>
              </a:rPr>
              <a:t>se origina en la cara anterior  a nivel del músculo pectoral menor, perfora la fascia clavipectoral para dividirse en dos ramas: una rama pectoral, (músculos pectorales y a la glándula mamaria), y una rama acromial (músculo deltoides y la articulación acromioclavicular)</a:t>
            </a:r>
            <a:endParaRPr>
              <a:solidFill>
                <a:schemeClr val="dk1"/>
              </a:solidFill>
            </a:endParaRPr>
          </a:p>
          <a:p>
            <a:pPr marL="914400" lvl="1" indent="-297497" algn="l" rtl="0">
              <a:spcBef>
                <a:spcPts val="0"/>
              </a:spcBef>
              <a:spcAft>
                <a:spcPts val="0"/>
              </a:spcAft>
              <a:buClr>
                <a:schemeClr val="dk1"/>
              </a:buClr>
              <a:buSzPct val="100000"/>
              <a:buChar char="○"/>
            </a:pPr>
            <a:r>
              <a:rPr lang="es-419" i="1">
                <a:solidFill>
                  <a:schemeClr val="dk1"/>
                </a:solidFill>
              </a:rPr>
              <a:t>A. torácica lateral [mamaria externa]</a:t>
            </a:r>
            <a:r>
              <a:rPr lang="es-419">
                <a:solidFill>
                  <a:schemeClr val="dk1"/>
                </a:solidFill>
              </a:rPr>
              <a:t>: nace de la cara lateral, posterior al músculo pectoral menor, y sigue la pared int de la fosa axilar para irrigar músculos pectorales, intercostales, serrato anterior y la glándula mamaria y piel de la región</a:t>
            </a:r>
            <a:endParaRPr>
              <a:solidFill>
                <a:schemeClr val="dk1"/>
              </a:solidFill>
            </a:endParaRPr>
          </a:p>
          <a:p>
            <a:pPr marL="914400" lvl="1" indent="-297497" algn="l" rtl="0">
              <a:spcBef>
                <a:spcPts val="0"/>
              </a:spcBef>
              <a:spcAft>
                <a:spcPts val="0"/>
              </a:spcAft>
              <a:buClr>
                <a:schemeClr val="dk1"/>
              </a:buClr>
              <a:buSzPct val="100000"/>
              <a:buChar char="○"/>
            </a:pPr>
            <a:r>
              <a:rPr lang="es-419" i="1">
                <a:solidFill>
                  <a:schemeClr val="dk1"/>
                </a:solidFill>
              </a:rPr>
              <a:t>A. subescapular [escapular inferior]:</a:t>
            </a:r>
            <a:r>
              <a:rPr lang="es-419">
                <a:solidFill>
                  <a:schemeClr val="dk1"/>
                </a:solidFill>
              </a:rPr>
              <a:t> nace de la cara medial a nivel del borde inferior del m. subescapular y se divide en 2 ramas: la </a:t>
            </a:r>
            <a:r>
              <a:rPr lang="es-419" i="1">
                <a:solidFill>
                  <a:schemeClr val="dk1"/>
                </a:solidFill>
              </a:rPr>
              <a:t>arteria toracodorsal</a:t>
            </a:r>
            <a:r>
              <a:rPr lang="es-419">
                <a:solidFill>
                  <a:schemeClr val="dk1"/>
                </a:solidFill>
              </a:rPr>
              <a:t> y la </a:t>
            </a:r>
            <a:r>
              <a:rPr lang="es-419" i="1">
                <a:solidFill>
                  <a:schemeClr val="dk1"/>
                </a:solidFill>
              </a:rPr>
              <a:t>arteria circunfleja escapular</a:t>
            </a:r>
            <a:r>
              <a:rPr lang="es-419">
                <a:solidFill>
                  <a:schemeClr val="dk1"/>
                </a:solidFill>
              </a:rPr>
              <a:t>, para irrigar los músculos subescapular, dorsal ancho y redondo mayor</a:t>
            </a:r>
            <a:endParaRPr>
              <a:solidFill>
                <a:schemeClr val="dk1"/>
              </a:solidFill>
            </a:endParaRPr>
          </a:p>
          <a:p>
            <a:pPr marL="914400" lvl="1" indent="-297497" algn="l" rtl="0">
              <a:spcBef>
                <a:spcPts val="0"/>
              </a:spcBef>
              <a:spcAft>
                <a:spcPts val="0"/>
              </a:spcAft>
              <a:buClr>
                <a:schemeClr val="dk1"/>
              </a:buClr>
              <a:buSzPct val="100000"/>
              <a:buChar char="○"/>
            </a:pPr>
            <a:r>
              <a:rPr lang="es-419" i="1">
                <a:solidFill>
                  <a:schemeClr val="dk1"/>
                </a:solidFill>
              </a:rPr>
              <a:t>A. circunfleja humeral anterior:</a:t>
            </a:r>
            <a:r>
              <a:rPr lang="es-419">
                <a:solidFill>
                  <a:schemeClr val="dk1"/>
                </a:solidFill>
              </a:rPr>
              <a:t> se origina en la cara lateral  y se extiende por la parte anterior el cuello quirúrgico del húmero dividiéndose a nivel del surco intertubercular para irrigar la articulación del hombro y el músculo deltoides. Finalmente se anastomosa con la </a:t>
            </a:r>
            <a:r>
              <a:rPr lang="es-419" i="1">
                <a:solidFill>
                  <a:schemeClr val="dk1"/>
                </a:solidFill>
              </a:rPr>
              <a:t>arteria circunfleja humeral posterior</a:t>
            </a:r>
            <a:endParaRPr i="1">
              <a:solidFill>
                <a:schemeClr val="dk1"/>
              </a:solidFill>
            </a:endParaRPr>
          </a:p>
          <a:p>
            <a:pPr marL="914400" lvl="1" indent="-297497" algn="l" rtl="0">
              <a:spcBef>
                <a:spcPts val="0"/>
              </a:spcBef>
              <a:spcAft>
                <a:spcPts val="0"/>
              </a:spcAft>
              <a:buClr>
                <a:schemeClr val="dk1"/>
              </a:buClr>
              <a:buSzPct val="100000"/>
              <a:buChar char="○"/>
            </a:pPr>
            <a:r>
              <a:rPr lang="es-419" i="1">
                <a:solidFill>
                  <a:schemeClr val="dk1"/>
                </a:solidFill>
              </a:rPr>
              <a:t>A. circunfleja humeral posterior:</a:t>
            </a:r>
            <a:r>
              <a:rPr lang="es-419">
                <a:solidFill>
                  <a:schemeClr val="dk1"/>
                </a:solidFill>
              </a:rPr>
              <a:t> nace de la cara posterior, atraviesa el espacio axilar lateral y después de irrigar el músculo deltoides se anastomosa con la precedente.</a:t>
            </a:r>
            <a:endParaRPr>
              <a:solidFill>
                <a:schemeClr val="dk1"/>
              </a:solidFill>
            </a:endParaRPr>
          </a:p>
        </p:txBody>
      </p:sp>
      <p:pic>
        <p:nvPicPr>
          <p:cNvPr id="111" name="Google Shape;111;p22"/>
          <p:cNvPicPr preferRelativeResize="0"/>
          <p:nvPr/>
        </p:nvPicPr>
        <p:blipFill rotWithShape="1">
          <a:blip r:embed="rId3">
            <a:alphaModFix/>
          </a:blip>
          <a:srcRect l="49445" t="36234" r="31280" b="20727"/>
          <a:stretch/>
        </p:blipFill>
        <p:spPr>
          <a:xfrm>
            <a:off x="6360000" y="956200"/>
            <a:ext cx="2691502" cy="3379000"/>
          </a:xfrm>
          <a:prstGeom prst="rect">
            <a:avLst/>
          </a:prstGeom>
          <a:noFill/>
          <a:ln>
            <a:noFill/>
          </a:ln>
        </p:spPr>
      </p:pic>
      <p:pic>
        <p:nvPicPr>
          <p:cNvPr id="5" name="Imagen 4" descr="Imagen que contiene Gráfico&#10;&#10;Descripción generada automáticamente">
            <a:extLst>
              <a:ext uri="{FF2B5EF4-FFF2-40B4-BE49-F238E27FC236}">
                <a16:creationId xmlns:a16="http://schemas.microsoft.com/office/drawing/2014/main" id="{3479F9D6-9AEA-A05F-1685-7A494067EEA5}"/>
              </a:ext>
            </a:extLst>
          </p:cNvPr>
          <p:cNvPicPr>
            <a:picLocks noChangeAspect="1"/>
          </p:cNvPicPr>
          <p:nvPr/>
        </p:nvPicPr>
        <p:blipFill>
          <a:blip r:embed="rId4"/>
          <a:stretch>
            <a:fillRect/>
          </a:stretch>
        </p:blipFill>
        <p:spPr>
          <a:xfrm>
            <a:off x="0" y="0"/>
            <a:ext cx="9144000" cy="5143500"/>
          </a:xfrm>
          <a:prstGeom prst="rect">
            <a:avLst/>
          </a:prstGeom>
        </p:spPr>
      </p:pic>
      <p:pic>
        <p:nvPicPr>
          <p:cNvPr id="6" name="Imagen 5" descr="Logotipo&#10;&#10;Descripción generada automáticamente">
            <a:extLst>
              <a:ext uri="{FF2B5EF4-FFF2-40B4-BE49-F238E27FC236}">
                <a16:creationId xmlns:a16="http://schemas.microsoft.com/office/drawing/2014/main" id="{8B7A7048-7493-1DA6-BADA-37F75D5A7075}"/>
              </a:ext>
            </a:extLst>
          </p:cNvPr>
          <p:cNvPicPr>
            <a:picLocks noChangeAspect="1"/>
          </p:cNvPicPr>
          <p:nvPr/>
        </p:nvPicPr>
        <p:blipFill>
          <a:blip r:embed="rId5"/>
          <a:stretch>
            <a:fillRect/>
          </a:stretch>
        </p:blipFill>
        <p:spPr>
          <a:xfrm>
            <a:off x="8081470" y="0"/>
            <a:ext cx="1263805" cy="7108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3"/>
          <p:cNvPicPr preferRelativeResize="0"/>
          <p:nvPr/>
        </p:nvPicPr>
        <p:blipFill rotWithShape="1">
          <a:blip r:embed="rId3">
            <a:alphaModFix/>
          </a:blip>
          <a:srcRect l="31284" t="19537" r="32657" b="5835"/>
          <a:stretch/>
        </p:blipFill>
        <p:spPr>
          <a:xfrm>
            <a:off x="2413825" y="250450"/>
            <a:ext cx="4003702" cy="4658600"/>
          </a:xfrm>
          <a:prstGeom prst="rect">
            <a:avLst/>
          </a:prstGeom>
          <a:noFill/>
          <a:ln>
            <a:noFill/>
          </a:ln>
        </p:spPr>
      </p:pic>
      <p:pic>
        <p:nvPicPr>
          <p:cNvPr id="3" name="Imagen 2" descr="Imagen que contiene Gráfico&#10;&#10;Descripción generada automáticamente">
            <a:extLst>
              <a:ext uri="{FF2B5EF4-FFF2-40B4-BE49-F238E27FC236}">
                <a16:creationId xmlns:a16="http://schemas.microsoft.com/office/drawing/2014/main" id="{A33BA299-F19E-DA85-8065-D702CF456810}"/>
              </a:ext>
            </a:extLst>
          </p:cNvPr>
          <p:cNvPicPr>
            <a:picLocks noChangeAspect="1"/>
          </p:cNvPicPr>
          <p:nvPr/>
        </p:nvPicPr>
        <p:blipFill>
          <a:blip r:embed="rId4"/>
          <a:stretch>
            <a:fillRect/>
          </a:stretch>
        </p:blipFill>
        <p:spPr>
          <a:xfrm>
            <a:off x="0" y="0"/>
            <a:ext cx="9144000" cy="5143500"/>
          </a:xfrm>
          <a:prstGeom prst="rect">
            <a:avLst/>
          </a:prstGeom>
        </p:spPr>
      </p:pic>
      <p:pic>
        <p:nvPicPr>
          <p:cNvPr id="4" name="Imagen 3" descr="Logotipo&#10;&#10;Descripción generada automáticamente">
            <a:extLst>
              <a:ext uri="{FF2B5EF4-FFF2-40B4-BE49-F238E27FC236}">
                <a16:creationId xmlns:a16="http://schemas.microsoft.com/office/drawing/2014/main" id="{9831E0FE-2D36-EE69-AE4D-E0C44A59FE7F}"/>
              </a:ext>
            </a:extLst>
          </p:cNvPr>
          <p:cNvPicPr>
            <a:picLocks noChangeAspect="1"/>
          </p:cNvPicPr>
          <p:nvPr/>
        </p:nvPicPr>
        <p:blipFill>
          <a:blip r:embed="rId5"/>
          <a:stretch>
            <a:fillRect/>
          </a:stretch>
        </p:blipFill>
        <p:spPr>
          <a:xfrm>
            <a:off x="8081470" y="0"/>
            <a:ext cx="1263805" cy="7108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b="1"/>
              <a:t>TOPOGRAFÍA</a:t>
            </a:r>
            <a:endParaRPr b="1"/>
          </a:p>
        </p:txBody>
      </p:sp>
      <p:sp>
        <p:nvSpPr>
          <p:cNvPr id="122" name="Google Shape;122;p24"/>
          <p:cNvSpPr txBox="1">
            <a:spLocks noGrp="1"/>
          </p:cNvSpPr>
          <p:nvPr>
            <p:ph type="body" idx="1"/>
          </p:nvPr>
        </p:nvSpPr>
        <p:spPr>
          <a:xfrm>
            <a:off x="311700" y="1152475"/>
            <a:ext cx="6039600" cy="3743400"/>
          </a:xfrm>
          <a:prstGeom prst="rect">
            <a:avLst/>
          </a:prstGeom>
        </p:spPr>
        <p:txBody>
          <a:bodyPr spcFirstLastPara="1" wrap="square" lIns="91425" tIns="91425" rIns="91425" bIns="91425" anchor="t" anchorCtr="0">
            <a:normAutofit/>
          </a:bodyPr>
          <a:lstStyle/>
          <a:p>
            <a:pPr marL="0" lvl="0" indent="0" algn="l" rtl="0">
              <a:lnSpc>
                <a:spcPct val="105000"/>
              </a:lnSpc>
              <a:spcBef>
                <a:spcPts val="0"/>
              </a:spcBef>
              <a:spcAft>
                <a:spcPts val="0"/>
              </a:spcAft>
              <a:buNone/>
            </a:pPr>
            <a:r>
              <a:rPr lang="es-419" sz="1600" b="1" u="sng">
                <a:solidFill>
                  <a:schemeClr val="dk1"/>
                </a:solidFill>
              </a:rPr>
              <a:t>FOSA O HUECO AXILAR</a:t>
            </a:r>
            <a:endParaRPr sz="1600" b="1" u="sng">
              <a:solidFill>
                <a:schemeClr val="dk1"/>
              </a:solidFill>
            </a:endParaRPr>
          </a:p>
          <a:p>
            <a:pPr marL="457200" lvl="0" indent="-304800" algn="l" rtl="0">
              <a:lnSpc>
                <a:spcPct val="105000"/>
              </a:lnSpc>
              <a:spcBef>
                <a:spcPts val="1200"/>
              </a:spcBef>
              <a:spcAft>
                <a:spcPts val="0"/>
              </a:spcAft>
              <a:buClr>
                <a:schemeClr val="dk1"/>
              </a:buClr>
              <a:buSzPts val="1200"/>
              <a:buChar char="●"/>
            </a:pPr>
            <a:r>
              <a:rPr lang="es-419" sz="1000">
                <a:solidFill>
                  <a:schemeClr val="dk1"/>
                </a:solidFill>
              </a:rPr>
              <a:t>Tiene la forma de una pirámide con un vértice superior, una base inferior y cuatro paredes</a:t>
            </a:r>
            <a:r>
              <a:rPr lang="es-419" sz="1600" b="1" u="sng">
                <a:solidFill>
                  <a:schemeClr val="dk1"/>
                </a:solidFill>
              </a:rPr>
              <a:t> </a:t>
            </a:r>
            <a:endParaRPr sz="1600" b="1" u="sng">
              <a:solidFill>
                <a:schemeClr val="dk1"/>
              </a:solidFill>
            </a:endParaRPr>
          </a:p>
          <a:p>
            <a:pPr marL="457200" lvl="0" indent="-292100" algn="l" rtl="0">
              <a:lnSpc>
                <a:spcPct val="105000"/>
              </a:lnSpc>
              <a:spcBef>
                <a:spcPts val="0"/>
              </a:spcBef>
              <a:spcAft>
                <a:spcPts val="0"/>
              </a:spcAft>
              <a:buClr>
                <a:schemeClr val="dk1"/>
              </a:buClr>
              <a:buSzPts val="1000"/>
              <a:buChar char="●"/>
            </a:pPr>
            <a:r>
              <a:rPr lang="es-419" sz="1100">
                <a:solidFill>
                  <a:schemeClr val="dk1"/>
                </a:solidFill>
              </a:rPr>
              <a:t>Vértice: </a:t>
            </a:r>
            <a:endParaRPr sz="1100">
              <a:solidFill>
                <a:schemeClr val="dk1"/>
              </a:solidFill>
            </a:endParaRPr>
          </a:p>
          <a:p>
            <a:pPr marL="914400" lvl="1" indent="-298450" algn="l" rtl="0">
              <a:lnSpc>
                <a:spcPct val="105000"/>
              </a:lnSpc>
              <a:spcBef>
                <a:spcPts val="0"/>
              </a:spcBef>
              <a:spcAft>
                <a:spcPts val="0"/>
              </a:spcAft>
              <a:buClr>
                <a:schemeClr val="dk1"/>
              </a:buClr>
              <a:buSzPts val="1100"/>
              <a:buChar char="○"/>
            </a:pPr>
            <a:r>
              <a:rPr lang="es-419" sz="1100">
                <a:solidFill>
                  <a:schemeClr val="dk1"/>
                </a:solidFill>
              </a:rPr>
              <a:t>Anterior:  clavícula y el músculo subclavio</a:t>
            </a:r>
            <a:endParaRPr sz="1100">
              <a:solidFill>
                <a:schemeClr val="dk1"/>
              </a:solidFill>
            </a:endParaRPr>
          </a:p>
          <a:p>
            <a:pPr marL="914400" lvl="1" indent="-298450" algn="l" rtl="0">
              <a:lnSpc>
                <a:spcPct val="105000"/>
              </a:lnSpc>
              <a:spcBef>
                <a:spcPts val="0"/>
              </a:spcBef>
              <a:spcAft>
                <a:spcPts val="0"/>
              </a:spcAft>
              <a:buClr>
                <a:schemeClr val="dk1"/>
              </a:buClr>
              <a:buSzPts val="1100"/>
              <a:buChar char="○"/>
            </a:pPr>
            <a:r>
              <a:rPr lang="es-419" sz="1100">
                <a:solidFill>
                  <a:schemeClr val="dk1"/>
                </a:solidFill>
              </a:rPr>
              <a:t>Medial: 1° costilla y la 1° digitación del músculo serrato anterior</a:t>
            </a:r>
            <a:endParaRPr sz="1100">
              <a:solidFill>
                <a:schemeClr val="dk1"/>
              </a:solidFill>
            </a:endParaRPr>
          </a:p>
          <a:p>
            <a:pPr marL="914400" lvl="1" indent="-298450" algn="l" rtl="0">
              <a:lnSpc>
                <a:spcPct val="105000"/>
              </a:lnSpc>
              <a:spcBef>
                <a:spcPts val="0"/>
              </a:spcBef>
              <a:spcAft>
                <a:spcPts val="0"/>
              </a:spcAft>
              <a:buClr>
                <a:schemeClr val="dk1"/>
              </a:buClr>
              <a:buSzPts val="1100"/>
              <a:buChar char="○"/>
            </a:pPr>
            <a:r>
              <a:rPr lang="es-419" sz="1100">
                <a:solidFill>
                  <a:schemeClr val="dk1"/>
                </a:solidFill>
              </a:rPr>
              <a:t>Posterior:delimitado por la apófisis coracoides, el ligamento conoideo y el borde superior de la escápula</a:t>
            </a:r>
            <a:endParaRPr sz="1100">
              <a:solidFill>
                <a:schemeClr val="dk1"/>
              </a:solidFill>
            </a:endParaRPr>
          </a:p>
          <a:p>
            <a:pPr marL="457200" lvl="0" indent="-292100" algn="l" rtl="0">
              <a:lnSpc>
                <a:spcPct val="105000"/>
              </a:lnSpc>
              <a:spcBef>
                <a:spcPts val="0"/>
              </a:spcBef>
              <a:spcAft>
                <a:spcPts val="0"/>
              </a:spcAft>
              <a:buClr>
                <a:schemeClr val="dk1"/>
              </a:buClr>
              <a:buSzPts val="1000"/>
              <a:buChar char="●"/>
            </a:pPr>
            <a:r>
              <a:rPr lang="es-419" sz="1100">
                <a:solidFill>
                  <a:schemeClr val="dk1"/>
                </a:solidFill>
              </a:rPr>
              <a:t>Base: piel, el tejido subcutáneo, la fascia del músculo pectoral mayor y el ligamento suspensorio de la axila</a:t>
            </a:r>
            <a:endParaRPr sz="1100">
              <a:solidFill>
                <a:schemeClr val="dk1"/>
              </a:solidFill>
            </a:endParaRPr>
          </a:p>
          <a:p>
            <a:pPr marL="457200" lvl="0" indent="-292100" algn="l" rtl="0">
              <a:lnSpc>
                <a:spcPct val="105000"/>
              </a:lnSpc>
              <a:spcBef>
                <a:spcPts val="0"/>
              </a:spcBef>
              <a:spcAft>
                <a:spcPts val="0"/>
              </a:spcAft>
              <a:buClr>
                <a:schemeClr val="dk1"/>
              </a:buClr>
              <a:buSzPts val="1000"/>
              <a:buChar char="●"/>
            </a:pPr>
            <a:r>
              <a:rPr lang="es-419" sz="1100">
                <a:solidFill>
                  <a:schemeClr val="dk1"/>
                </a:solidFill>
              </a:rPr>
              <a:t>Pared anterior: músculos pectorales mayor y menor, el músculo subclavio y la fascia clavipectoral. </a:t>
            </a:r>
            <a:endParaRPr sz="1100">
              <a:solidFill>
                <a:schemeClr val="dk1"/>
              </a:solidFill>
            </a:endParaRPr>
          </a:p>
          <a:p>
            <a:pPr marL="457200" lvl="0" indent="-292100" algn="l" rtl="0">
              <a:lnSpc>
                <a:spcPct val="105000"/>
              </a:lnSpc>
              <a:spcBef>
                <a:spcPts val="0"/>
              </a:spcBef>
              <a:spcAft>
                <a:spcPts val="0"/>
              </a:spcAft>
              <a:buClr>
                <a:schemeClr val="dk1"/>
              </a:buClr>
              <a:buSzPts val="1000"/>
              <a:buChar char="●"/>
            </a:pPr>
            <a:r>
              <a:rPr lang="es-419" sz="1100">
                <a:solidFill>
                  <a:schemeClr val="dk1"/>
                </a:solidFill>
              </a:rPr>
              <a:t>Pared medial: músculo serrato anterior</a:t>
            </a:r>
            <a:endParaRPr sz="1100">
              <a:solidFill>
                <a:schemeClr val="dk1"/>
              </a:solidFill>
            </a:endParaRPr>
          </a:p>
          <a:p>
            <a:pPr marL="457200" lvl="0" indent="-292100" algn="l" rtl="0">
              <a:lnSpc>
                <a:spcPct val="105000"/>
              </a:lnSpc>
              <a:spcBef>
                <a:spcPts val="0"/>
              </a:spcBef>
              <a:spcAft>
                <a:spcPts val="0"/>
              </a:spcAft>
              <a:buClr>
                <a:schemeClr val="dk1"/>
              </a:buClr>
              <a:buSzPts val="1000"/>
              <a:buChar char="●"/>
            </a:pPr>
            <a:r>
              <a:rPr lang="es-419" sz="1100">
                <a:solidFill>
                  <a:schemeClr val="dk1"/>
                </a:solidFill>
              </a:rPr>
              <a:t>Pared lateral: músculo coracobraquial y la cabeza corta del bíceps braquial.</a:t>
            </a:r>
            <a:endParaRPr sz="1100">
              <a:solidFill>
                <a:schemeClr val="dk1"/>
              </a:solidFill>
            </a:endParaRPr>
          </a:p>
          <a:p>
            <a:pPr marL="457200" lvl="0" indent="-292100" algn="l" rtl="0">
              <a:lnSpc>
                <a:spcPct val="105000"/>
              </a:lnSpc>
              <a:spcBef>
                <a:spcPts val="0"/>
              </a:spcBef>
              <a:spcAft>
                <a:spcPts val="0"/>
              </a:spcAft>
              <a:buClr>
                <a:schemeClr val="dk1"/>
              </a:buClr>
              <a:buSzPts val="1000"/>
              <a:buChar char="●"/>
            </a:pPr>
            <a:r>
              <a:rPr lang="es-419" sz="1100">
                <a:solidFill>
                  <a:schemeClr val="dk1"/>
                </a:solidFill>
              </a:rPr>
              <a:t>Pared posterior: porción superior y media por el músculo subescapular; porción inferior y lateral por los músculos redondo mayor y dorsal ancho</a:t>
            </a:r>
            <a:endParaRPr sz="1100">
              <a:solidFill>
                <a:schemeClr val="dk1"/>
              </a:solidFill>
            </a:endParaRPr>
          </a:p>
        </p:txBody>
      </p:sp>
      <p:pic>
        <p:nvPicPr>
          <p:cNvPr id="123" name="Google Shape;123;p24"/>
          <p:cNvPicPr preferRelativeResize="0"/>
          <p:nvPr/>
        </p:nvPicPr>
        <p:blipFill>
          <a:blip r:embed="rId3">
            <a:alphaModFix/>
          </a:blip>
          <a:stretch>
            <a:fillRect/>
          </a:stretch>
        </p:blipFill>
        <p:spPr>
          <a:xfrm>
            <a:off x="6242550" y="209875"/>
            <a:ext cx="2806900" cy="2418650"/>
          </a:xfrm>
          <a:prstGeom prst="rect">
            <a:avLst/>
          </a:prstGeom>
          <a:noFill/>
          <a:ln>
            <a:noFill/>
          </a:ln>
        </p:spPr>
      </p:pic>
      <p:pic>
        <p:nvPicPr>
          <p:cNvPr id="4" name="Imagen 3">
            <a:extLst>
              <a:ext uri="{FF2B5EF4-FFF2-40B4-BE49-F238E27FC236}">
                <a16:creationId xmlns:a16="http://schemas.microsoft.com/office/drawing/2014/main" id="{968A1CC6-A51F-2502-0FDF-1CF6BFE77688}"/>
              </a:ext>
            </a:extLst>
          </p:cNvPr>
          <p:cNvPicPr>
            <a:picLocks noChangeAspect="1"/>
          </p:cNvPicPr>
          <p:nvPr/>
        </p:nvPicPr>
        <p:blipFill>
          <a:blip r:embed="rId4"/>
          <a:stretch>
            <a:fillRect/>
          </a:stretch>
        </p:blipFill>
        <p:spPr>
          <a:xfrm>
            <a:off x="6417429" y="2471140"/>
            <a:ext cx="2457141" cy="2654238"/>
          </a:xfrm>
          <a:prstGeom prst="rect">
            <a:avLst/>
          </a:prstGeom>
        </p:spPr>
      </p:pic>
      <p:pic>
        <p:nvPicPr>
          <p:cNvPr id="5" name="Imagen 4" descr="Imagen que contiene Gráfico&#10;&#10;Descripción generada automáticamente">
            <a:extLst>
              <a:ext uri="{FF2B5EF4-FFF2-40B4-BE49-F238E27FC236}">
                <a16:creationId xmlns:a16="http://schemas.microsoft.com/office/drawing/2014/main" id="{DC85F402-BCF6-30DC-46F6-355FAFE49E40}"/>
              </a:ext>
            </a:extLst>
          </p:cNvPr>
          <p:cNvPicPr>
            <a:picLocks noChangeAspect="1"/>
          </p:cNvPicPr>
          <p:nvPr/>
        </p:nvPicPr>
        <p:blipFill>
          <a:blip r:embed="rId5"/>
          <a:stretch>
            <a:fillRect/>
          </a:stretch>
        </p:blipFill>
        <p:spPr>
          <a:xfrm>
            <a:off x="0" y="0"/>
            <a:ext cx="9144000" cy="5143500"/>
          </a:xfrm>
          <a:prstGeom prst="rect">
            <a:avLst/>
          </a:prstGeom>
        </p:spPr>
      </p:pic>
      <p:pic>
        <p:nvPicPr>
          <p:cNvPr id="11" name="Imagen 10" descr="Logotipo&#10;&#10;Descripción generada automáticamente">
            <a:extLst>
              <a:ext uri="{FF2B5EF4-FFF2-40B4-BE49-F238E27FC236}">
                <a16:creationId xmlns:a16="http://schemas.microsoft.com/office/drawing/2014/main" id="{9A0240C0-5DDA-265C-B22F-98C511664007}"/>
              </a:ext>
            </a:extLst>
          </p:cNvPr>
          <p:cNvPicPr>
            <a:picLocks noChangeAspect="1"/>
          </p:cNvPicPr>
          <p:nvPr/>
        </p:nvPicPr>
        <p:blipFill>
          <a:blip r:embed="rId6"/>
          <a:stretch>
            <a:fillRect/>
          </a:stretch>
        </p:blipFill>
        <p:spPr>
          <a:xfrm>
            <a:off x="8446569" y="0"/>
            <a:ext cx="898706" cy="50552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b="1">
                <a:highlight>
                  <a:srgbClr val="FCE5CD"/>
                </a:highlight>
              </a:rPr>
              <a:t>Arteria humeral o braquial </a:t>
            </a:r>
            <a:endParaRPr b="1">
              <a:highlight>
                <a:srgbClr val="FCE5CD"/>
              </a:highlight>
            </a:endParaRPr>
          </a:p>
        </p:txBody>
      </p:sp>
      <p:sp>
        <p:nvSpPr>
          <p:cNvPr id="129" name="Google Shape;129;p25"/>
          <p:cNvSpPr txBox="1">
            <a:spLocks noGrp="1"/>
          </p:cNvSpPr>
          <p:nvPr>
            <p:ph type="body" idx="1"/>
          </p:nvPr>
        </p:nvSpPr>
        <p:spPr>
          <a:xfrm>
            <a:off x="311700" y="1152475"/>
            <a:ext cx="7973700" cy="3029400"/>
          </a:xfrm>
          <a:prstGeom prst="rect">
            <a:avLst/>
          </a:prstGeom>
        </p:spPr>
        <p:txBody>
          <a:bodyPr spcFirstLastPara="1" wrap="square" lIns="91425" tIns="91425" rIns="91425" bIns="91425" anchor="t" anchorCtr="0">
            <a:normAutofit/>
          </a:bodyPr>
          <a:lstStyle/>
          <a:p>
            <a:pPr marL="457200" lvl="0" indent="-321627" algn="l" rtl="0">
              <a:lnSpc>
                <a:spcPct val="105000"/>
              </a:lnSpc>
              <a:spcBef>
                <a:spcPts val="0"/>
              </a:spcBef>
              <a:spcAft>
                <a:spcPts val="0"/>
              </a:spcAft>
              <a:buClr>
                <a:schemeClr val="dk1"/>
              </a:buClr>
              <a:buSzPts val="1465"/>
              <a:buChar char="●"/>
            </a:pPr>
            <a:r>
              <a:rPr lang="es-419" sz="1465" b="1">
                <a:solidFill>
                  <a:schemeClr val="dk1"/>
                </a:solidFill>
              </a:rPr>
              <a:t>Origen:</a:t>
            </a:r>
            <a:r>
              <a:rPr lang="es-419" sz="1465">
                <a:solidFill>
                  <a:schemeClr val="dk1"/>
                </a:solidFill>
              </a:rPr>
              <a:t> Nace a la altura del borde inferior del tendón del músculo pectoral mayor y finaliza debajo de la flexura del codo donde se divide en Arteria Radial y Arteria Cubital </a:t>
            </a:r>
            <a:endParaRPr sz="1465">
              <a:solidFill>
                <a:schemeClr val="dk1"/>
              </a:solidFill>
            </a:endParaRPr>
          </a:p>
          <a:p>
            <a:pPr marL="457200" lvl="0" indent="-321627" algn="l" rtl="0">
              <a:lnSpc>
                <a:spcPct val="105000"/>
              </a:lnSpc>
              <a:spcBef>
                <a:spcPts val="0"/>
              </a:spcBef>
              <a:spcAft>
                <a:spcPts val="0"/>
              </a:spcAft>
              <a:buClr>
                <a:schemeClr val="dk1"/>
              </a:buClr>
              <a:buSzPts val="1465"/>
              <a:buChar char="●"/>
            </a:pPr>
            <a:r>
              <a:rPr lang="es-419" sz="1465" b="1">
                <a:solidFill>
                  <a:schemeClr val="dk1"/>
                </a:solidFill>
              </a:rPr>
              <a:t>Recorrido:</a:t>
            </a:r>
            <a:r>
              <a:rPr lang="es-419" sz="1465">
                <a:solidFill>
                  <a:schemeClr val="dk1"/>
                </a:solidFill>
              </a:rPr>
              <a:t> se ubica entre los músculos Biceps braquial y Braquial anterior durante la mayor parte de su recorrido hasta llegar a la altura de la flexura del codo donde se ubica internamente en relación al tendón del Biceps, Canal Bicipital Interno y finaliza en la Fosa Cubital a la altura del cuello del radio donde se divide en </a:t>
            </a:r>
            <a:r>
              <a:rPr lang="es-419" sz="1465" b="1">
                <a:solidFill>
                  <a:schemeClr val="dk1"/>
                </a:solidFill>
              </a:rPr>
              <a:t>Arteria Radial y Arteria Cubital. (terminales)</a:t>
            </a:r>
            <a:endParaRPr sz="1465" b="1">
              <a:solidFill>
                <a:schemeClr val="dk1"/>
              </a:solidFill>
            </a:endParaRPr>
          </a:p>
          <a:p>
            <a:pPr marL="457200" lvl="0" indent="-321627" algn="l" rtl="0">
              <a:lnSpc>
                <a:spcPct val="105000"/>
              </a:lnSpc>
              <a:spcBef>
                <a:spcPts val="0"/>
              </a:spcBef>
              <a:spcAft>
                <a:spcPts val="0"/>
              </a:spcAft>
              <a:buClr>
                <a:schemeClr val="dk1"/>
              </a:buClr>
              <a:buSzPts val="1465"/>
              <a:buChar char="●"/>
            </a:pPr>
            <a:r>
              <a:rPr lang="es-419" sz="1465" b="1">
                <a:solidFill>
                  <a:schemeClr val="dk1"/>
                </a:solidFill>
              </a:rPr>
              <a:t>Relaciones: </a:t>
            </a:r>
            <a:r>
              <a:rPr lang="es-419" sz="1465">
                <a:solidFill>
                  <a:schemeClr val="dk1"/>
                </a:solidFill>
              </a:rPr>
              <a:t>Se ubica entre el bíceps y el braquial anterior y es acompañada por el nervio mediano, el cual en la región proximal es lateral a la arteria, distalmente se hace medial después de cruzarla por su cara anterior. </a:t>
            </a:r>
            <a:endParaRPr sz="1465">
              <a:solidFill>
                <a:schemeClr val="dk1"/>
              </a:solidFill>
            </a:endParaRPr>
          </a:p>
        </p:txBody>
      </p:sp>
      <p:sp>
        <p:nvSpPr>
          <p:cNvPr id="130" name="Google Shape;130;p25"/>
          <p:cNvSpPr txBox="1"/>
          <p:nvPr/>
        </p:nvSpPr>
        <p:spPr>
          <a:xfrm>
            <a:off x="6513325" y="617525"/>
            <a:ext cx="2279700" cy="4002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s-419"/>
              <a:t>Músculo satélite: biceps</a:t>
            </a:r>
            <a:endParaRPr/>
          </a:p>
        </p:txBody>
      </p:sp>
      <p:sp>
        <p:nvSpPr>
          <p:cNvPr id="131" name="Google Shape;131;p25"/>
          <p:cNvSpPr txBox="1"/>
          <p:nvPr/>
        </p:nvSpPr>
        <p:spPr>
          <a:xfrm>
            <a:off x="311700" y="3974975"/>
            <a:ext cx="4913700" cy="8619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s-419" sz="1100" b="1" u="sng"/>
              <a:t>Pulso Humeral:</a:t>
            </a:r>
            <a:r>
              <a:rPr lang="es-419" sz="1100"/>
              <a:t> Se palpa sobre la cara anterior del pliegue el codo, hacia medial. Se conoce también como pulso humeral. Por dentro del tendón del musculo bíceps braquial – Canal Bicipital Interno – encontrado allí a la arteria braquial o humeral</a:t>
            </a:r>
            <a:endParaRPr sz="1100"/>
          </a:p>
        </p:txBody>
      </p:sp>
      <p:pic>
        <p:nvPicPr>
          <p:cNvPr id="7" name="Imagen 6" descr="Logotipo&#10;&#10;Descripción generada automáticamente">
            <a:extLst>
              <a:ext uri="{FF2B5EF4-FFF2-40B4-BE49-F238E27FC236}">
                <a16:creationId xmlns:a16="http://schemas.microsoft.com/office/drawing/2014/main" id="{8D1224DA-40ED-DC8B-51F4-D8155835E9D1}"/>
              </a:ext>
            </a:extLst>
          </p:cNvPr>
          <p:cNvPicPr>
            <a:picLocks noChangeAspect="1"/>
          </p:cNvPicPr>
          <p:nvPr/>
        </p:nvPicPr>
        <p:blipFill>
          <a:blip r:embed="rId3"/>
          <a:stretch>
            <a:fillRect/>
          </a:stretch>
        </p:blipFill>
        <p:spPr>
          <a:xfrm>
            <a:off x="8081470" y="0"/>
            <a:ext cx="1263805" cy="71089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26"/>
          <p:cNvPicPr preferRelativeResize="0"/>
          <p:nvPr/>
        </p:nvPicPr>
        <p:blipFill rotWithShape="1">
          <a:blip r:embed="rId3">
            <a:alphaModFix/>
          </a:blip>
          <a:srcRect l="12366" t="9047" r="41335" b="6235"/>
          <a:stretch/>
        </p:blipFill>
        <p:spPr>
          <a:xfrm>
            <a:off x="3486600" y="226950"/>
            <a:ext cx="4558103" cy="4689600"/>
          </a:xfrm>
          <a:prstGeom prst="rect">
            <a:avLst/>
          </a:prstGeom>
          <a:noFill/>
          <a:ln>
            <a:noFill/>
          </a:ln>
        </p:spPr>
      </p:pic>
      <p:pic>
        <p:nvPicPr>
          <p:cNvPr id="137" name="Google Shape;137;p26"/>
          <p:cNvPicPr preferRelativeResize="0"/>
          <p:nvPr/>
        </p:nvPicPr>
        <p:blipFill rotWithShape="1">
          <a:blip r:embed="rId4">
            <a:alphaModFix/>
          </a:blip>
          <a:srcRect l="31637" t="22863" r="52105" b="10206"/>
          <a:stretch/>
        </p:blipFill>
        <p:spPr>
          <a:xfrm>
            <a:off x="526925" y="217875"/>
            <a:ext cx="2053276" cy="4752900"/>
          </a:xfrm>
          <a:prstGeom prst="rect">
            <a:avLst/>
          </a:prstGeom>
          <a:noFill/>
          <a:ln>
            <a:noFill/>
          </a:ln>
        </p:spPr>
      </p:pic>
      <p:pic>
        <p:nvPicPr>
          <p:cNvPr id="4" name="Imagen 3" descr="Imagen que contiene Gráfico&#10;&#10;Descripción generada automáticamente">
            <a:extLst>
              <a:ext uri="{FF2B5EF4-FFF2-40B4-BE49-F238E27FC236}">
                <a16:creationId xmlns:a16="http://schemas.microsoft.com/office/drawing/2014/main" id="{4DC290A2-9B0B-3C33-1837-E22B67EB78B9}"/>
              </a:ext>
            </a:extLst>
          </p:cNvPr>
          <p:cNvPicPr>
            <a:picLocks noChangeAspect="1"/>
          </p:cNvPicPr>
          <p:nvPr/>
        </p:nvPicPr>
        <p:blipFill>
          <a:blip r:embed="rId5"/>
          <a:stretch>
            <a:fillRect/>
          </a:stretch>
        </p:blipFill>
        <p:spPr>
          <a:xfrm>
            <a:off x="0" y="0"/>
            <a:ext cx="9144000" cy="5143500"/>
          </a:xfrm>
          <a:prstGeom prst="rect">
            <a:avLst/>
          </a:prstGeom>
        </p:spPr>
      </p:pic>
      <p:pic>
        <p:nvPicPr>
          <p:cNvPr id="5" name="Imagen 4" descr="Logotipo&#10;&#10;Descripción generada automáticamente">
            <a:extLst>
              <a:ext uri="{FF2B5EF4-FFF2-40B4-BE49-F238E27FC236}">
                <a16:creationId xmlns:a16="http://schemas.microsoft.com/office/drawing/2014/main" id="{6FD0AFA2-63AB-5065-02DE-DFB8D6F938B4}"/>
              </a:ext>
            </a:extLst>
          </p:cNvPr>
          <p:cNvPicPr>
            <a:picLocks noChangeAspect="1"/>
          </p:cNvPicPr>
          <p:nvPr/>
        </p:nvPicPr>
        <p:blipFill>
          <a:blip r:embed="rId6"/>
          <a:stretch>
            <a:fillRect/>
          </a:stretch>
        </p:blipFill>
        <p:spPr>
          <a:xfrm>
            <a:off x="8081470" y="0"/>
            <a:ext cx="1263805" cy="7108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b="1"/>
              <a:t>Ramas de la arteria braquial</a:t>
            </a:r>
            <a:r>
              <a:rPr lang="es-419"/>
              <a:t> </a:t>
            </a:r>
            <a:endParaRPr/>
          </a:p>
        </p:txBody>
      </p:sp>
      <p:sp>
        <p:nvSpPr>
          <p:cNvPr id="143" name="Google Shape;143;p27"/>
          <p:cNvSpPr txBox="1">
            <a:spLocks noGrp="1"/>
          </p:cNvSpPr>
          <p:nvPr>
            <p:ph type="body" idx="1"/>
          </p:nvPr>
        </p:nvSpPr>
        <p:spPr>
          <a:xfrm>
            <a:off x="311700" y="1017725"/>
            <a:ext cx="5521500" cy="3824400"/>
          </a:xfrm>
          <a:prstGeom prst="rect">
            <a:avLst/>
          </a:prstGeom>
        </p:spPr>
        <p:txBody>
          <a:bodyPr spcFirstLastPara="1" wrap="square" lIns="91425" tIns="91425" rIns="91425" bIns="91425" anchor="t" anchorCtr="0">
            <a:normAutofit fontScale="70000" lnSpcReduction="10000"/>
          </a:bodyPr>
          <a:lstStyle/>
          <a:p>
            <a:pPr marL="457200" lvl="0" indent="-308610" algn="l" rtl="0">
              <a:spcBef>
                <a:spcPts val="0"/>
              </a:spcBef>
              <a:spcAft>
                <a:spcPts val="0"/>
              </a:spcAft>
              <a:buClr>
                <a:schemeClr val="dk1"/>
              </a:buClr>
              <a:buSzPct val="100000"/>
              <a:buChar char="●"/>
            </a:pPr>
            <a:r>
              <a:rPr lang="es-419" b="1">
                <a:solidFill>
                  <a:schemeClr val="dk1"/>
                </a:solidFill>
              </a:rPr>
              <a:t>A. braquial profunda:</a:t>
            </a:r>
            <a:r>
              <a:rPr lang="es-419">
                <a:solidFill>
                  <a:schemeClr val="dk1"/>
                </a:solidFill>
              </a:rPr>
              <a:t> es la más importante. Nace cerca del origen de la arteria braquial y acompaña al nervio radial por el espacio axilar inferior, para irrigar el músculo tríceps braquial. A nivel supracondíleo lateral se divide en sus dos ramas terminales: </a:t>
            </a:r>
            <a:endParaRPr>
              <a:solidFill>
                <a:schemeClr val="dk1"/>
              </a:solidFill>
            </a:endParaRPr>
          </a:p>
          <a:p>
            <a:pPr marL="914400" lvl="1" indent="-290830" algn="l" rtl="0">
              <a:spcBef>
                <a:spcPts val="0"/>
              </a:spcBef>
              <a:spcAft>
                <a:spcPts val="0"/>
              </a:spcAft>
              <a:buClr>
                <a:schemeClr val="dk1"/>
              </a:buClr>
              <a:buSzPct val="100000"/>
              <a:buChar char="○"/>
            </a:pPr>
            <a:r>
              <a:rPr lang="es-419">
                <a:solidFill>
                  <a:schemeClr val="dk1"/>
                </a:solidFill>
              </a:rPr>
              <a:t>la </a:t>
            </a:r>
            <a:r>
              <a:rPr lang="es-419" i="1">
                <a:solidFill>
                  <a:schemeClr val="dk1"/>
                </a:solidFill>
              </a:rPr>
              <a:t>arteria colateral radial </a:t>
            </a:r>
            <a:r>
              <a:rPr lang="es-419">
                <a:solidFill>
                  <a:schemeClr val="dk1"/>
                </a:solidFill>
              </a:rPr>
              <a:t>que ocupa el surco bicipital lateral junto con el nervio radial y se anastomosa con la </a:t>
            </a:r>
            <a:r>
              <a:rPr lang="es-419" i="1">
                <a:solidFill>
                  <a:schemeClr val="dk1"/>
                </a:solidFill>
              </a:rPr>
              <a:t>arteria recurrente radial</a:t>
            </a:r>
            <a:r>
              <a:rPr lang="es-419">
                <a:solidFill>
                  <a:schemeClr val="dk1"/>
                </a:solidFill>
              </a:rPr>
              <a:t> </a:t>
            </a:r>
            <a:endParaRPr>
              <a:solidFill>
                <a:schemeClr val="dk1"/>
              </a:solidFill>
            </a:endParaRPr>
          </a:p>
          <a:p>
            <a:pPr marL="914400" lvl="1" indent="-290830" algn="l" rtl="0">
              <a:spcBef>
                <a:spcPts val="0"/>
              </a:spcBef>
              <a:spcAft>
                <a:spcPts val="0"/>
              </a:spcAft>
              <a:buClr>
                <a:schemeClr val="dk1"/>
              </a:buClr>
              <a:buSzPct val="100000"/>
              <a:buChar char="○"/>
            </a:pPr>
            <a:r>
              <a:rPr lang="es-419">
                <a:solidFill>
                  <a:schemeClr val="dk1"/>
                </a:solidFill>
              </a:rPr>
              <a:t>la </a:t>
            </a:r>
            <a:r>
              <a:rPr lang="es-419" i="1">
                <a:solidFill>
                  <a:schemeClr val="dk1"/>
                </a:solidFill>
              </a:rPr>
              <a:t>arteria colateral media</a:t>
            </a:r>
            <a:r>
              <a:rPr lang="es-419">
                <a:solidFill>
                  <a:schemeClr val="dk1"/>
                </a:solidFill>
              </a:rPr>
              <a:t> que se extiende por la parte posterior de la región braquial para formar la red vascular del codo. </a:t>
            </a:r>
            <a:endParaRPr>
              <a:solidFill>
                <a:schemeClr val="dk1"/>
              </a:solidFill>
            </a:endParaRPr>
          </a:p>
          <a:p>
            <a:pPr marL="457200" lvl="0" indent="-308610" algn="l" rtl="0">
              <a:spcBef>
                <a:spcPts val="0"/>
              </a:spcBef>
              <a:spcAft>
                <a:spcPts val="0"/>
              </a:spcAft>
              <a:buClr>
                <a:schemeClr val="dk1"/>
              </a:buClr>
              <a:buSzPct val="100000"/>
              <a:buChar char="●"/>
            </a:pPr>
            <a:r>
              <a:rPr lang="es-419" b="1">
                <a:solidFill>
                  <a:schemeClr val="dk1"/>
                </a:solidFill>
              </a:rPr>
              <a:t>A. colateral cubital superior: </a:t>
            </a:r>
            <a:r>
              <a:rPr lang="es-419">
                <a:solidFill>
                  <a:schemeClr val="dk1"/>
                </a:solidFill>
              </a:rPr>
              <a:t>nace distal a la arteria braquial profunda y se dirige, luego de atravesar el tabique intermuscular medial, junto con el nervio cubital a la región posterior del brazo para anastomosarse con la </a:t>
            </a:r>
            <a:r>
              <a:rPr lang="es-419" i="1">
                <a:solidFill>
                  <a:schemeClr val="dk1"/>
                </a:solidFill>
              </a:rPr>
              <a:t>arteria colateral cubital posterior.</a:t>
            </a:r>
            <a:r>
              <a:rPr lang="es-419">
                <a:solidFill>
                  <a:schemeClr val="dk1"/>
                </a:solidFill>
              </a:rPr>
              <a:t> </a:t>
            </a:r>
            <a:endParaRPr>
              <a:solidFill>
                <a:schemeClr val="dk1"/>
              </a:solidFill>
            </a:endParaRPr>
          </a:p>
          <a:p>
            <a:pPr marL="457200" lvl="0" indent="-308610" algn="l" rtl="0">
              <a:spcBef>
                <a:spcPts val="0"/>
              </a:spcBef>
              <a:spcAft>
                <a:spcPts val="0"/>
              </a:spcAft>
              <a:buClr>
                <a:schemeClr val="dk1"/>
              </a:buClr>
              <a:buSzPct val="100000"/>
              <a:buChar char="●"/>
            </a:pPr>
            <a:r>
              <a:rPr lang="es-419" b="1">
                <a:solidFill>
                  <a:schemeClr val="dk1"/>
                </a:solidFill>
              </a:rPr>
              <a:t>A. colateral cubital inferior:</a:t>
            </a:r>
            <a:r>
              <a:rPr lang="es-419">
                <a:solidFill>
                  <a:schemeClr val="dk1"/>
                </a:solidFill>
              </a:rPr>
              <a:t> se origina sobre la fosa del codo y se divide sobre el epicóndilo medial en dos ramas: </a:t>
            </a:r>
            <a:endParaRPr>
              <a:solidFill>
                <a:schemeClr val="dk1"/>
              </a:solidFill>
            </a:endParaRPr>
          </a:p>
          <a:p>
            <a:pPr marL="914400" lvl="1" indent="-290830" algn="l" rtl="0">
              <a:spcBef>
                <a:spcPts val="0"/>
              </a:spcBef>
              <a:spcAft>
                <a:spcPts val="0"/>
              </a:spcAft>
              <a:buClr>
                <a:schemeClr val="dk1"/>
              </a:buClr>
              <a:buSzPct val="100000"/>
              <a:buChar char="○"/>
            </a:pPr>
            <a:r>
              <a:rPr lang="es-419">
                <a:solidFill>
                  <a:schemeClr val="dk1"/>
                </a:solidFill>
              </a:rPr>
              <a:t>una anterior, que se anastomosa con la rama anterior de la arteria recurrente cubital anterior, </a:t>
            </a:r>
            <a:endParaRPr>
              <a:solidFill>
                <a:schemeClr val="dk1"/>
              </a:solidFill>
            </a:endParaRPr>
          </a:p>
          <a:p>
            <a:pPr marL="914400" lvl="1" indent="-290830" algn="l" rtl="0">
              <a:spcBef>
                <a:spcPts val="0"/>
              </a:spcBef>
              <a:spcAft>
                <a:spcPts val="0"/>
              </a:spcAft>
              <a:buClr>
                <a:schemeClr val="dk1"/>
              </a:buClr>
              <a:buSzPct val="100000"/>
              <a:buChar char="○"/>
            </a:pPr>
            <a:r>
              <a:rPr lang="es-419">
                <a:solidFill>
                  <a:schemeClr val="dk1"/>
                </a:solidFill>
              </a:rPr>
              <a:t>otra posterior, que se anastomosa con la rama posterior de la arteria recurrente cubital anterior</a:t>
            </a:r>
            <a:endParaRPr>
              <a:solidFill>
                <a:schemeClr val="dk1"/>
              </a:solidFill>
            </a:endParaRPr>
          </a:p>
        </p:txBody>
      </p:sp>
      <p:pic>
        <p:nvPicPr>
          <p:cNvPr id="144" name="Google Shape;144;p27"/>
          <p:cNvPicPr preferRelativeResize="0"/>
          <p:nvPr/>
        </p:nvPicPr>
        <p:blipFill rotWithShape="1">
          <a:blip r:embed="rId3">
            <a:alphaModFix/>
          </a:blip>
          <a:srcRect l="39617" t="17236" r="24264" b="7496"/>
          <a:stretch/>
        </p:blipFill>
        <p:spPr>
          <a:xfrm>
            <a:off x="5739300" y="867900"/>
            <a:ext cx="3302674" cy="3869601"/>
          </a:xfrm>
          <a:prstGeom prst="rect">
            <a:avLst/>
          </a:prstGeom>
          <a:noFill/>
          <a:ln>
            <a:noFill/>
          </a:ln>
        </p:spPr>
      </p:pic>
      <p:pic>
        <p:nvPicPr>
          <p:cNvPr id="5" name="Imagen 4" descr="Imagen que contiene Gráfico&#10;&#10;Descripción generada automáticamente">
            <a:extLst>
              <a:ext uri="{FF2B5EF4-FFF2-40B4-BE49-F238E27FC236}">
                <a16:creationId xmlns:a16="http://schemas.microsoft.com/office/drawing/2014/main" id="{AA5C346A-9C87-133E-EFD4-61CEBA18CA20}"/>
              </a:ext>
            </a:extLst>
          </p:cNvPr>
          <p:cNvPicPr>
            <a:picLocks noChangeAspect="1"/>
          </p:cNvPicPr>
          <p:nvPr/>
        </p:nvPicPr>
        <p:blipFill>
          <a:blip r:embed="rId4"/>
          <a:stretch>
            <a:fillRect/>
          </a:stretch>
        </p:blipFill>
        <p:spPr>
          <a:xfrm>
            <a:off x="0" y="0"/>
            <a:ext cx="9144000" cy="5143500"/>
          </a:xfrm>
          <a:prstGeom prst="rect">
            <a:avLst/>
          </a:prstGeom>
        </p:spPr>
      </p:pic>
      <p:pic>
        <p:nvPicPr>
          <p:cNvPr id="6" name="Imagen 5" descr="Logotipo&#10;&#10;Descripción generada automáticamente">
            <a:extLst>
              <a:ext uri="{FF2B5EF4-FFF2-40B4-BE49-F238E27FC236}">
                <a16:creationId xmlns:a16="http://schemas.microsoft.com/office/drawing/2014/main" id="{520ECDE0-D24E-19DD-B0AA-158C87B9CAA9}"/>
              </a:ext>
            </a:extLst>
          </p:cNvPr>
          <p:cNvPicPr>
            <a:picLocks noChangeAspect="1"/>
          </p:cNvPicPr>
          <p:nvPr/>
        </p:nvPicPr>
        <p:blipFill>
          <a:blip r:embed="rId5"/>
          <a:stretch>
            <a:fillRect/>
          </a:stretch>
        </p:blipFill>
        <p:spPr>
          <a:xfrm>
            <a:off x="8081470" y="0"/>
            <a:ext cx="1263805" cy="71089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a:highlight>
                  <a:srgbClr val="B4A7D6"/>
                </a:highlight>
              </a:rPr>
              <a:t>Red periarticular del codo</a:t>
            </a:r>
            <a:r>
              <a:rPr lang="es-419"/>
              <a:t> </a:t>
            </a:r>
            <a:endParaRPr/>
          </a:p>
        </p:txBody>
      </p:sp>
      <p:sp>
        <p:nvSpPr>
          <p:cNvPr id="150" name="Google Shape;150;p28"/>
          <p:cNvSpPr txBox="1">
            <a:spLocks noGrp="1"/>
          </p:cNvSpPr>
          <p:nvPr>
            <p:ph type="body" idx="1"/>
          </p:nvPr>
        </p:nvSpPr>
        <p:spPr>
          <a:xfrm>
            <a:off x="311700" y="1152475"/>
            <a:ext cx="6891300" cy="357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s-419">
                <a:solidFill>
                  <a:schemeClr val="dk1"/>
                </a:solidFill>
              </a:rPr>
              <a:t>Las dos ramas de la art humeral profunda se anastomosan en la cara externa de la articulación con las art recurrentes radiales, formando una red periepicondílea. </a:t>
            </a:r>
            <a:endParaRPr>
              <a:solidFill>
                <a:schemeClr val="dk1"/>
              </a:solidFill>
            </a:endParaRPr>
          </a:p>
          <a:p>
            <a:pPr marL="0" lvl="0" indent="0" algn="l" rtl="0">
              <a:spcBef>
                <a:spcPts val="1200"/>
              </a:spcBef>
              <a:spcAft>
                <a:spcPts val="0"/>
              </a:spcAft>
              <a:buNone/>
            </a:pPr>
            <a:r>
              <a:rPr lang="es-419">
                <a:solidFill>
                  <a:schemeClr val="dk1"/>
                </a:solidFill>
              </a:rPr>
              <a:t>La art colateral interna superior y las dos ramas de la colat int inferior se anastomosan con las art recurrentes cubitales, formando una red arterial periepitroclear.</a:t>
            </a:r>
            <a:endParaRPr>
              <a:solidFill>
                <a:schemeClr val="dk1"/>
              </a:solidFill>
            </a:endParaRPr>
          </a:p>
          <a:p>
            <a:pPr marL="0" lvl="0" indent="0" algn="l" rtl="0">
              <a:spcBef>
                <a:spcPts val="1200"/>
              </a:spcBef>
              <a:spcAft>
                <a:spcPts val="1200"/>
              </a:spcAft>
              <a:buNone/>
            </a:pPr>
            <a:r>
              <a:rPr lang="es-419">
                <a:solidFill>
                  <a:schemeClr val="dk1"/>
                </a:solidFill>
              </a:rPr>
              <a:t>Las dos redes se anastomosan entre sí </a:t>
            </a:r>
            <a:endParaRPr>
              <a:solidFill>
                <a:schemeClr val="dk1"/>
              </a:solidFill>
            </a:endParaRPr>
          </a:p>
        </p:txBody>
      </p:sp>
      <p:pic>
        <p:nvPicPr>
          <p:cNvPr id="151" name="Google Shape;151;p28"/>
          <p:cNvPicPr preferRelativeResize="0"/>
          <p:nvPr/>
        </p:nvPicPr>
        <p:blipFill>
          <a:blip r:embed="rId3">
            <a:alphaModFix/>
          </a:blip>
          <a:stretch>
            <a:fillRect/>
          </a:stretch>
        </p:blipFill>
        <p:spPr>
          <a:xfrm>
            <a:off x="6793425" y="2505775"/>
            <a:ext cx="2179025" cy="2490325"/>
          </a:xfrm>
          <a:prstGeom prst="rect">
            <a:avLst/>
          </a:prstGeom>
          <a:noFill/>
          <a:ln>
            <a:noFill/>
          </a:ln>
        </p:spPr>
      </p:pic>
      <p:pic>
        <p:nvPicPr>
          <p:cNvPr id="5" name="Imagen 4" descr="Imagen que contiene Gráfico&#10;&#10;Descripción generada automáticamente">
            <a:extLst>
              <a:ext uri="{FF2B5EF4-FFF2-40B4-BE49-F238E27FC236}">
                <a16:creationId xmlns:a16="http://schemas.microsoft.com/office/drawing/2014/main" id="{290A76A6-8F03-C3C4-5BBD-09946A3DC2B9}"/>
              </a:ext>
            </a:extLst>
          </p:cNvPr>
          <p:cNvPicPr>
            <a:picLocks noChangeAspect="1"/>
          </p:cNvPicPr>
          <p:nvPr/>
        </p:nvPicPr>
        <p:blipFill>
          <a:blip r:embed="rId4"/>
          <a:stretch>
            <a:fillRect/>
          </a:stretch>
        </p:blipFill>
        <p:spPr>
          <a:xfrm>
            <a:off x="0" y="0"/>
            <a:ext cx="9144000" cy="51435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a:highlight>
                  <a:srgbClr val="D9EAD3"/>
                </a:highlight>
              </a:rPr>
              <a:t>Arteria radial</a:t>
            </a:r>
            <a:r>
              <a:rPr lang="es-419"/>
              <a:t> </a:t>
            </a:r>
            <a:endParaRPr/>
          </a:p>
        </p:txBody>
      </p:sp>
      <p:sp>
        <p:nvSpPr>
          <p:cNvPr id="157" name="Google Shape;157;p29"/>
          <p:cNvSpPr txBox="1">
            <a:spLocks noGrp="1"/>
          </p:cNvSpPr>
          <p:nvPr>
            <p:ph type="body" idx="1"/>
          </p:nvPr>
        </p:nvSpPr>
        <p:spPr>
          <a:xfrm>
            <a:off x="311700" y="1000075"/>
            <a:ext cx="4621200" cy="3416400"/>
          </a:xfrm>
          <a:prstGeom prst="rect">
            <a:avLst/>
          </a:prstGeom>
        </p:spPr>
        <p:txBody>
          <a:bodyPr spcFirstLastPara="1" wrap="square" lIns="91425" tIns="91425" rIns="91425" bIns="91425" anchor="t" anchorCtr="0">
            <a:normAutofit/>
          </a:bodyPr>
          <a:lstStyle/>
          <a:p>
            <a:pPr marL="457200" lvl="0" indent="-294973" algn="l" rtl="0">
              <a:lnSpc>
                <a:spcPct val="105000"/>
              </a:lnSpc>
              <a:spcBef>
                <a:spcPts val="0"/>
              </a:spcBef>
              <a:spcAft>
                <a:spcPts val="0"/>
              </a:spcAft>
              <a:buClr>
                <a:schemeClr val="dk1"/>
              </a:buClr>
              <a:buSzPts val="1045"/>
              <a:buChar char="●"/>
            </a:pPr>
            <a:r>
              <a:rPr lang="es-419" sz="1045" b="1">
                <a:solidFill>
                  <a:schemeClr val="dk1"/>
                </a:solidFill>
              </a:rPr>
              <a:t>Origen: </a:t>
            </a:r>
            <a:r>
              <a:rPr lang="es-419" sz="1045">
                <a:solidFill>
                  <a:schemeClr val="dk1"/>
                </a:solidFill>
              </a:rPr>
              <a:t>bifurcación externa de la art. humeral. Nace a la altura de la flexura del codo y finaliza en el primer espacio interóseo para formar los arcos palmares </a:t>
            </a:r>
            <a:endParaRPr sz="1045">
              <a:solidFill>
                <a:schemeClr val="dk1"/>
              </a:solidFill>
            </a:endParaRPr>
          </a:p>
          <a:p>
            <a:pPr marL="457200" lvl="0" indent="-294973" algn="l" rtl="0">
              <a:lnSpc>
                <a:spcPct val="105000"/>
              </a:lnSpc>
              <a:spcBef>
                <a:spcPts val="0"/>
              </a:spcBef>
              <a:spcAft>
                <a:spcPts val="0"/>
              </a:spcAft>
              <a:buClr>
                <a:schemeClr val="dk1"/>
              </a:buClr>
              <a:buSzPts val="1045"/>
              <a:buChar char="●"/>
            </a:pPr>
            <a:r>
              <a:rPr lang="es-419" sz="1045" b="1">
                <a:solidFill>
                  <a:schemeClr val="dk1"/>
                </a:solidFill>
              </a:rPr>
              <a:t>Recorrido: </a:t>
            </a:r>
            <a:r>
              <a:rPr lang="es-419" sz="1045">
                <a:solidFill>
                  <a:schemeClr val="dk1"/>
                </a:solidFill>
              </a:rPr>
              <a:t>desciende por el antebrazo hasta el primer espacio interóseo, lo perfora y pentra la mano, donde se anastomosa con la art. cúbitopalmar, para formar el arco palmar profundo. Desciende por el antebrazo y llega al canal del pulso (supinador largo por fuera y palmar mayor por dentro). Luego, pasa por la tabaquera antómica para llegar a la mano. </a:t>
            </a:r>
            <a:endParaRPr sz="1045">
              <a:solidFill>
                <a:schemeClr val="dk1"/>
              </a:solidFill>
            </a:endParaRPr>
          </a:p>
          <a:p>
            <a:pPr marL="457200" lvl="0" indent="-294973" algn="l" rtl="0">
              <a:lnSpc>
                <a:spcPct val="105000"/>
              </a:lnSpc>
              <a:spcBef>
                <a:spcPts val="0"/>
              </a:spcBef>
              <a:spcAft>
                <a:spcPts val="0"/>
              </a:spcAft>
              <a:buClr>
                <a:schemeClr val="dk1"/>
              </a:buClr>
              <a:buSzPts val="1045"/>
              <a:buChar char="●"/>
            </a:pPr>
            <a:r>
              <a:rPr lang="es-419" sz="1045" b="1">
                <a:solidFill>
                  <a:schemeClr val="dk1"/>
                </a:solidFill>
              </a:rPr>
              <a:t>Relaciones: </a:t>
            </a:r>
            <a:endParaRPr sz="1045">
              <a:solidFill>
                <a:schemeClr val="dk1"/>
              </a:solidFill>
            </a:endParaRPr>
          </a:p>
          <a:p>
            <a:pPr marL="914400" lvl="1" indent="-294973" algn="l" rtl="0">
              <a:lnSpc>
                <a:spcPct val="105000"/>
              </a:lnSpc>
              <a:spcBef>
                <a:spcPts val="0"/>
              </a:spcBef>
              <a:spcAft>
                <a:spcPts val="0"/>
              </a:spcAft>
              <a:buClr>
                <a:schemeClr val="dk1"/>
              </a:buClr>
              <a:buSzPts val="1045"/>
              <a:buChar char="○"/>
            </a:pPr>
            <a:r>
              <a:rPr lang="es-419" sz="1045">
                <a:solidFill>
                  <a:schemeClr val="dk1"/>
                </a:solidFill>
              </a:rPr>
              <a:t>detrás: braquial ant, biceps, supinador corto, pronador redondo, FCS, FPP y pronador cuadrado</a:t>
            </a:r>
            <a:endParaRPr sz="1045">
              <a:solidFill>
                <a:schemeClr val="dk1"/>
              </a:solidFill>
            </a:endParaRPr>
          </a:p>
          <a:p>
            <a:pPr marL="914400" lvl="1" indent="-294973" algn="l" rtl="0">
              <a:lnSpc>
                <a:spcPct val="105000"/>
              </a:lnSpc>
              <a:spcBef>
                <a:spcPts val="0"/>
              </a:spcBef>
              <a:spcAft>
                <a:spcPts val="0"/>
              </a:spcAft>
              <a:buClr>
                <a:schemeClr val="dk1"/>
              </a:buClr>
              <a:buSzPts val="1045"/>
              <a:buChar char="○"/>
            </a:pPr>
            <a:r>
              <a:rPr lang="es-419" sz="1045">
                <a:solidFill>
                  <a:schemeClr val="dk1"/>
                </a:solidFill>
              </a:rPr>
              <a:t>delante: supinador largo</a:t>
            </a:r>
            <a:endParaRPr sz="1045">
              <a:solidFill>
                <a:schemeClr val="dk1"/>
              </a:solidFill>
            </a:endParaRPr>
          </a:p>
          <a:p>
            <a:pPr marL="914400" lvl="1" indent="-294973" algn="l" rtl="0">
              <a:lnSpc>
                <a:spcPct val="105000"/>
              </a:lnSpc>
              <a:spcBef>
                <a:spcPts val="0"/>
              </a:spcBef>
              <a:spcAft>
                <a:spcPts val="0"/>
              </a:spcAft>
              <a:buClr>
                <a:schemeClr val="dk1"/>
              </a:buClr>
              <a:buSzPts val="1045"/>
              <a:buChar char="○"/>
            </a:pPr>
            <a:r>
              <a:rPr lang="es-419" sz="1045">
                <a:solidFill>
                  <a:schemeClr val="dk1"/>
                </a:solidFill>
              </a:rPr>
              <a:t>acompañada por el nervio radial </a:t>
            </a:r>
            <a:endParaRPr sz="1045">
              <a:solidFill>
                <a:schemeClr val="dk1"/>
              </a:solidFill>
            </a:endParaRPr>
          </a:p>
        </p:txBody>
      </p:sp>
      <p:pic>
        <p:nvPicPr>
          <p:cNvPr id="158" name="Google Shape;158;p29"/>
          <p:cNvPicPr preferRelativeResize="0"/>
          <p:nvPr/>
        </p:nvPicPr>
        <p:blipFill rotWithShape="1">
          <a:blip r:embed="rId3">
            <a:alphaModFix/>
          </a:blip>
          <a:srcRect l="30183" t="15024" r="31810" b="6476"/>
          <a:stretch/>
        </p:blipFill>
        <p:spPr>
          <a:xfrm>
            <a:off x="5067000" y="343900"/>
            <a:ext cx="3717402" cy="4316974"/>
          </a:xfrm>
          <a:prstGeom prst="rect">
            <a:avLst/>
          </a:prstGeom>
          <a:noFill/>
          <a:ln>
            <a:noFill/>
          </a:ln>
        </p:spPr>
      </p:pic>
      <p:sp>
        <p:nvSpPr>
          <p:cNvPr id="159" name="Google Shape;159;p29"/>
          <p:cNvSpPr txBox="1"/>
          <p:nvPr/>
        </p:nvSpPr>
        <p:spPr>
          <a:xfrm>
            <a:off x="1542063" y="3881825"/>
            <a:ext cx="2595900" cy="523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s-419" sz="1100"/>
              <a:t>Músculo Satélite de la Arteria Radial: supinador largo o braquiorrdial </a:t>
            </a:r>
            <a:endParaRPr sz="1100"/>
          </a:p>
        </p:txBody>
      </p:sp>
      <p:pic>
        <p:nvPicPr>
          <p:cNvPr id="6" name="Imagen 5" descr="Imagen que contiene Gráfico&#10;&#10;Descripción generada automáticamente">
            <a:extLst>
              <a:ext uri="{FF2B5EF4-FFF2-40B4-BE49-F238E27FC236}">
                <a16:creationId xmlns:a16="http://schemas.microsoft.com/office/drawing/2014/main" id="{B8D1C4AE-1EDF-E779-83CB-398A1C956F12}"/>
              </a:ext>
            </a:extLst>
          </p:cNvPr>
          <p:cNvPicPr>
            <a:picLocks noChangeAspect="1"/>
          </p:cNvPicPr>
          <p:nvPr/>
        </p:nvPicPr>
        <p:blipFill>
          <a:blip r:embed="rId4"/>
          <a:stretch>
            <a:fillRect/>
          </a:stretch>
        </p:blipFill>
        <p:spPr>
          <a:xfrm>
            <a:off x="0" y="0"/>
            <a:ext cx="9144000" cy="5143500"/>
          </a:xfrm>
          <a:prstGeom prst="rect">
            <a:avLst/>
          </a:prstGeom>
        </p:spPr>
      </p:pic>
      <p:pic>
        <p:nvPicPr>
          <p:cNvPr id="7" name="Imagen 6" descr="Logotipo&#10;&#10;Descripción generada automáticamente">
            <a:extLst>
              <a:ext uri="{FF2B5EF4-FFF2-40B4-BE49-F238E27FC236}">
                <a16:creationId xmlns:a16="http://schemas.microsoft.com/office/drawing/2014/main" id="{6DE4A662-493A-D063-0C5C-68031FF3ED7C}"/>
              </a:ext>
            </a:extLst>
          </p:cNvPr>
          <p:cNvPicPr>
            <a:picLocks noChangeAspect="1"/>
          </p:cNvPicPr>
          <p:nvPr/>
        </p:nvPicPr>
        <p:blipFill>
          <a:blip r:embed="rId5"/>
          <a:stretch>
            <a:fillRect/>
          </a:stretch>
        </p:blipFill>
        <p:spPr>
          <a:xfrm>
            <a:off x="8081470" y="0"/>
            <a:ext cx="1263805" cy="7108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b="1"/>
              <a:t>Ramas de la A. radial</a:t>
            </a:r>
            <a:endParaRPr b="1"/>
          </a:p>
        </p:txBody>
      </p:sp>
      <p:sp>
        <p:nvSpPr>
          <p:cNvPr id="165" name="Google Shape;165;p30"/>
          <p:cNvSpPr txBox="1">
            <a:spLocks noGrp="1"/>
          </p:cNvSpPr>
          <p:nvPr>
            <p:ph type="body" idx="1"/>
          </p:nvPr>
        </p:nvSpPr>
        <p:spPr>
          <a:xfrm>
            <a:off x="263800" y="1152500"/>
            <a:ext cx="5789700" cy="3742500"/>
          </a:xfrm>
          <a:prstGeom prst="rect">
            <a:avLst/>
          </a:prstGeom>
        </p:spPr>
        <p:txBody>
          <a:bodyPr spcFirstLastPara="1" wrap="square" lIns="91425" tIns="91425" rIns="91425" bIns="91425" anchor="t" anchorCtr="0">
            <a:normAutofit fontScale="85000" lnSpcReduction="10000"/>
          </a:bodyPr>
          <a:lstStyle/>
          <a:p>
            <a:pPr marL="457200" lvl="0" indent="-298767" algn="l" rtl="0">
              <a:spcBef>
                <a:spcPts val="0"/>
              </a:spcBef>
              <a:spcAft>
                <a:spcPts val="0"/>
              </a:spcAft>
              <a:buClr>
                <a:schemeClr val="dk1"/>
              </a:buClr>
              <a:buSzPct val="100000"/>
              <a:buChar char="●"/>
            </a:pPr>
            <a:r>
              <a:rPr lang="es-419" sz="1300" i="1">
                <a:solidFill>
                  <a:schemeClr val="dk1"/>
                </a:solidFill>
              </a:rPr>
              <a:t>Arteria recurrente radial anterior</a:t>
            </a:r>
            <a:r>
              <a:rPr lang="es-419" sz="1300">
                <a:solidFill>
                  <a:schemeClr val="dk1"/>
                </a:solidFill>
              </a:rPr>
              <a:t>: art de los m epitrocleares. Nace cerca del origen de la art. radial, asciende por el surco bicipital lateral y se anastomosa con la arteria colateral radial, rama anterior de la arteria braquial profunda. </a:t>
            </a:r>
            <a:endParaRPr sz="1300">
              <a:solidFill>
                <a:schemeClr val="dk1"/>
              </a:solidFill>
            </a:endParaRPr>
          </a:p>
          <a:p>
            <a:pPr marL="457200" lvl="0" indent="-298767" algn="l" rtl="0">
              <a:spcBef>
                <a:spcPts val="0"/>
              </a:spcBef>
              <a:spcAft>
                <a:spcPts val="0"/>
              </a:spcAft>
              <a:buClr>
                <a:schemeClr val="dk1"/>
              </a:buClr>
              <a:buSzPct val="100000"/>
              <a:buChar char="●"/>
            </a:pPr>
            <a:r>
              <a:rPr lang="es-419" sz="1300" i="1">
                <a:solidFill>
                  <a:schemeClr val="dk1"/>
                </a:solidFill>
              </a:rPr>
              <a:t>Rama palmar del carpo: </a:t>
            </a:r>
            <a:r>
              <a:rPr lang="es-419" sz="1300">
                <a:solidFill>
                  <a:schemeClr val="dk1"/>
                </a:solidFill>
              </a:rPr>
              <a:t>nace sobre el músculo pronador cuadrado y se anastomosa con una semejante de la arteria cubital para formar la red carpiana palmar. </a:t>
            </a:r>
            <a:endParaRPr sz="1300">
              <a:solidFill>
                <a:schemeClr val="dk1"/>
              </a:solidFill>
            </a:endParaRPr>
          </a:p>
          <a:p>
            <a:pPr marL="457200" lvl="0" indent="-298767" algn="l" rtl="0">
              <a:spcBef>
                <a:spcPts val="0"/>
              </a:spcBef>
              <a:spcAft>
                <a:spcPts val="0"/>
              </a:spcAft>
              <a:buClr>
                <a:schemeClr val="dk1"/>
              </a:buClr>
              <a:buSzPct val="100000"/>
              <a:buChar char="●"/>
            </a:pPr>
            <a:r>
              <a:rPr lang="es-419" sz="1300" i="1">
                <a:solidFill>
                  <a:schemeClr val="dk1"/>
                </a:solidFill>
              </a:rPr>
              <a:t>Rama palmar superficial [radiopalmar]: </a:t>
            </a:r>
            <a:r>
              <a:rPr lang="es-419" sz="1300">
                <a:solidFill>
                  <a:schemeClr val="dk1"/>
                </a:solidFill>
              </a:rPr>
              <a:t>nace a nivel de la articulación radiocarpiana, irriga el músculo abductor corto del pulgar y se anastomosa con la arteria cubital para formar el arco palmar superficial.</a:t>
            </a:r>
            <a:endParaRPr sz="1300">
              <a:solidFill>
                <a:schemeClr val="dk1"/>
              </a:solidFill>
            </a:endParaRPr>
          </a:p>
          <a:p>
            <a:pPr marL="457200" lvl="0" indent="-320357" algn="l" rtl="0">
              <a:spcBef>
                <a:spcPts val="0"/>
              </a:spcBef>
              <a:spcAft>
                <a:spcPts val="0"/>
              </a:spcAft>
              <a:buClr>
                <a:schemeClr val="dk1"/>
              </a:buClr>
              <a:buSzPct val="130769"/>
              <a:buChar char="●"/>
            </a:pPr>
            <a:r>
              <a:rPr lang="es-419" sz="1300" i="1">
                <a:solidFill>
                  <a:schemeClr val="dk1"/>
                </a:solidFill>
              </a:rPr>
              <a:t>Rama dorsal del carpo</a:t>
            </a:r>
            <a:r>
              <a:rPr lang="es-419" sz="1300">
                <a:solidFill>
                  <a:schemeClr val="dk1"/>
                </a:solidFill>
              </a:rPr>
              <a:t>: originada a nivel de la tabaquera anatómica, corre transversalmente en busca de la rama dorsal del carpo de la arteria cubital, formando la red carpiana dorsal. De esta red nacen:</a:t>
            </a:r>
            <a:endParaRPr sz="1300">
              <a:solidFill>
                <a:schemeClr val="dk1"/>
              </a:solidFill>
            </a:endParaRPr>
          </a:p>
          <a:p>
            <a:pPr marL="914400" lvl="1" indent="-320357" algn="l" rtl="0">
              <a:spcBef>
                <a:spcPts val="0"/>
              </a:spcBef>
              <a:spcAft>
                <a:spcPts val="0"/>
              </a:spcAft>
              <a:buClr>
                <a:schemeClr val="dk1"/>
              </a:buClr>
              <a:buSzPct val="130769"/>
              <a:buChar char="○"/>
            </a:pPr>
            <a:r>
              <a:rPr lang="es-419" sz="1300">
                <a:solidFill>
                  <a:schemeClr val="dk1"/>
                </a:solidFill>
              </a:rPr>
              <a:t> ramas ascendentes, que se anastomosan con la arteria interósea anterior de la arteria cubital</a:t>
            </a:r>
            <a:endParaRPr sz="1300">
              <a:solidFill>
                <a:schemeClr val="dk1"/>
              </a:solidFill>
            </a:endParaRPr>
          </a:p>
          <a:p>
            <a:pPr marL="914400" lvl="1" indent="-320357" algn="l" rtl="0">
              <a:spcBef>
                <a:spcPts val="0"/>
              </a:spcBef>
              <a:spcAft>
                <a:spcPts val="0"/>
              </a:spcAft>
              <a:buClr>
                <a:schemeClr val="dk1"/>
              </a:buClr>
              <a:buSzPct val="130769"/>
              <a:buChar char="○"/>
            </a:pPr>
            <a:r>
              <a:rPr lang="es-419" sz="1300">
                <a:solidFill>
                  <a:schemeClr val="dk1"/>
                </a:solidFill>
              </a:rPr>
              <a:t>ramas descendentes que son las </a:t>
            </a:r>
            <a:r>
              <a:rPr lang="es-419" sz="1300" b="1">
                <a:solidFill>
                  <a:schemeClr val="dk1"/>
                </a:solidFill>
              </a:rPr>
              <a:t>arterias metacarpianas dorsales</a:t>
            </a:r>
            <a:r>
              <a:rPr lang="es-419" sz="1300">
                <a:solidFill>
                  <a:schemeClr val="dk1"/>
                </a:solidFill>
              </a:rPr>
              <a:t> de los espacios 2°, 3° y 4° metacarpiano que originan a las arterias digitales dorsales, las cuales establecen anastomosis con el arco palmar profundo.</a:t>
            </a:r>
            <a:endParaRPr sz="1300">
              <a:solidFill>
                <a:schemeClr val="dk1"/>
              </a:solidFill>
            </a:endParaRPr>
          </a:p>
          <a:p>
            <a:pPr marL="457200" lvl="0" indent="-320357" algn="l" rtl="0">
              <a:spcBef>
                <a:spcPts val="0"/>
              </a:spcBef>
              <a:spcAft>
                <a:spcPts val="0"/>
              </a:spcAft>
              <a:buClr>
                <a:schemeClr val="dk1"/>
              </a:buClr>
              <a:buSzPct val="130769"/>
              <a:buChar char="●"/>
            </a:pPr>
            <a:r>
              <a:rPr lang="es-419" sz="1300" i="1">
                <a:solidFill>
                  <a:schemeClr val="dk1"/>
                </a:solidFill>
              </a:rPr>
              <a:t> Arteria principal del dedo pulgar</a:t>
            </a:r>
            <a:r>
              <a:rPr lang="es-419" sz="1300">
                <a:solidFill>
                  <a:schemeClr val="dk1"/>
                </a:solidFill>
              </a:rPr>
              <a:t>: nace a nivel de la tabaquera anatómica y desciende sobre la cara dorsal del I metacarpiano y de la falange proximal del dedo.</a:t>
            </a:r>
            <a:endParaRPr sz="1300">
              <a:solidFill>
                <a:schemeClr val="dk1"/>
              </a:solidFill>
            </a:endParaRPr>
          </a:p>
        </p:txBody>
      </p:sp>
      <p:pic>
        <p:nvPicPr>
          <p:cNvPr id="166" name="Google Shape;166;p30"/>
          <p:cNvPicPr preferRelativeResize="0"/>
          <p:nvPr/>
        </p:nvPicPr>
        <p:blipFill rotWithShape="1">
          <a:blip r:embed="rId3">
            <a:alphaModFix/>
          </a:blip>
          <a:srcRect l="35729" t="15571" r="37559" b="11632"/>
          <a:stretch/>
        </p:blipFill>
        <p:spPr>
          <a:xfrm>
            <a:off x="6053500" y="599700"/>
            <a:ext cx="2691549" cy="4124189"/>
          </a:xfrm>
          <a:prstGeom prst="rect">
            <a:avLst/>
          </a:prstGeom>
          <a:noFill/>
          <a:ln>
            <a:noFill/>
          </a:ln>
        </p:spPr>
      </p:pic>
      <p:pic>
        <p:nvPicPr>
          <p:cNvPr id="5" name="Imagen 4" descr="Imagen que contiene Gráfico&#10;&#10;Descripción generada automáticamente">
            <a:extLst>
              <a:ext uri="{FF2B5EF4-FFF2-40B4-BE49-F238E27FC236}">
                <a16:creationId xmlns:a16="http://schemas.microsoft.com/office/drawing/2014/main" id="{108486C6-0125-F089-4DE8-5081027C8068}"/>
              </a:ext>
            </a:extLst>
          </p:cNvPr>
          <p:cNvPicPr>
            <a:picLocks noChangeAspect="1"/>
          </p:cNvPicPr>
          <p:nvPr/>
        </p:nvPicPr>
        <p:blipFill>
          <a:blip r:embed="rId4"/>
          <a:stretch>
            <a:fillRect/>
          </a:stretch>
        </p:blipFill>
        <p:spPr>
          <a:xfrm>
            <a:off x="0" y="0"/>
            <a:ext cx="9144000" cy="5143500"/>
          </a:xfrm>
          <a:prstGeom prst="rect">
            <a:avLst/>
          </a:prstGeom>
        </p:spPr>
      </p:pic>
      <p:pic>
        <p:nvPicPr>
          <p:cNvPr id="6" name="Imagen 5" descr="Logotipo&#10;&#10;Descripción generada automáticamente">
            <a:extLst>
              <a:ext uri="{FF2B5EF4-FFF2-40B4-BE49-F238E27FC236}">
                <a16:creationId xmlns:a16="http://schemas.microsoft.com/office/drawing/2014/main" id="{D1537B9E-8391-AC46-EFE0-2DD3237220A3}"/>
              </a:ext>
            </a:extLst>
          </p:cNvPr>
          <p:cNvPicPr>
            <a:picLocks noChangeAspect="1"/>
          </p:cNvPicPr>
          <p:nvPr/>
        </p:nvPicPr>
        <p:blipFill>
          <a:blip r:embed="rId5"/>
          <a:stretch>
            <a:fillRect/>
          </a:stretch>
        </p:blipFill>
        <p:spPr>
          <a:xfrm>
            <a:off x="8081470" y="0"/>
            <a:ext cx="1263805" cy="7108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a:highlight>
                  <a:srgbClr val="CFE2F3"/>
                </a:highlight>
              </a:rPr>
              <a:t>Arteria cubital </a:t>
            </a:r>
            <a:endParaRPr>
              <a:highlight>
                <a:srgbClr val="CFE2F3"/>
              </a:highlight>
            </a:endParaRPr>
          </a:p>
        </p:txBody>
      </p:sp>
      <p:sp>
        <p:nvSpPr>
          <p:cNvPr id="172" name="Google Shape;172;p31"/>
          <p:cNvSpPr txBox="1">
            <a:spLocks noGrp="1"/>
          </p:cNvSpPr>
          <p:nvPr>
            <p:ph type="body" idx="1"/>
          </p:nvPr>
        </p:nvSpPr>
        <p:spPr>
          <a:xfrm>
            <a:off x="311700" y="1152475"/>
            <a:ext cx="4260300" cy="3431700"/>
          </a:xfrm>
          <a:prstGeom prst="rect">
            <a:avLst/>
          </a:prstGeom>
        </p:spPr>
        <p:txBody>
          <a:bodyPr spcFirstLastPara="1" wrap="square" lIns="91425" tIns="91425" rIns="91425" bIns="91425" anchor="t" anchorCtr="0">
            <a:normAutofit fontScale="85000" lnSpcReduction="20000"/>
          </a:bodyPr>
          <a:lstStyle/>
          <a:p>
            <a:pPr marL="457200" lvl="0" indent="-317182" algn="l" rtl="0">
              <a:spcBef>
                <a:spcPts val="0"/>
              </a:spcBef>
              <a:spcAft>
                <a:spcPts val="0"/>
              </a:spcAft>
              <a:buClr>
                <a:schemeClr val="dk1"/>
              </a:buClr>
              <a:buSzPct val="100000"/>
              <a:buChar char="●"/>
            </a:pPr>
            <a:r>
              <a:rPr lang="es-419" b="1">
                <a:solidFill>
                  <a:schemeClr val="dk1"/>
                </a:solidFill>
              </a:rPr>
              <a:t>Origen: </a:t>
            </a:r>
            <a:r>
              <a:rPr lang="es-419">
                <a:solidFill>
                  <a:schemeClr val="dk1"/>
                </a:solidFill>
              </a:rPr>
              <a:t>bifurcación interna de la art. humeral.  Nace a la altura de la flexura o pliegue del codo y finaliza a la altura del hueso pisiformes el cual surca externamente </a:t>
            </a:r>
            <a:endParaRPr>
              <a:solidFill>
                <a:schemeClr val="dk1"/>
              </a:solidFill>
            </a:endParaRPr>
          </a:p>
          <a:p>
            <a:pPr marL="457200" lvl="0" indent="-317182" algn="l" rtl="0">
              <a:spcBef>
                <a:spcPts val="0"/>
              </a:spcBef>
              <a:spcAft>
                <a:spcPts val="0"/>
              </a:spcAft>
              <a:buClr>
                <a:schemeClr val="dk1"/>
              </a:buClr>
              <a:buSzPct val="100000"/>
              <a:buChar char="●"/>
            </a:pPr>
            <a:r>
              <a:rPr lang="es-419" b="1">
                <a:solidFill>
                  <a:schemeClr val="dk1"/>
                </a:solidFill>
              </a:rPr>
              <a:t>Recorrido:</a:t>
            </a:r>
            <a:r>
              <a:rPr lang="es-419">
                <a:solidFill>
                  <a:schemeClr val="dk1"/>
                </a:solidFill>
              </a:rPr>
              <a:t> se dirige hacia abajo y adentro y desciende hasta el lig anular anterior del carpo, donde se inclina hacia afuera para continuarse con el arco palmar superficial </a:t>
            </a:r>
            <a:endParaRPr>
              <a:solidFill>
                <a:schemeClr val="dk1"/>
              </a:solidFill>
            </a:endParaRPr>
          </a:p>
          <a:p>
            <a:pPr marL="457200" lvl="0" indent="-317182" algn="l" rtl="0">
              <a:spcBef>
                <a:spcPts val="0"/>
              </a:spcBef>
              <a:spcAft>
                <a:spcPts val="0"/>
              </a:spcAft>
              <a:buClr>
                <a:schemeClr val="dk1"/>
              </a:buClr>
              <a:buSzPct val="100000"/>
              <a:buChar char="●"/>
            </a:pPr>
            <a:r>
              <a:rPr lang="es-419" b="1">
                <a:solidFill>
                  <a:schemeClr val="dk1"/>
                </a:solidFill>
              </a:rPr>
              <a:t>Relaciones</a:t>
            </a:r>
            <a:r>
              <a:rPr lang="es-419">
                <a:solidFill>
                  <a:schemeClr val="dk1"/>
                </a:solidFill>
              </a:rPr>
              <a:t>: Es acompañado por el nervio cubital y el músculo cubital anterior. En el ⅓ sup el pronador redondo y el FCS la cubren. En la muñeca pasa por fuera del h.pisiforme  y por la cara anterior del lig anular ant del carpo. </a:t>
            </a:r>
            <a:endParaRPr>
              <a:solidFill>
                <a:schemeClr val="dk1"/>
              </a:solidFill>
            </a:endParaRPr>
          </a:p>
        </p:txBody>
      </p:sp>
      <p:pic>
        <p:nvPicPr>
          <p:cNvPr id="173" name="Google Shape;173;p31"/>
          <p:cNvPicPr preferRelativeResize="0"/>
          <p:nvPr/>
        </p:nvPicPr>
        <p:blipFill>
          <a:blip r:embed="rId3">
            <a:alphaModFix/>
          </a:blip>
          <a:stretch>
            <a:fillRect/>
          </a:stretch>
        </p:blipFill>
        <p:spPr>
          <a:xfrm>
            <a:off x="4894575" y="636922"/>
            <a:ext cx="4010801" cy="4273176"/>
          </a:xfrm>
          <a:prstGeom prst="rect">
            <a:avLst/>
          </a:prstGeom>
          <a:noFill/>
          <a:ln>
            <a:noFill/>
          </a:ln>
        </p:spPr>
      </p:pic>
      <p:pic>
        <p:nvPicPr>
          <p:cNvPr id="5" name="Imagen 4" descr="Imagen que contiene Gráfico&#10;&#10;Descripción generada automáticamente">
            <a:extLst>
              <a:ext uri="{FF2B5EF4-FFF2-40B4-BE49-F238E27FC236}">
                <a16:creationId xmlns:a16="http://schemas.microsoft.com/office/drawing/2014/main" id="{61C16F72-4330-597D-0C64-B2FC85010924}"/>
              </a:ext>
            </a:extLst>
          </p:cNvPr>
          <p:cNvPicPr>
            <a:picLocks noChangeAspect="1"/>
          </p:cNvPicPr>
          <p:nvPr/>
        </p:nvPicPr>
        <p:blipFill>
          <a:blip r:embed="rId4"/>
          <a:stretch>
            <a:fillRect/>
          </a:stretch>
        </p:blipFill>
        <p:spPr>
          <a:xfrm>
            <a:off x="0" y="0"/>
            <a:ext cx="9144000" cy="5143500"/>
          </a:xfrm>
          <a:prstGeom prst="rect">
            <a:avLst/>
          </a:prstGeom>
        </p:spPr>
      </p:pic>
      <p:pic>
        <p:nvPicPr>
          <p:cNvPr id="6" name="Imagen 5" descr="Logotipo&#10;&#10;Descripción generada automáticamente">
            <a:extLst>
              <a:ext uri="{FF2B5EF4-FFF2-40B4-BE49-F238E27FC236}">
                <a16:creationId xmlns:a16="http://schemas.microsoft.com/office/drawing/2014/main" id="{9FD35934-AB8D-071E-8BD1-0BE53931DE66}"/>
              </a:ext>
            </a:extLst>
          </p:cNvPr>
          <p:cNvPicPr>
            <a:picLocks noChangeAspect="1"/>
          </p:cNvPicPr>
          <p:nvPr/>
        </p:nvPicPr>
        <p:blipFill>
          <a:blip r:embed="rId5"/>
          <a:stretch>
            <a:fillRect/>
          </a:stretch>
        </p:blipFill>
        <p:spPr>
          <a:xfrm>
            <a:off x="8081470" y="0"/>
            <a:ext cx="1263805" cy="71089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a:t>Ramas de la arteria cubital</a:t>
            </a:r>
            <a:endParaRPr/>
          </a:p>
        </p:txBody>
      </p:sp>
      <p:sp>
        <p:nvSpPr>
          <p:cNvPr id="179" name="Google Shape;179;p32"/>
          <p:cNvSpPr txBox="1">
            <a:spLocks noGrp="1"/>
          </p:cNvSpPr>
          <p:nvPr>
            <p:ph type="body" idx="1"/>
          </p:nvPr>
        </p:nvSpPr>
        <p:spPr>
          <a:xfrm>
            <a:off x="311700" y="1152475"/>
            <a:ext cx="7465800" cy="3776700"/>
          </a:xfrm>
          <a:prstGeom prst="rect">
            <a:avLst/>
          </a:prstGeom>
        </p:spPr>
        <p:txBody>
          <a:bodyPr spcFirstLastPara="1" wrap="square" lIns="91425" tIns="91425" rIns="91425" bIns="91425" anchor="t" anchorCtr="0">
            <a:normAutofit fontScale="62500" lnSpcReduction="20000"/>
          </a:bodyPr>
          <a:lstStyle/>
          <a:p>
            <a:pPr marL="457200" lvl="0" indent="-308610" algn="l" rtl="0">
              <a:spcBef>
                <a:spcPts val="0"/>
              </a:spcBef>
              <a:spcAft>
                <a:spcPts val="0"/>
              </a:spcAft>
              <a:buClr>
                <a:schemeClr val="dk1"/>
              </a:buClr>
              <a:buSzPct val="100000"/>
              <a:buChar char="●"/>
            </a:pPr>
            <a:r>
              <a:rPr lang="es-419" i="1">
                <a:solidFill>
                  <a:schemeClr val="dk1"/>
                </a:solidFill>
              </a:rPr>
              <a:t>Arteria recurrente cubital: </a:t>
            </a:r>
            <a:r>
              <a:rPr lang="es-419">
                <a:solidFill>
                  <a:schemeClr val="dk1"/>
                </a:solidFill>
              </a:rPr>
              <a:t>nace cerca del origen de la art y se divide en dos ramas: </a:t>
            </a:r>
            <a:endParaRPr>
              <a:solidFill>
                <a:schemeClr val="dk1"/>
              </a:solidFill>
            </a:endParaRPr>
          </a:p>
          <a:p>
            <a:pPr marL="914400" lvl="1" indent="-290830" algn="l" rtl="0">
              <a:spcBef>
                <a:spcPts val="0"/>
              </a:spcBef>
              <a:spcAft>
                <a:spcPts val="0"/>
              </a:spcAft>
              <a:buClr>
                <a:schemeClr val="dk1"/>
              </a:buClr>
              <a:buSzPct val="100000"/>
              <a:buChar char="○"/>
            </a:pPr>
            <a:r>
              <a:rPr lang="es-419">
                <a:solidFill>
                  <a:schemeClr val="dk1"/>
                </a:solidFill>
              </a:rPr>
              <a:t>Rama anterior:asciende por el surco bicipital medial y se anastomosa con la arteria colateral cubital inferior, rama de la arteria braquial.</a:t>
            </a:r>
            <a:endParaRPr>
              <a:solidFill>
                <a:schemeClr val="dk1"/>
              </a:solidFill>
            </a:endParaRPr>
          </a:p>
          <a:p>
            <a:pPr marL="914400" lvl="1" indent="-290830" algn="l" rtl="0">
              <a:spcBef>
                <a:spcPts val="0"/>
              </a:spcBef>
              <a:spcAft>
                <a:spcPts val="0"/>
              </a:spcAft>
              <a:buClr>
                <a:schemeClr val="dk1"/>
              </a:buClr>
              <a:buSzPct val="100000"/>
              <a:buChar char="○"/>
            </a:pPr>
            <a:r>
              <a:rPr lang="es-419">
                <a:solidFill>
                  <a:schemeClr val="dk1"/>
                </a:solidFill>
              </a:rPr>
              <a:t>Rama posterior: cubierta por el músculo flexor cubital del carpo alcanza el surco del nervio cubital y se anastomosa con las arterias colateral cubital superior, rama de la arteria braquial. Estas anastomosis conforman los </a:t>
            </a:r>
            <a:r>
              <a:rPr lang="es-419" b="1">
                <a:solidFill>
                  <a:schemeClr val="dk1"/>
                </a:solidFill>
              </a:rPr>
              <a:t>círculos arteriales de codo </a:t>
            </a:r>
            <a:r>
              <a:rPr lang="es-419">
                <a:solidFill>
                  <a:schemeClr val="dk1"/>
                </a:solidFill>
              </a:rPr>
              <a:t>que irrigan la articulación del codo, los músculos epicondíleos mediales y el nervio cubital. </a:t>
            </a:r>
            <a:endParaRPr>
              <a:solidFill>
                <a:schemeClr val="dk1"/>
              </a:solidFill>
            </a:endParaRPr>
          </a:p>
          <a:p>
            <a:pPr marL="457200" lvl="0" indent="-308610" algn="l" rtl="0">
              <a:spcBef>
                <a:spcPts val="0"/>
              </a:spcBef>
              <a:spcAft>
                <a:spcPts val="0"/>
              </a:spcAft>
              <a:buClr>
                <a:schemeClr val="dk1"/>
              </a:buClr>
              <a:buSzPct val="100000"/>
              <a:buChar char="●"/>
            </a:pPr>
            <a:r>
              <a:rPr lang="es-419" i="1">
                <a:solidFill>
                  <a:schemeClr val="dk1"/>
                </a:solidFill>
              </a:rPr>
              <a:t>Arteria interósea común:</a:t>
            </a:r>
            <a:r>
              <a:rPr lang="es-419">
                <a:solidFill>
                  <a:schemeClr val="dk1"/>
                </a:solidFill>
              </a:rPr>
              <a:t> nace de la cara posterior ; su trayecto corto es descendente hasta el borde superior de la membrana interósea y allí se divide en sus dos ramas:</a:t>
            </a:r>
            <a:endParaRPr>
              <a:solidFill>
                <a:schemeClr val="dk1"/>
              </a:solidFill>
            </a:endParaRPr>
          </a:p>
          <a:p>
            <a:pPr marL="914400" lvl="1" indent="-290830" algn="l" rtl="0">
              <a:spcBef>
                <a:spcPts val="0"/>
              </a:spcBef>
              <a:spcAft>
                <a:spcPts val="0"/>
              </a:spcAft>
              <a:buClr>
                <a:schemeClr val="dk1"/>
              </a:buClr>
              <a:buSzPct val="100000"/>
              <a:buChar char="○"/>
            </a:pPr>
            <a:r>
              <a:rPr lang="es-419">
                <a:solidFill>
                  <a:schemeClr val="dk1"/>
                </a:solidFill>
              </a:rPr>
              <a:t>Anterior: termina en la cara dorsal de la muñeca y se anastomosa con la interósea posterior y ramas ascendentes del arco dorsal del carpos Da ramas a los músculos de la región, </a:t>
            </a:r>
            <a:endParaRPr>
              <a:solidFill>
                <a:schemeClr val="dk1"/>
              </a:solidFill>
            </a:endParaRPr>
          </a:p>
          <a:p>
            <a:pPr marL="914400" lvl="1" indent="-290830" algn="l" rtl="0">
              <a:spcBef>
                <a:spcPts val="0"/>
              </a:spcBef>
              <a:spcAft>
                <a:spcPts val="0"/>
              </a:spcAft>
              <a:buClr>
                <a:schemeClr val="dk1"/>
              </a:buClr>
              <a:buSzPct val="100000"/>
              <a:buChar char="○"/>
            </a:pPr>
            <a:r>
              <a:rPr lang="es-419">
                <a:solidFill>
                  <a:schemeClr val="dk1"/>
                </a:solidFill>
              </a:rPr>
              <a:t>Posterior: atraviesa el espacio interóseo por encima del lig interóseo y se anastomosa con la interósea anterior y ramas ascendentes del arco dorsal del carpo. Da la arteria interósea recurrente,que alcanza el codo donde forma su red articular </a:t>
            </a:r>
            <a:endParaRPr>
              <a:solidFill>
                <a:schemeClr val="dk1"/>
              </a:solidFill>
            </a:endParaRPr>
          </a:p>
          <a:p>
            <a:pPr marL="457200" lvl="0" indent="-308610" algn="l" rtl="0">
              <a:spcBef>
                <a:spcPts val="0"/>
              </a:spcBef>
              <a:spcAft>
                <a:spcPts val="0"/>
              </a:spcAft>
              <a:buClr>
                <a:schemeClr val="dk1"/>
              </a:buClr>
              <a:buSzPct val="100000"/>
              <a:buChar char="●"/>
            </a:pPr>
            <a:r>
              <a:rPr lang="es-419" i="1">
                <a:solidFill>
                  <a:schemeClr val="dk1"/>
                </a:solidFill>
              </a:rPr>
              <a:t>Rama dorsal del carpo</a:t>
            </a:r>
            <a:r>
              <a:rPr lang="es-419">
                <a:solidFill>
                  <a:schemeClr val="dk1"/>
                </a:solidFill>
              </a:rPr>
              <a:t>: nace a nivel del hueso pisiforme y alcanza la cara dorsal de la muñeca, para anastomosarse con la otra art dorsal del carpo, formando el arco dorsal del carpo. </a:t>
            </a:r>
            <a:endParaRPr>
              <a:solidFill>
                <a:schemeClr val="dk1"/>
              </a:solidFill>
            </a:endParaRPr>
          </a:p>
          <a:p>
            <a:pPr marL="457200" lvl="0" indent="-308610" algn="l" rtl="0">
              <a:spcBef>
                <a:spcPts val="0"/>
              </a:spcBef>
              <a:spcAft>
                <a:spcPts val="0"/>
              </a:spcAft>
              <a:buClr>
                <a:schemeClr val="dk1"/>
              </a:buClr>
              <a:buSzPct val="100000"/>
              <a:buChar char="●"/>
            </a:pPr>
            <a:r>
              <a:rPr lang="es-419" i="1">
                <a:solidFill>
                  <a:schemeClr val="dk1"/>
                </a:solidFill>
              </a:rPr>
              <a:t>Rama palmar del carpo (transversa ant del carpo)</a:t>
            </a:r>
            <a:r>
              <a:rPr lang="es-419">
                <a:solidFill>
                  <a:schemeClr val="dk1"/>
                </a:solidFill>
              </a:rPr>
              <a:t>: nace a nivel distal del músculo pronador cuadrado y se anastomosa con la rama palmar del carpo de la arteria radial. </a:t>
            </a:r>
            <a:endParaRPr>
              <a:solidFill>
                <a:schemeClr val="dk1"/>
              </a:solidFill>
            </a:endParaRPr>
          </a:p>
          <a:p>
            <a:pPr marL="457200" lvl="0" indent="-308610" algn="l" rtl="0">
              <a:spcBef>
                <a:spcPts val="0"/>
              </a:spcBef>
              <a:spcAft>
                <a:spcPts val="0"/>
              </a:spcAft>
              <a:buClr>
                <a:schemeClr val="dk1"/>
              </a:buClr>
              <a:buSzPct val="100000"/>
              <a:buChar char="●"/>
            </a:pPr>
            <a:r>
              <a:rPr lang="es-419" i="1">
                <a:solidFill>
                  <a:schemeClr val="dk1"/>
                </a:solidFill>
              </a:rPr>
              <a:t>Rama palmar profunda [cubitopalmar]:</a:t>
            </a:r>
            <a:r>
              <a:rPr lang="es-419">
                <a:solidFill>
                  <a:schemeClr val="dk1"/>
                </a:solidFill>
              </a:rPr>
              <a:t> nace distal al hueso pisiforme y penetra la  eminencia hipotenar, sobre el músculo oponente del meñique en busca de la arteria radial para formar el arco palmar profundo. En este trayecto se acompaña del ramo profundo del nervio cubital. </a:t>
            </a:r>
            <a:endParaRPr>
              <a:solidFill>
                <a:schemeClr val="dk1"/>
              </a:solidFill>
            </a:endParaRPr>
          </a:p>
        </p:txBody>
      </p:sp>
      <p:pic>
        <p:nvPicPr>
          <p:cNvPr id="4" name="Imagen 3" descr="Imagen que contiene Gráfico&#10;&#10;Descripción generada automáticamente">
            <a:extLst>
              <a:ext uri="{FF2B5EF4-FFF2-40B4-BE49-F238E27FC236}">
                <a16:creationId xmlns:a16="http://schemas.microsoft.com/office/drawing/2014/main" id="{2FD11FD5-4A79-0521-DDD6-2CABB5FCC396}"/>
              </a:ext>
            </a:extLst>
          </p:cNvPr>
          <p:cNvPicPr>
            <a:picLocks noChangeAspect="1"/>
          </p:cNvPicPr>
          <p:nvPr/>
        </p:nvPicPr>
        <p:blipFill>
          <a:blip r:embed="rId3"/>
          <a:stretch>
            <a:fillRect/>
          </a:stretch>
        </p:blipFill>
        <p:spPr>
          <a:xfrm>
            <a:off x="0" y="0"/>
            <a:ext cx="9144000" cy="5143500"/>
          </a:xfrm>
          <a:prstGeom prst="rect">
            <a:avLst/>
          </a:prstGeom>
        </p:spPr>
      </p:pic>
      <p:pic>
        <p:nvPicPr>
          <p:cNvPr id="5" name="Imagen 4" descr="Logotipo&#10;&#10;Descripción generada automáticamente">
            <a:extLst>
              <a:ext uri="{FF2B5EF4-FFF2-40B4-BE49-F238E27FC236}">
                <a16:creationId xmlns:a16="http://schemas.microsoft.com/office/drawing/2014/main" id="{68E468C2-2ED2-ABF9-D5D6-AD28BDF017A4}"/>
              </a:ext>
            </a:extLst>
          </p:cNvPr>
          <p:cNvPicPr>
            <a:picLocks noChangeAspect="1"/>
          </p:cNvPicPr>
          <p:nvPr/>
        </p:nvPicPr>
        <p:blipFill>
          <a:blip r:embed="rId4"/>
          <a:stretch>
            <a:fillRect/>
          </a:stretch>
        </p:blipFill>
        <p:spPr>
          <a:xfrm>
            <a:off x="8081470" y="0"/>
            <a:ext cx="1263805" cy="71089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a:highlight>
                  <a:srgbClr val="9FC5E8"/>
                </a:highlight>
              </a:rPr>
              <a:t>Arcos palmares </a:t>
            </a:r>
            <a:endParaRPr>
              <a:highlight>
                <a:srgbClr val="9FC5E8"/>
              </a:highlight>
            </a:endParaRPr>
          </a:p>
        </p:txBody>
      </p:sp>
      <p:sp>
        <p:nvSpPr>
          <p:cNvPr id="185" name="Google Shape;185;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s-419" b="1">
                <a:solidFill>
                  <a:schemeClr val="dk1"/>
                </a:solidFill>
              </a:rPr>
              <a:t>ARCO PALMAR SUPERFICIAL:</a:t>
            </a:r>
            <a:r>
              <a:rPr lang="es-419">
                <a:solidFill>
                  <a:schemeClr val="dk1"/>
                </a:solidFill>
              </a:rPr>
              <a:t> resulta de la anastomosis de la arteria cubital con la arteria radiopalmar. Situado por debajo de la aponeurosis palmar media y da origen a las 4 colaterales llamadas arterias digitales.</a:t>
            </a:r>
            <a:endParaRPr>
              <a:solidFill>
                <a:schemeClr val="dk1"/>
              </a:solidFill>
            </a:endParaRPr>
          </a:p>
          <a:p>
            <a:pPr marL="0" lvl="0" indent="0" algn="l" rtl="0">
              <a:spcBef>
                <a:spcPts val="1200"/>
              </a:spcBef>
              <a:spcAft>
                <a:spcPts val="0"/>
              </a:spcAft>
              <a:buNone/>
            </a:pPr>
            <a:endParaRPr>
              <a:solidFill>
                <a:schemeClr val="dk1"/>
              </a:solidFill>
            </a:endParaRPr>
          </a:p>
          <a:p>
            <a:pPr marL="0" lvl="0" indent="0" algn="l" rtl="0">
              <a:spcBef>
                <a:spcPts val="1200"/>
              </a:spcBef>
              <a:spcAft>
                <a:spcPts val="1200"/>
              </a:spcAft>
              <a:buNone/>
            </a:pPr>
            <a:r>
              <a:rPr lang="es-419" b="1">
                <a:solidFill>
                  <a:schemeClr val="dk1"/>
                </a:solidFill>
              </a:rPr>
              <a:t>ARCO PALMAR PROFUNDO</a:t>
            </a:r>
            <a:r>
              <a:rPr lang="es-419">
                <a:solidFill>
                  <a:schemeClr val="dk1"/>
                </a:solidFill>
              </a:rPr>
              <a:t>: formado por la anastomosis de la arteria radial con la art cubito palmar. Situado por delante de la extremidad superior del cuerpo de los metacarpianos y por detrás de los tendones flexores de los dedos y apon palmar profunda. Da ramas ascendentes o articulares, ramas posteriores o perforantes y ramas descendentes o arterias interóseas palmares.  </a:t>
            </a:r>
            <a:endParaRPr>
              <a:solidFill>
                <a:schemeClr val="dk1"/>
              </a:solidFill>
            </a:endParaRPr>
          </a:p>
        </p:txBody>
      </p:sp>
      <p:pic>
        <p:nvPicPr>
          <p:cNvPr id="4" name="Imagen 3" descr="Imagen que contiene Gráfico&#10;&#10;Descripción generada automáticamente">
            <a:extLst>
              <a:ext uri="{FF2B5EF4-FFF2-40B4-BE49-F238E27FC236}">
                <a16:creationId xmlns:a16="http://schemas.microsoft.com/office/drawing/2014/main" id="{E639AD51-4E28-174D-1FB8-D56E6DC66262}"/>
              </a:ext>
            </a:extLst>
          </p:cNvPr>
          <p:cNvPicPr>
            <a:picLocks noChangeAspect="1"/>
          </p:cNvPicPr>
          <p:nvPr/>
        </p:nvPicPr>
        <p:blipFill>
          <a:blip r:embed="rId3"/>
          <a:stretch>
            <a:fillRect/>
          </a:stretch>
        </p:blipFill>
        <p:spPr>
          <a:xfrm>
            <a:off x="0" y="0"/>
            <a:ext cx="9144000" cy="5143500"/>
          </a:xfrm>
          <a:prstGeom prst="rect">
            <a:avLst/>
          </a:prstGeom>
        </p:spPr>
      </p:pic>
      <p:pic>
        <p:nvPicPr>
          <p:cNvPr id="5" name="Imagen 4" descr="Logotipo&#10;&#10;Descripción generada automáticamente">
            <a:extLst>
              <a:ext uri="{FF2B5EF4-FFF2-40B4-BE49-F238E27FC236}">
                <a16:creationId xmlns:a16="http://schemas.microsoft.com/office/drawing/2014/main" id="{29E68C0F-FA63-FFC3-028B-4DAD7A25243E}"/>
              </a:ext>
            </a:extLst>
          </p:cNvPr>
          <p:cNvPicPr>
            <a:picLocks noChangeAspect="1"/>
          </p:cNvPicPr>
          <p:nvPr/>
        </p:nvPicPr>
        <p:blipFill>
          <a:blip r:embed="rId4"/>
          <a:stretch>
            <a:fillRect/>
          </a:stretch>
        </p:blipFill>
        <p:spPr>
          <a:xfrm>
            <a:off x="8081470" y="0"/>
            <a:ext cx="1263805" cy="71089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190" name="Google Shape;190;p34"/>
          <p:cNvPicPr preferRelativeResize="0"/>
          <p:nvPr/>
        </p:nvPicPr>
        <p:blipFill rotWithShape="1">
          <a:blip r:embed="rId3">
            <a:alphaModFix/>
          </a:blip>
          <a:srcRect l="33509" t="19538" r="17521" b="5828"/>
          <a:stretch/>
        </p:blipFill>
        <p:spPr>
          <a:xfrm>
            <a:off x="1984100" y="392000"/>
            <a:ext cx="5038149" cy="4316749"/>
          </a:xfrm>
          <a:prstGeom prst="rect">
            <a:avLst/>
          </a:prstGeom>
          <a:noFill/>
          <a:ln>
            <a:noFill/>
          </a:ln>
        </p:spPr>
      </p:pic>
      <p:pic>
        <p:nvPicPr>
          <p:cNvPr id="3" name="Imagen 2" descr="Imagen que contiene Gráfico&#10;&#10;Descripción generada automáticamente">
            <a:extLst>
              <a:ext uri="{FF2B5EF4-FFF2-40B4-BE49-F238E27FC236}">
                <a16:creationId xmlns:a16="http://schemas.microsoft.com/office/drawing/2014/main" id="{7F4422C5-8BA8-5A68-A022-794592042CDD}"/>
              </a:ext>
            </a:extLst>
          </p:cNvPr>
          <p:cNvPicPr>
            <a:picLocks noChangeAspect="1"/>
          </p:cNvPicPr>
          <p:nvPr/>
        </p:nvPicPr>
        <p:blipFill>
          <a:blip r:embed="rId4"/>
          <a:stretch>
            <a:fillRect/>
          </a:stretch>
        </p:blipFill>
        <p:spPr>
          <a:xfrm>
            <a:off x="0" y="0"/>
            <a:ext cx="9144000" cy="5143500"/>
          </a:xfrm>
          <a:prstGeom prst="rect">
            <a:avLst/>
          </a:prstGeom>
        </p:spPr>
      </p:pic>
      <p:pic>
        <p:nvPicPr>
          <p:cNvPr id="4" name="Imagen 3" descr="Logotipo&#10;&#10;Descripción generada automáticamente">
            <a:extLst>
              <a:ext uri="{FF2B5EF4-FFF2-40B4-BE49-F238E27FC236}">
                <a16:creationId xmlns:a16="http://schemas.microsoft.com/office/drawing/2014/main" id="{BA43D162-8E66-96AE-3002-CFED3EAF4BF5}"/>
              </a:ext>
            </a:extLst>
          </p:cNvPr>
          <p:cNvPicPr>
            <a:picLocks noChangeAspect="1"/>
          </p:cNvPicPr>
          <p:nvPr/>
        </p:nvPicPr>
        <p:blipFill>
          <a:blip r:embed="rId5"/>
          <a:stretch>
            <a:fillRect/>
          </a:stretch>
        </p:blipFill>
        <p:spPr>
          <a:xfrm>
            <a:off x="8081470" y="0"/>
            <a:ext cx="1263805" cy="71089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419" b="1"/>
              <a:t>VENAS DEL MIEMBRO SUPERIOR </a:t>
            </a:r>
            <a:endParaRPr b="1"/>
          </a:p>
        </p:txBody>
      </p:sp>
      <p:sp>
        <p:nvSpPr>
          <p:cNvPr id="196" name="Google Shape;196;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s-419" b="1">
                <a:solidFill>
                  <a:schemeClr val="dk1"/>
                </a:solidFill>
              </a:rPr>
              <a:t>VENAS PROFUNDAS</a:t>
            </a:r>
            <a:r>
              <a:rPr lang="es-419">
                <a:solidFill>
                  <a:schemeClr val="dk1"/>
                </a:solidFill>
              </a:rPr>
              <a:t>: son 2 por arteria, recibiendo el mismo nombre. Solo la arteria axilar está acompañada por un solo tronco venoso, la arteria axilar, la cual nace de la unión de las 2 venas satélite de la art humeral. Recibe a la vena cefálica, además de todas las colaterales que llevan el nombre de las colaterales de la arteria. </a:t>
            </a:r>
            <a:endParaRPr>
              <a:solidFill>
                <a:schemeClr val="dk1"/>
              </a:solidFill>
            </a:endParaRPr>
          </a:p>
        </p:txBody>
      </p:sp>
      <p:pic>
        <p:nvPicPr>
          <p:cNvPr id="4" name="Imagen 3" descr="Imagen que contiene Gráfico&#10;&#10;Descripción generada automáticamente">
            <a:extLst>
              <a:ext uri="{FF2B5EF4-FFF2-40B4-BE49-F238E27FC236}">
                <a16:creationId xmlns:a16="http://schemas.microsoft.com/office/drawing/2014/main" id="{CE899411-0AD1-0D4C-5DAA-BB82447C6551}"/>
              </a:ext>
            </a:extLst>
          </p:cNvPr>
          <p:cNvPicPr>
            <a:picLocks noChangeAspect="1"/>
          </p:cNvPicPr>
          <p:nvPr/>
        </p:nvPicPr>
        <p:blipFill>
          <a:blip r:embed="rId3"/>
          <a:stretch>
            <a:fillRect/>
          </a:stretch>
        </p:blipFill>
        <p:spPr>
          <a:xfrm>
            <a:off x="0" y="0"/>
            <a:ext cx="9144000" cy="5143500"/>
          </a:xfrm>
          <a:prstGeom prst="rect">
            <a:avLst/>
          </a:prstGeom>
        </p:spPr>
      </p:pic>
      <p:pic>
        <p:nvPicPr>
          <p:cNvPr id="5" name="Imagen 4" descr="Logotipo&#10;&#10;Descripción generada automáticamente">
            <a:extLst>
              <a:ext uri="{FF2B5EF4-FFF2-40B4-BE49-F238E27FC236}">
                <a16:creationId xmlns:a16="http://schemas.microsoft.com/office/drawing/2014/main" id="{2E612513-A14D-9346-9879-F29DD2F67686}"/>
              </a:ext>
            </a:extLst>
          </p:cNvPr>
          <p:cNvPicPr>
            <a:picLocks noChangeAspect="1"/>
          </p:cNvPicPr>
          <p:nvPr/>
        </p:nvPicPr>
        <p:blipFill>
          <a:blip r:embed="rId4"/>
          <a:stretch>
            <a:fillRect/>
          </a:stretch>
        </p:blipFill>
        <p:spPr>
          <a:xfrm>
            <a:off x="8081470" y="0"/>
            <a:ext cx="1263805" cy="71089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6"/>
          <p:cNvSpPr txBox="1">
            <a:spLocks noGrp="1"/>
          </p:cNvSpPr>
          <p:nvPr>
            <p:ph type="body" idx="1"/>
          </p:nvPr>
        </p:nvSpPr>
        <p:spPr>
          <a:xfrm>
            <a:off x="311700" y="599700"/>
            <a:ext cx="5665200" cy="40995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es-419" b="1">
                <a:solidFill>
                  <a:schemeClr val="dk1"/>
                </a:solidFill>
              </a:rPr>
              <a:t>VENAS SUPERFICIALES:</a:t>
            </a:r>
            <a:endParaRPr b="1">
              <a:solidFill>
                <a:schemeClr val="dk1"/>
              </a:solidFill>
            </a:endParaRPr>
          </a:p>
          <a:p>
            <a:pPr marL="457200" lvl="0" indent="-325755" algn="l" rtl="0">
              <a:spcBef>
                <a:spcPts val="1200"/>
              </a:spcBef>
              <a:spcAft>
                <a:spcPts val="0"/>
              </a:spcAft>
              <a:buClr>
                <a:schemeClr val="dk1"/>
              </a:buClr>
              <a:buSzPct val="100000"/>
              <a:buChar char="●"/>
            </a:pPr>
            <a:r>
              <a:rPr lang="es-419" b="1">
                <a:solidFill>
                  <a:schemeClr val="dk1"/>
                </a:solidFill>
              </a:rPr>
              <a:t>De la mano y los dedos:</a:t>
            </a:r>
            <a:endParaRPr b="1">
              <a:solidFill>
                <a:schemeClr val="dk1"/>
              </a:solidFill>
            </a:endParaRPr>
          </a:p>
          <a:p>
            <a:pPr marL="914400" lvl="1" indent="-304165" algn="l" rtl="0">
              <a:spcBef>
                <a:spcPts val="0"/>
              </a:spcBef>
              <a:spcAft>
                <a:spcPts val="0"/>
              </a:spcAft>
              <a:buClr>
                <a:schemeClr val="dk1"/>
              </a:buClr>
              <a:buSzPct val="100000"/>
              <a:buChar char="○"/>
            </a:pPr>
            <a:r>
              <a:rPr lang="es-419" i="1">
                <a:solidFill>
                  <a:schemeClr val="dk1"/>
                </a:solidFill>
              </a:rPr>
              <a:t>venas dorsales:</a:t>
            </a:r>
            <a:r>
              <a:rPr lang="es-419">
                <a:solidFill>
                  <a:schemeClr val="dk1"/>
                </a:solidFill>
              </a:rPr>
              <a:t> comienzan en la red venosa subungueal, que termina en la red periungueal y desemboca en un arco digital sobre la 1ra falange. Los arcos se unen y nacen las venas metacarpiana. Esta se unen para formar un arco venoso dorsal en cuyas extremidades desembocan la vena cefálica del pulgar y la salvatela del meñique </a:t>
            </a:r>
            <a:endParaRPr>
              <a:solidFill>
                <a:schemeClr val="dk1"/>
              </a:solidFill>
            </a:endParaRPr>
          </a:p>
          <a:p>
            <a:pPr marL="914400" lvl="1" indent="-304165" algn="l" rtl="0">
              <a:spcBef>
                <a:spcPts val="0"/>
              </a:spcBef>
              <a:spcAft>
                <a:spcPts val="0"/>
              </a:spcAft>
              <a:buClr>
                <a:schemeClr val="dk1"/>
              </a:buClr>
              <a:buSzPct val="100000"/>
              <a:buChar char="○"/>
            </a:pPr>
            <a:r>
              <a:rPr lang="es-419" i="1">
                <a:solidFill>
                  <a:schemeClr val="dk1"/>
                </a:solidFill>
              </a:rPr>
              <a:t>venas palmares:</a:t>
            </a:r>
            <a:r>
              <a:rPr lang="es-419">
                <a:solidFill>
                  <a:schemeClr val="dk1"/>
                </a:solidFill>
              </a:rPr>
              <a:t> se vierte en la red venosa dorsal. </a:t>
            </a:r>
            <a:endParaRPr>
              <a:solidFill>
                <a:schemeClr val="dk1"/>
              </a:solidFill>
            </a:endParaRPr>
          </a:p>
          <a:p>
            <a:pPr marL="457200" lvl="0" indent="-325755" algn="l" rtl="0">
              <a:spcBef>
                <a:spcPts val="0"/>
              </a:spcBef>
              <a:spcAft>
                <a:spcPts val="0"/>
              </a:spcAft>
              <a:buClr>
                <a:schemeClr val="dk1"/>
              </a:buClr>
              <a:buSzPct val="100000"/>
              <a:buChar char="●"/>
            </a:pPr>
            <a:r>
              <a:rPr lang="es-419" b="1">
                <a:solidFill>
                  <a:schemeClr val="dk1"/>
                </a:solidFill>
              </a:rPr>
              <a:t>Del antebrazo y pliegue del codo:</a:t>
            </a:r>
            <a:r>
              <a:rPr lang="es-419">
                <a:solidFill>
                  <a:schemeClr val="dk1"/>
                </a:solidFill>
              </a:rPr>
              <a:t> 3 troncos principales </a:t>
            </a:r>
            <a:endParaRPr>
              <a:solidFill>
                <a:schemeClr val="dk1"/>
              </a:solidFill>
            </a:endParaRPr>
          </a:p>
          <a:p>
            <a:pPr marL="914400" lvl="1" indent="-304165" algn="l" rtl="0">
              <a:spcBef>
                <a:spcPts val="0"/>
              </a:spcBef>
              <a:spcAft>
                <a:spcPts val="0"/>
              </a:spcAft>
              <a:buClr>
                <a:schemeClr val="dk1"/>
              </a:buClr>
              <a:buSzPct val="100000"/>
              <a:buChar char="○"/>
            </a:pPr>
            <a:r>
              <a:rPr lang="es-419" i="1">
                <a:solidFill>
                  <a:schemeClr val="dk1"/>
                </a:solidFill>
              </a:rPr>
              <a:t>rama radial superficial:</a:t>
            </a:r>
            <a:r>
              <a:rPr lang="es-419">
                <a:solidFill>
                  <a:schemeClr val="dk1"/>
                </a:solidFill>
              </a:rPr>
              <a:t> continúa a la cefálica del pulgar y se divide en interna o mediana basílica y en externa o mediana cefálica</a:t>
            </a:r>
            <a:endParaRPr>
              <a:solidFill>
                <a:schemeClr val="dk1"/>
              </a:solidFill>
            </a:endParaRPr>
          </a:p>
          <a:p>
            <a:pPr marL="914400" lvl="1" indent="-304165" algn="l" rtl="0">
              <a:spcBef>
                <a:spcPts val="0"/>
              </a:spcBef>
              <a:spcAft>
                <a:spcPts val="0"/>
              </a:spcAft>
              <a:buClr>
                <a:schemeClr val="dk1"/>
              </a:buClr>
              <a:buSzPct val="100000"/>
              <a:buChar char="○"/>
            </a:pPr>
            <a:r>
              <a:rPr lang="es-419" i="1">
                <a:solidFill>
                  <a:schemeClr val="dk1"/>
                </a:solidFill>
              </a:rPr>
              <a:t>rama cubital superficial:</a:t>
            </a:r>
            <a:r>
              <a:rPr lang="es-419">
                <a:solidFill>
                  <a:schemeClr val="dk1"/>
                </a:solidFill>
              </a:rPr>
              <a:t> es continuación de la salvatela y se une a la vena mediana basilíca y de estas nace la vena basílica </a:t>
            </a:r>
            <a:endParaRPr>
              <a:solidFill>
                <a:schemeClr val="dk1"/>
              </a:solidFill>
            </a:endParaRPr>
          </a:p>
          <a:p>
            <a:pPr marL="914400" lvl="1" indent="-304165" algn="l" rtl="0">
              <a:spcBef>
                <a:spcPts val="0"/>
              </a:spcBef>
              <a:spcAft>
                <a:spcPts val="0"/>
              </a:spcAft>
              <a:buClr>
                <a:schemeClr val="dk1"/>
              </a:buClr>
              <a:buSzPct val="100000"/>
              <a:buChar char="○"/>
            </a:pPr>
            <a:r>
              <a:rPr lang="es-419" i="1">
                <a:solidFill>
                  <a:schemeClr val="dk1"/>
                </a:solidFill>
              </a:rPr>
              <a:t>rama radial accesoria:</a:t>
            </a:r>
            <a:r>
              <a:rPr lang="es-419">
                <a:solidFill>
                  <a:schemeClr val="dk1"/>
                </a:solidFill>
              </a:rPr>
              <a:t> se une a la vena mediana cefálica, formandose a la vena cefálica</a:t>
            </a:r>
            <a:endParaRPr>
              <a:solidFill>
                <a:schemeClr val="dk1"/>
              </a:solidFill>
            </a:endParaRPr>
          </a:p>
          <a:p>
            <a:pPr marL="0" lvl="0" indent="0" algn="l" rtl="0">
              <a:spcBef>
                <a:spcPts val="1200"/>
              </a:spcBef>
              <a:spcAft>
                <a:spcPts val="1200"/>
              </a:spcAft>
              <a:buNone/>
            </a:pPr>
            <a:r>
              <a:rPr lang="es-419">
                <a:solidFill>
                  <a:schemeClr val="dk1"/>
                </a:solidFill>
              </a:rPr>
              <a:t>Las venas radial accesoria, mediana cefálica, mediana basílica y cubital superficial forman en el pliegue del codo la </a:t>
            </a:r>
            <a:r>
              <a:rPr lang="es-419" b="1">
                <a:solidFill>
                  <a:schemeClr val="dk1"/>
                </a:solidFill>
              </a:rPr>
              <a:t>M VENOSA DEL PLIEGUE DEL CODO!!!</a:t>
            </a:r>
            <a:endParaRPr b="1">
              <a:solidFill>
                <a:schemeClr val="dk1"/>
              </a:solidFill>
            </a:endParaRPr>
          </a:p>
        </p:txBody>
      </p:sp>
      <p:pic>
        <p:nvPicPr>
          <p:cNvPr id="202" name="Google Shape;202;p36"/>
          <p:cNvPicPr preferRelativeResize="0"/>
          <p:nvPr/>
        </p:nvPicPr>
        <p:blipFill>
          <a:blip r:embed="rId3">
            <a:alphaModFix/>
          </a:blip>
          <a:stretch>
            <a:fillRect/>
          </a:stretch>
        </p:blipFill>
        <p:spPr>
          <a:xfrm>
            <a:off x="5976900" y="606712"/>
            <a:ext cx="2922850" cy="3930075"/>
          </a:xfrm>
          <a:prstGeom prst="rect">
            <a:avLst/>
          </a:prstGeom>
          <a:noFill/>
          <a:ln>
            <a:noFill/>
          </a:ln>
        </p:spPr>
      </p:pic>
      <p:pic>
        <p:nvPicPr>
          <p:cNvPr id="4" name="Imagen 3" descr="Imagen que contiene Gráfico&#10;&#10;Descripción generada automáticamente">
            <a:extLst>
              <a:ext uri="{FF2B5EF4-FFF2-40B4-BE49-F238E27FC236}">
                <a16:creationId xmlns:a16="http://schemas.microsoft.com/office/drawing/2014/main" id="{F1765A3C-B078-D2C2-D04E-D63FB3C656DA}"/>
              </a:ext>
            </a:extLst>
          </p:cNvPr>
          <p:cNvPicPr>
            <a:picLocks noChangeAspect="1"/>
          </p:cNvPicPr>
          <p:nvPr/>
        </p:nvPicPr>
        <p:blipFill>
          <a:blip r:embed="rId4"/>
          <a:stretch>
            <a:fillRect/>
          </a:stretch>
        </p:blipFill>
        <p:spPr>
          <a:xfrm>
            <a:off x="0" y="0"/>
            <a:ext cx="9144000" cy="5143500"/>
          </a:xfrm>
          <a:prstGeom prst="rect">
            <a:avLst/>
          </a:prstGeom>
        </p:spPr>
      </p:pic>
      <p:pic>
        <p:nvPicPr>
          <p:cNvPr id="5" name="Imagen 4" descr="Logotipo&#10;&#10;Descripción generada automáticamente">
            <a:extLst>
              <a:ext uri="{FF2B5EF4-FFF2-40B4-BE49-F238E27FC236}">
                <a16:creationId xmlns:a16="http://schemas.microsoft.com/office/drawing/2014/main" id="{AEB6C379-C79D-7A9E-00AD-2B485AF35906}"/>
              </a:ext>
            </a:extLst>
          </p:cNvPr>
          <p:cNvPicPr>
            <a:picLocks noChangeAspect="1"/>
          </p:cNvPicPr>
          <p:nvPr/>
        </p:nvPicPr>
        <p:blipFill>
          <a:blip r:embed="rId5"/>
          <a:stretch>
            <a:fillRect/>
          </a:stretch>
        </p:blipFill>
        <p:spPr>
          <a:xfrm>
            <a:off x="8081470" y="0"/>
            <a:ext cx="1263805" cy="71089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pic>
        <p:nvPicPr>
          <p:cNvPr id="207" name="Google Shape;207;p37"/>
          <p:cNvPicPr preferRelativeResize="0"/>
          <p:nvPr/>
        </p:nvPicPr>
        <p:blipFill rotWithShape="1">
          <a:blip r:embed="rId3">
            <a:alphaModFix/>
          </a:blip>
          <a:srcRect l="30950" t="24880" r="30318" b="26024"/>
          <a:stretch/>
        </p:blipFill>
        <p:spPr>
          <a:xfrm>
            <a:off x="3537250" y="2043875"/>
            <a:ext cx="4204849" cy="2996550"/>
          </a:xfrm>
          <a:prstGeom prst="rect">
            <a:avLst/>
          </a:prstGeom>
          <a:noFill/>
          <a:ln>
            <a:noFill/>
          </a:ln>
        </p:spPr>
      </p:pic>
      <p:sp>
        <p:nvSpPr>
          <p:cNvPr id="208" name="Google Shape;208;p37"/>
          <p:cNvSpPr txBox="1"/>
          <p:nvPr/>
        </p:nvSpPr>
        <p:spPr>
          <a:xfrm>
            <a:off x="201275" y="350675"/>
            <a:ext cx="3965400" cy="169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a:t>La </a:t>
            </a:r>
            <a:r>
              <a:rPr lang="es-419" b="1"/>
              <a:t>vena cefálica</a:t>
            </a:r>
            <a:r>
              <a:rPr lang="es-419"/>
              <a:t> asciende por el canal externo del codo, llega hasta el surco deltopectoral, se introduce y desemboca en la vena axilar</a:t>
            </a:r>
            <a:endParaRPr/>
          </a:p>
          <a:p>
            <a:pPr marL="0" lvl="0" indent="0" algn="l" rtl="0">
              <a:spcBef>
                <a:spcPts val="0"/>
              </a:spcBef>
              <a:spcAft>
                <a:spcPts val="0"/>
              </a:spcAft>
              <a:buNone/>
            </a:pPr>
            <a:r>
              <a:rPr lang="es-419"/>
              <a:t>La </a:t>
            </a:r>
            <a:r>
              <a:rPr lang="es-419" b="1"/>
              <a:t>vena basílica</a:t>
            </a:r>
            <a:r>
              <a:rPr lang="es-419"/>
              <a:t> asciende por el canal interno del codo, sube por el brazo, perfora la aponeurosis y termina en la vena humeral, y a veces, en la vena axilar. </a:t>
            </a:r>
            <a:endParaRPr/>
          </a:p>
        </p:txBody>
      </p:sp>
      <p:pic>
        <p:nvPicPr>
          <p:cNvPr id="209" name="Google Shape;209;p37"/>
          <p:cNvPicPr preferRelativeResize="0"/>
          <p:nvPr/>
        </p:nvPicPr>
        <p:blipFill rotWithShape="1">
          <a:blip r:embed="rId4">
            <a:alphaModFix/>
          </a:blip>
          <a:srcRect l="11863" t="6959" r="13005" b="3929"/>
          <a:stretch/>
        </p:blipFill>
        <p:spPr>
          <a:xfrm>
            <a:off x="593975" y="2390825"/>
            <a:ext cx="2796850" cy="2490350"/>
          </a:xfrm>
          <a:prstGeom prst="rect">
            <a:avLst/>
          </a:prstGeom>
          <a:noFill/>
          <a:ln>
            <a:noFill/>
          </a:ln>
        </p:spPr>
      </p:pic>
      <p:pic>
        <p:nvPicPr>
          <p:cNvPr id="210" name="Google Shape;210;p37"/>
          <p:cNvPicPr preferRelativeResize="0"/>
          <p:nvPr/>
        </p:nvPicPr>
        <p:blipFill rotWithShape="1">
          <a:blip r:embed="rId5">
            <a:alphaModFix/>
          </a:blip>
          <a:srcRect l="34044" t="46677" r="37499" b="10114"/>
          <a:stretch/>
        </p:blipFill>
        <p:spPr>
          <a:xfrm>
            <a:off x="6574625" y="48125"/>
            <a:ext cx="2455324" cy="2096026"/>
          </a:xfrm>
          <a:prstGeom prst="rect">
            <a:avLst/>
          </a:prstGeom>
          <a:noFill/>
          <a:ln>
            <a:noFill/>
          </a:ln>
        </p:spPr>
      </p:pic>
      <p:pic>
        <p:nvPicPr>
          <p:cNvPr id="6" name="Imagen 5" descr="Imagen que contiene Gráfico&#10;&#10;Descripción generada automáticamente">
            <a:extLst>
              <a:ext uri="{FF2B5EF4-FFF2-40B4-BE49-F238E27FC236}">
                <a16:creationId xmlns:a16="http://schemas.microsoft.com/office/drawing/2014/main" id="{3CCBCC93-BE2A-F468-755F-4259688643ED}"/>
              </a:ext>
            </a:extLst>
          </p:cNvPr>
          <p:cNvPicPr>
            <a:picLocks noChangeAspect="1"/>
          </p:cNvPicPr>
          <p:nvPr/>
        </p:nvPicPr>
        <p:blipFill>
          <a:blip r:embed="rId6"/>
          <a:stretch>
            <a:fillRect/>
          </a:stretch>
        </p:blipFill>
        <p:spPr>
          <a:xfrm>
            <a:off x="0" y="0"/>
            <a:ext cx="9144000" cy="5143500"/>
          </a:xfrm>
          <a:prstGeom prst="rect">
            <a:avLst/>
          </a:prstGeom>
        </p:spPr>
      </p:pic>
      <p:pic>
        <p:nvPicPr>
          <p:cNvPr id="3" name="Imagen 2" descr="Logotipo&#10;&#10;Descripción generada automáticamente">
            <a:extLst>
              <a:ext uri="{FF2B5EF4-FFF2-40B4-BE49-F238E27FC236}">
                <a16:creationId xmlns:a16="http://schemas.microsoft.com/office/drawing/2014/main" id="{8D07D856-5E06-E803-5E74-F3203E32A9AB}"/>
              </a:ext>
            </a:extLst>
          </p:cNvPr>
          <p:cNvPicPr>
            <a:picLocks noChangeAspect="1"/>
          </p:cNvPicPr>
          <p:nvPr/>
        </p:nvPicPr>
        <p:blipFill>
          <a:blip r:embed="rId7"/>
          <a:stretch>
            <a:fillRect/>
          </a:stretch>
        </p:blipFill>
        <p:spPr>
          <a:xfrm>
            <a:off x="8081470" y="0"/>
            <a:ext cx="1263805" cy="710890"/>
          </a:xfrm>
          <a:prstGeom prst="rect">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2479</Words>
  <Application>Microsoft Office PowerPoint</Application>
  <PresentationFormat>Presentación en pantalla (16:9)</PresentationFormat>
  <Paragraphs>114</Paragraphs>
  <Slides>26</Slides>
  <Notes>25</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26</vt:i4>
      </vt:variant>
    </vt:vector>
  </HeadingPairs>
  <TitlesOfParts>
    <vt:vector size="29" baseType="lpstr">
      <vt:lpstr>Arial</vt:lpstr>
      <vt:lpstr>Bungee</vt:lpstr>
      <vt:lpstr>Simple Light</vt:lpstr>
      <vt:lpstr>Presentación de PowerPoint</vt:lpstr>
      <vt:lpstr>IRRIGACIÓN DEL MIEMBRO SUPERIOR</vt:lpstr>
      <vt:lpstr>IRRIGACIÓN</vt:lpstr>
      <vt:lpstr>Presentación de PowerPoint</vt:lpstr>
      <vt:lpstr>Arteria subclavia </vt:lpstr>
      <vt:lpstr>Presentación de PowerPoint</vt:lpstr>
      <vt:lpstr>Presentación de PowerPoint</vt:lpstr>
      <vt:lpstr>Ramas de la A. subclavia</vt:lpstr>
      <vt:lpstr>Arteria axilar </vt:lpstr>
      <vt:lpstr>Presentación de PowerPoint</vt:lpstr>
      <vt:lpstr>Ramas de la arteria axilar </vt:lpstr>
      <vt:lpstr>Presentación de PowerPoint</vt:lpstr>
      <vt:lpstr>TOPOGRAFÍA</vt:lpstr>
      <vt:lpstr>Arteria humeral o braquial </vt:lpstr>
      <vt:lpstr>Presentación de PowerPoint</vt:lpstr>
      <vt:lpstr>Ramas de la arteria braquial </vt:lpstr>
      <vt:lpstr>Red periarticular del codo </vt:lpstr>
      <vt:lpstr>Arteria radial </vt:lpstr>
      <vt:lpstr>Ramas de la A. radial</vt:lpstr>
      <vt:lpstr>Arteria cubital </vt:lpstr>
      <vt:lpstr>Ramas de la arteria cubital</vt:lpstr>
      <vt:lpstr>Arcos palmares </vt:lpstr>
      <vt:lpstr>Presentación de PowerPoint</vt:lpstr>
      <vt:lpstr>VENAS DEL MIEMBRO SUPERIOR </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Joyce Marinho</dc:creator>
  <cp:lastModifiedBy>Joyce Marinho</cp:lastModifiedBy>
  <cp:revision>1</cp:revision>
  <dcterms:modified xsi:type="dcterms:W3CDTF">2022-05-18T17:55:29Z</dcterms:modified>
</cp:coreProperties>
</file>
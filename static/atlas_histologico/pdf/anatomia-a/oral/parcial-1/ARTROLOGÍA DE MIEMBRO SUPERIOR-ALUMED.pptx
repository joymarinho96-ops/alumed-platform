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5C5254-7060-4A15-B340-EFAA526180A5}">
  <a:tblStyle styleId="{735C5254-7060-4A15-B340-EFAA526180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9d4a87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29d4a874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9d4a874f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9d4a874f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29d4a874f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29d4a874f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9d4a874f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9d4a874f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29d4a874f2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29d4a874f2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9d4a874f2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29d4a874f2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29d4a874f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29d4a874f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9d4a874f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29d4a874f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29d4a874f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29d4a874f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9d4a874f2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29d4a874f2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9d4a874f2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29d4a874f2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9d4a874f2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29d4a874f2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29d4a874f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29d4a874f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9d4a874f2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29d4a874f2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9d4a874f2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29d4a874f2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9d4a874f2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9d4a874f2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9d4a874f2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9d4a874f2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9d4a874f2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29d4a874f2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29d4a874f2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29d4a874f2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9d4a874f2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9d4a874f2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9d4a874f2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9d4a874f2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29d4a874f2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29d4a874f2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9d4a874f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9d4a874f2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9d4a874f2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29d4a874f2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29d4a874f2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29d4a874f2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29d4a874f2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29d4a874f2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29d4a874f2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29d4a874f2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a0d9311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2a0d9311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9d4a874f2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29d4a874f2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9d4a874f2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29d4a874f2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29d4a874f2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29d4a874f2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0" y="4663225"/>
            <a:ext cx="548700" cy="3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 t="29815" b="36646"/>
          <a:stretch/>
        </p:blipFill>
        <p:spPr>
          <a:xfrm>
            <a:off x="7420675" y="4555325"/>
            <a:ext cx="1707725" cy="5727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9E77-57A7-C35F-530E-6BC1FD02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0553BED-0A94-C490-EABC-F429B491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0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ctrTitle"/>
          </p:nvPr>
        </p:nvSpPr>
        <p:spPr>
          <a:xfrm>
            <a:off x="311708" y="1506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latin typeface="Bungee" pitchFamily="2" charset="0"/>
              </a:rPr>
              <a:t>ARTROLOGÍA DE MIEMBRO SUPERIOR</a:t>
            </a:r>
            <a:r>
              <a:rPr lang="es-419" dirty="0">
                <a:latin typeface="Bungee" pitchFamily="2" charset="0"/>
              </a:rPr>
              <a:t> </a:t>
            </a:r>
            <a:endParaRPr dirty="0">
              <a:latin typeface="Bungee" pitchFamily="2" charset="0"/>
            </a:endParaRPr>
          </a:p>
        </p:txBody>
      </p:sp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F3564025-8899-7F01-9F8E-FC65E9E73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70AC3ED-1A37-C201-6397-175FF183E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CINTURA ESCAPULAR </a:t>
            </a:r>
            <a:endParaRPr b="1" dirty="0"/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l="31830" t="27178" r="31299" b="13126"/>
          <a:stretch/>
        </p:blipFill>
        <p:spPr>
          <a:xfrm>
            <a:off x="2640437" y="1416975"/>
            <a:ext cx="3789639" cy="344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511096F-662A-A731-981A-3C4D6243A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2C171A4-33E5-6D27-FB89-A396E6F76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3CC33493-CD61-0C0A-7478-D50DAC26D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highlight>
                  <a:srgbClr val="FCE5CD"/>
                </a:highlight>
              </a:rPr>
              <a:t>ARTICULACIÓN ACROMIOCLAVICULAR </a:t>
            </a:r>
            <a:endParaRPr b="1" dirty="0">
              <a:highlight>
                <a:srgbClr val="FCE5CD"/>
              </a:highlight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272700" cy="19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 Sinovial o Diartrosis – Artrodia 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b="1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Escápula: Acromion</a:t>
            </a:r>
            <a:endParaRPr>
              <a:solidFill>
                <a:schemeClr val="dk1"/>
              </a:solidFill>
            </a:endParaRPr>
          </a:p>
          <a:p>
            <a:pPr marL="914400" lvl="1" indent="-3041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Clavícula: Carilla articular 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b="1">
                <a:solidFill>
                  <a:schemeClr val="dk1"/>
                </a:solidFill>
              </a:rPr>
              <a:t>Principales Medios de Unión: </a:t>
            </a:r>
            <a:endParaRPr b="1">
              <a:solidFill>
                <a:schemeClr val="dk1"/>
              </a:solidFill>
            </a:endParaRPr>
          </a:p>
          <a:p>
            <a:pPr marL="1371600" lvl="2" indent="-3041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i="1">
                <a:solidFill>
                  <a:schemeClr val="dk1"/>
                </a:solidFill>
              </a:rPr>
              <a:t>Lig acromioclaviuclares:</a:t>
            </a:r>
            <a:r>
              <a:rPr lang="es-419">
                <a:solidFill>
                  <a:schemeClr val="dk1"/>
                </a:solidFill>
              </a:rPr>
              <a:t> </a:t>
            </a:r>
            <a:r>
              <a:rPr lang="es-419" u="sng">
                <a:solidFill>
                  <a:schemeClr val="dk1"/>
                </a:solidFill>
              </a:rPr>
              <a:t>superior e inferior</a:t>
            </a:r>
            <a:endParaRPr u="sng">
              <a:solidFill>
                <a:schemeClr val="dk1"/>
              </a:solidFill>
            </a:endParaRPr>
          </a:p>
          <a:p>
            <a:pPr marL="1371600" lvl="2" indent="-3041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i="1">
                <a:solidFill>
                  <a:schemeClr val="dk1"/>
                </a:solidFill>
              </a:rPr>
              <a:t>Lig coracoclaviculares: </a:t>
            </a:r>
            <a:r>
              <a:rPr lang="es-419">
                <a:solidFill>
                  <a:schemeClr val="dk1"/>
                </a:solidFill>
              </a:rPr>
              <a:t>lig trapezoideo y lig conoideo </a:t>
            </a:r>
            <a:endParaRPr>
              <a:solidFill>
                <a:schemeClr val="dk1"/>
              </a:solidFill>
            </a:endParaRPr>
          </a:p>
          <a:p>
            <a:pPr marL="1371600" lvl="2" indent="-30416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>
                <a:solidFill>
                  <a:schemeClr val="dk1"/>
                </a:solidFill>
              </a:rPr>
              <a:t>Cápsula articular 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b="1">
                <a:solidFill>
                  <a:schemeClr val="dk1"/>
                </a:solidFill>
              </a:rPr>
              <a:t>Movimientos</a:t>
            </a:r>
            <a:r>
              <a:rPr lang="es-419">
                <a:solidFill>
                  <a:schemeClr val="dk1"/>
                </a:solidFill>
              </a:rPr>
              <a:t>: deslizamiento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l="64443" t="29702" r="17120" b="33023"/>
          <a:stretch/>
        </p:blipFill>
        <p:spPr>
          <a:xfrm>
            <a:off x="6770625" y="260275"/>
            <a:ext cx="1888498" cy="21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7121650" y="227300"/>
            <a:ext cx="1080600" cy="994200"/>
          </a:xfrm>
          <a:prstGeom prst="ellipse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l="53481" t="31501" r="31707" b="34028"/>
          <a:stretch/>
        </p:blipFill>
        <p:spPr>
          <a:xfrm>
            <a:off x="7037713" y="2983299"/>
            <a:ext cx="1354324" cy="17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5">
            <a:alphaModFix/>
          </a:blip>
          <a:srcRect l="13909" t="25541" r="19088" b="20868"/>
          <a:stretch/>
        </p:blipFill>
        <p:spPr>
          <a:xfrm>
            <a:off x="375200" y="3206100"/>
            <a:ext cx="3728552" cy="1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6">
            <a:alphaModFix/>
          </a:blip>
          <a:srcRect l="33514" t="31296" r="40015" b="19379"/>
          <a:stretch/>
        </p:blipFill>
        <p:spPr>
          <a:xfrm>
            <a:off x="4724950" y="3206100"/>
            <a:ext cx="1725101" cy="17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4AF7858-5C49-5A1D-C36A-3D30E27956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884" y="4570799"/>
            <a:ext cx="1680116" cy="572700"/>
          </a:xfrm>
          <a:prstGeom prst="rect">
            <a:avLst/>
          </a:prstGeom>
        </p:spPr>
      </p:pic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8FACC24B-FF42-BE0C-7977-C80CDFA88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2398D8A0-B058-F553-7249-E6F4D65EA9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DESCRIPCIÓN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775" y="791050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4869925" y="1598785"/>
            <a:ext cx="759600" cy="375150"/>
          </a:xfrm>
          <a:custGeom>
            <a:avLst/>
            <a:gdLst/>
            <a:ahLst/>
            <a:cxnLst/>
            <a:rect l="l" t="t" r="r" b="b"/>
            <a:pathLst>
              <a:path w="30384" h="15006" extrusionOk="0">
                <a:moveTo>
                  <a:pt x="0" y="4667"/>
                </a:moveTo>
                <a:cubicBezTo>
                  <a:pt x="6129" y="4667"/>
                  <a:pt x="9746" y="12524"/>
                  <a:pt x="15560" y="14464"/>
                </a:cubicBezTo>
                <a:cubicBezTo>
                  <a:pt x="18348" y="15394"/>
                  <a:pt x="21323" y="12159"/>
                  <a:pt x="24205" y="12735"/>
                </a:cubicBezTo>
                <a:cubicBezTo>
                  <a:pt x="26172" y="13128"/>
                  <a:pt x="28855" y="16133"/>
                  <a:pt x="29968" y="14464"/>
                </a:cubicBezTo>
                <a:cubicBezTo>
                  <a:pt x="31633" y="11967"/>
                  <a:pt x="25154" y="10395"/>
                  <a:pt x="24205" y="7548"/>
                </a:cubicBezTo>
                <a:cubicBezTo>
                  <a:pt x="23437" y="5243"/>
                  <a:pt x="24256" y="1222"/>
                  <a:pt x="21899" y="633"/>
                </a:cubicBezTo>
                <a:cubicBezTo>
                  <a:pt x="16836" y="-632"/>
                  <a:pt x="11290" y="711"/>
                  <a:pt x="6339" y="2361"/>
                </a:cubicBezTo>
                <a:cubicBezTo>
                  <a:pt x="4206" y="3072"/>
                  <a:pt x="0" y="2419"/>
                  <a:pt x="0" y="466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" name="Google Shape;79;p16"/>
          <p:cNvSpPr/>
          <p:nvPr/>
        </p:nvSpPr>
        <p:spPr>
          <a:xfrm>
            <a:off x="5489450" y="1585775"/>
            <a:ext cx="480200" cy="421625"/>
          </a:xfrm>
          <a:custGeom>
            <a:avLst/>
            <a:gdLst/>
            <a:ahLst/>
            <a:cxnLst/>
            <a:rect l="l" t="t" r="r" b="b"/>
            <a:pathLst>
              <a:path w="19208" h="16865" extrusionOk="0">
                <a:moveTo>
                  <a:pt x="2881" y="0"/>
                </a:moveTo>
                <a:cubicBezTo>
                  <a:pt x="6236" y="0"/>
                  <a:pt x="9495" y="1245"/>
                  <a:pt x="12678" y="2305"/>
                </a:cubicBezTo>
                <a:cubicBezTo>
                  <a:pt x="14811" y="3016"/>
                  <a:pt x="18307" y="2477"/>
                  <a:pt x="19018" y="4610"/>
                </a:cubicBezTo>
                <a:cubicBezTo>
                  <a:pt x="19779" y="6894"/>
                  <a:pt x="16321" y="8666"/>
                  <a:pt x="15560" y="10950"/>
                </a:cubicBezTo>
                <a:cubicBezTo>
                  <a:pt x="14935" y="12826"/>
                  <a:pt x="14554" y="15511"/>
                  <a:pt x="12678" y="16136"/>
                </a:cubicBezTo>
                <a:cubicBezTo>
                  <a:pt x="9890" y="17065"/>
                  <a:pt x="4963" y="17195"/>
                  <a:pt x="4034" y="14407"/>
                </a:cubicBezTo>
                <a:cubicBezTo>
                  <a:pt x="2516" y="9851"/>
                  <a:pt x="4802" y="576"/>
                  <a:pt x="0" y="576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Google Shape;80;p16"/>
          <p:cNvSpPr/>
          <p:nvPr/>
        </p:nvSpPr>
        <p:spPr>
          <a:xfrm>
            <a:off x="4212558" y="1363017"/>
            <a:ext cx="551700" cy="416500"/>
          </a:xfrm>
          <a:custGeom>
            <a:avLst/>
            <a:gdLst/>
            <a:ahLst/>
            <a:cxnLst/>
            <a:rect l="l" t="t" r="r" b="b"/>
            <a:pathLst>
              <a:path w="22068" h="16660" extrusionOk="0">
                <a:moveTo>
                  <a:pt x="8429" y="4300"/>
                </a:moveTo>
                <a:cubicBezTo>
                  <a:pt x="5761" y="4967"/>
                  <a:pt x="2304" y="4082"/>
                  <a:pt x="361" y="6028"/>
                </a:cubicBezTo>
                <a:cubicBezTo>
                  <a:pt x="-1082" y="7473"/>
                  <a:pt x="3262" y="8940"/>
                  <a:pt x="4395" y="10639"/>
                </a:cubicBezTo>
                <a:cubicBezTo>
                  <a:pt x="6143" y="13260"/>
                  <a:pt x="8898" y="15406"/>
                  <a:pt x="11887" y="16402"/>
                </a:cubicBezTo>
                <a:cubicBezTo>
                  <a:pt x="14986" y="17434"/>
                  <a:pt x="18222" y="14099"/>
                  <a:pt x="20532" y="11791"/>
                </a:cubicBezTo>
                <a:cubicBezTo>
                  <a:pt x="23304" y="9022"/>
                  <a:pt x="21944" y="1505"/>
                  <a:pt x="18227" y="265"/>
                </a:cubicBezTo>
                <a:cubicBezTo>
                  <a:pt x="15113" y="-774"/>
                  <a:pt x="11942" y="2255"/>
                  <a:pt x="9006" y="3723"/>
                </a:cubicBezTo>
              </a:path>
            </a:pathLst>
          </a:custGeom>
          <a:noFill/>
          <a:ln w="28575" cap="flat" cmpd="sng">
            <a:solidFill>
              <a:srgbClr val="93C47D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" name="Google Shape;81;p16"/>
          <p:cNvSpPr txBox="1"/>
          <p:nvPr/>
        </p:nvSpPr>
        <p:spPr>
          <a:xfrm>
            <a:off x="403575" y="1398475"/>
            <a:ext cx="1988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1-</a:t>
            </a:r>
            <a:r>
              <a:rPr lang="es-419" sz="1300">
                <a:highlight>
                  <a:srgbClr val="6AA84F"/>
                </a:highlight>
              </a:rPr>
              <a:t> Lig acromioclavicular</a:t>
            </a:r>
            <a:endParaRPr sz="1300">
              <a:highlight>
                <a:srgbClr val="6AA84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2-</a:t>
            </a:r>
            <a:r>
              <a:rPr lang="es-419" sz="1300">
                <a:highlight>
                  <a:srgbClr val="FF0000"/>
                </a:highlight>
              </a:rPr>
              <a:t> Lig trapezoideo</a:t>
            </a:r>
            <a:endParaRPr sz="1300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/>
              <a:t>2- </a:t>
            </a:r>
            <a:r>
              <a:rPr lang="es-419" sz="1300">
                <a:highlight>
                  <a:srgbClr val="0000FF"/>
                </a:highlight>
              </a:rPr>
              <a:t>Lig conoideo</a:t>
            </a:r>
            <a:endParaRPr sz="1300">
              <a:highlight>
                <a:srgbClr val="0000FF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45950" y="2997725"/>
            <a:ext cx="198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28600" y="2971800"/>
            <a:ext cx="2334000" cy="923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i="1"/>
              <a:t>Cápsula Articular: </a:t>
            </a:r>
            <a:r>
              <a:rPr lang="es-419" sz="1200"/>
              <a:t>Manguito fibroso que se inserta en las proximidades de las superficies articulares </a:t>
            </a:r>
            <a:endParaRPr sz="1200"/>
          </a:p>
        </p:txBody>
      </p:sp>
      <p:pic>
        <p:nvPicPr>
          <p:cNvPr id="10" name="Imagen 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764E08D9-BCBC-4419-D843-C95FC9B09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1BB1A379-1B37-8BDF-E8DC-D436B92A1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7"/>
          <p:cNvGraphicFramePr/>
          <p:nvPr/>
        </p:nvGraphicFramePr>
        <p:xfrm>
          <a:off x="876300" y="934200"/>
          <a:ext cx="7354700" cy="2889815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7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LIGAMENTO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CARACTERÍSTICAS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Acromioclavicular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Carilla articular del acromion hasta Carilla articular de la clavícula.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Son superior e inferior (forman cápsula articular)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Trapezoide 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porción posterior del borde medial de la apófisis coracoides a la cara inferior de la clavícula.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Conoide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Forma triangular 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base de la apófisis coracoides hasta la cara inferior de la clavícula, en dirección medial y posterior al ligamento trapezoideo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D92940E2-B40C-0281-9093-9F23675B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B67258B-1A38-DA7B-A994-342676FC1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C14675A0-39F1-77DA-88A8-6A768283A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EAD1DC"/>
                </a:highlight>
              </a:rPr>
              <a:t>ARTICULACIÓN ESCAPULOHUMERAL</a:t>
            </a:r>
            <a:r>
              <a:rPr lang="es-419"/>
              <a:t> 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673400" cy="24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 b="1">
                <a:solidFill>
                  <a:schemeClr val="dk1"/>
                </a:solidFill>
              </a:rPr>
              <a:t>Tipo y Género</a:t>
            </a:r>
            <a:r>
              <a:rPr lang="es-419" sz="1200">
                <a:solidFill>
                  <a:schemeClr val="dk1"/>
                </a:solidFill>
              </a:rPr>
              <a:t>: Diartrosis – Enartrosis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 b="1">
                <a:solidFill>
                  <a:schemeClr val="dk1"/>
                </a:solidFill>
              </a:rPr>
              <a:t>Superficies articulares: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Escapula: Cavidad Glenoidea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Humero: Cabeza del Húmero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Rodete Glenoideo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 b="1">
                <a:solidFill>
                  <a:schemeClr val="dk1"/>
                </a:solidFill>
              </a:rPr>
              <a:t>Principales Medios de Unión: </a:t>
            </a:r>
            <a:endParaRPr sz="1200" b="1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Superior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Medio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Glenohumeral Inferior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Ligamento coracohumeral 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>
                <a:solidFill>
                  <a:schemeClr val="dk1"/>
                </a:solidFill>
              </a:rPr>
              <a:t>Cápsula Articular 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 sz="1200" b="1">
                <a:solidFill>
                  <a:schemeClr val="dk1"/>
                </a:solidFill>
              </a:rPr>
              <a:t>Movimientos:</a:t>
            </a:r>
            <a:r>
              <a:rPr lang="es-419" sz="1200">
                <a:solidFill>
                  <a:schemeClr val="dk1"/>
                </a:solidFill>
              </a:rPr>
              <a:t> </a:t>
            </a:r>
            <a:r>
              <a:rPr lang="es-419" sz="1200" u="sng">
                <a:solidFill>
                  <a:schemeClr val="dk1"/>
                </a:solidFill>
              </a:rPr>
              <a:t>Todos,</a:t>
            </a:r>
            <a:r>
              <a:rPr lang="es-419" sz="1200">
                <a:solidFill>
                  <a:schemeClr val="dk1"/>
                </a:solidFill>
              </a:rPr>
              <a:t> flexión, extensión, rotación, abducción y aducción y circunducción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l="64443" t="29702" r="17120" b="33023"/>
          <a:stretch/>
        </p:blipFill>
        <p:spPr>
          <a:xfrm>
            <a:off x="6411525" y="1152475"/>
            <a:ext cx="2334050" cy="26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6296275" y="1600175"/>
            <a:ext cx="1512900" cy="1412100"/>
          </a:xfrm>
          <a:prstGeom prst="ellipse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53956" t="33740" r="32378" b="35711"/>
          <a:stretch/>
        </p:blipFill>
        <p:spPr>
          <a:xfrm>
            <a:off x="6858150" y="3689275"/>
            <a:ext cx="1066177" cy="13399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311700" y="4012875"/>
            <a:ext cx="3664800" cy="692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i="1"/>
              <a:t>Rodete Glenoideo</a:t>
            </a:r>
            <a:r>
              <a:rPr lang="es-419" sz="1100"/>
              <a:t>: Es un elemento de coadaptación, se trata de un anillo fibroso que aumenta diametralmente la superficie de la cavidad glenoidea</a:t>
            </a:r>
            <a:endParaRPr sz="1100"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5">
            <a:alphaModFix/>
          </a:blip>
          <a:srcRect r="11032"/>
          <a:stretch/>
        </p:blipFill>
        <p:spPr>
          <a:xfrm>
            <a:off x="4535350" y="3350025"/>
            <a:ext cx="1763950" cy="16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4927673" y="3783620"/>
            <a:ext cx="398650" cy="493925"/>
          </a:xfrm>
          <a:custGeom>
            <a:avLst/>
            <a:gdLst/>
            <a:ahLst/>
            <a:cxnLst/>
            <a:rect l="l" t="t" r="r" b="b"/>
            <a:pathLst>
              <a:path w="15946" h="19757" extrusionOk="0">
                <a:moveTo>
                  <a:pt x="7487" y="1413"/>
                </a:moveTo>
                <a:cubicBezTo>
                  <a:pt x="2004" y="3239"/>
                  <a:pt x="-2056" y="12740"/>
                  <a:pt x="1148" y="17549"/>
                </a:cubicBezTo>
                <a:cubicBezTo>
                  <a:pt x="3183" y="20603"/>
                  <a:pt x="8615" y="19862"/>
                  <a:pt x="12097" y="18702"/>
                </a:cubicBezTo>
                <a:cubicBezTo>
                  <a:pt x="16565" y="17214"/>
                  <a:pt x="16467" y="9339"/>
                  <a:pt x="14979" y="4871"/>
                </a:cubicBezTo>
                <a:cubicBezTo>
                  <a:pt x="13919" y="1688"/>
                  <a:pt x="8128" y="-1537"/>
                  <a:pt x="5758" y="837"/>
                </a:cubicBezTo>
              </a:path>
            </a:pathLst>
          </a:custGeom>
          <a:noFill/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01" name="Google Shape;101;p18"/>
          <p:cNvPicPr preferRelativeResize="0"/>
          <p:nvPr/>
        </p:nvPicPr>
        <p:blipFill rotWithShape="1">
          <a:blip r:embed="rId6">
            <a:alphaModFix/>
          </a:blip>
          <a:srcRect l="28142" r="33243"/>
          <a:stretch/>
        </p:blipFill>
        <p:spPr>
          <a:xfrm>
            <a:off x="4985101" y="1426713"/>
            <a:ext cx="864449" cy="17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E77A18C-070B-21C2-CF3B-BDBFB5B734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326" y="4570799"/>
            <a:ext cx="1219673" cy="572700"/>
          </a:xfrm>
          <a:prstGeom prst="rect">
            <a:avLst/>
          </a:prstGeom>
        </p:spPr>
      </p:pic>
      <p:pic>
        <p:nvPicPr>
          <p:cNvPr id="12" name="Imagen 1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25A93080-5ECF-F562-C039-2912D853F4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CF82554D-1CD4-8FC7-C734-66D92403FB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DESCRIPCIÓN </a:t>
            </a:r>
            <a:endParaRPr b="1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34400" cy="1081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FF0000"/>
                </a:highlight>
              </a:rPr>
              <a:t>Lig glenohumeral superior</a:t>
            </a:r>
            <a:endParaRPr sz="160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F9CB9C"/>
                </a:highlight>
              </a:rPr>
              <a:t>Lig glenohumeral medio</a:t>
            </a:r>
            <a:endParaRPr sz="1600">
              <a:solidFill>
                <a:schemeClr val="dk1"/>
              </a:solidFill>
              <a:highlight>
                <a:srgbClr val="F9CB9C"/>
              </a:highlight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  <a:highlight>
                  <a:srgbClr val="B4A7D6"/>
                </a:highlight>
              </a:rPr>
              <a:t>Lig glenohumeral inferior </a:t>
            </a:r>
            <a:endParaRPr sz="1600">
              <a:solidFill>
                <a:schemeClr val="dk1"/>
              </a:solidFill>
              <a:highlight>
                <a:srgbClr val="B4A7D6"/>
              </a:highlight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675" y="502900"/>
            <a:ext cx="44196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5676750" y="2090050"/>
            <a:ext cx="662750" cy="187275"/>
          </a:xfrm>
          <a:custGeom>
            <a:avLst/>
            <a:gdLst/>
            <a:ahLst/>
            <a:cxnLst/>
            <a:rect l="l" t="t" r="r" b="b"/>
            <a:pathLst>
              <a:path w="26510" h="7491" extrusionOk="0">
                <a:moveTo>
                  <a:pt x="26510" y="0"/>
                </a:moveTo>
                <a:cubicBezTo>
                  <a:pt x="21337" y="1034"/>
                  <a:pt x="16067" y="1602"/>
                  <a:pt x="10950" y="2881"/>
                </a:cubicBezTo>
                <a:cubicBezTo>
                  <a:pt x="7108" y="3841"/>
                  <a:pt x="3960" y="7491"/>
                  <a:pt x="0" y="7491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0" name="Google Shape;110;p19"/>
          <p:cNvSpPr/>
          <p:nvPr/>
        </p:nvSpPr>
        <p:spPr>
          <a:xfrm>
            <a:off x="5835225" y="1902750"/>
            <a:ext cx="389100" cy="331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6063825" y="2436150"/>
            <a:ext cx="389100" cy="331500"/>
          </a:xfrm>
          <a:prstGeom prst="ellipse">
            <a:avLst/>
          </a:prstGeom>
          <a:noFill/>
          <a:ln w="28575" cap="flat" cmpd="sng">
            <a:solidFill>
              <a:srgbClr val="F9CB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6063825" y="2893350"/>
            <a:ext cx="389100" cy="331500"/>
          </a:xfrm>
          <a:prstGeom prst="ellipse">
            <a:avLst/>
          </a:prstGeom>
          <a:noFill/>
          <a:ln w="28575" cap="flat" cmpd="sng">
            <a:solidFill>
              <a:srgbClr val="B4A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331550" y="2940075"/>
            <a:ext cx="2780700" cy="1046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i="1">
                <a:highlight>
                  <a:srgbClr val="999999"/>
                </a:highlight>
              </a:rPr>
              <a:t>Foramen Oval de Weitbrecht: </a:t>
            </a:r>
            <a:r>
              <a:rPr lang="es-419"/>
              <a:t>zona sin ligamentos de refuerzo por donde escapa la cabeza humeral en las luxaciones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 rot="-956938">
            <a:off x="5734305" y="2075630"/>
            <a:ext cx="662710" cy="187168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n 10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193F745-545D-E591-7E00-D840B398A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576" y="4640600"/>
            <a:ext cx="1137424" cy="502899"/>
          </a:xfrm>
          <a:prstGeom prst="rect">
            <a:avLst/>
          </a:prstGeom>
        </p:spPr>
      </p:pic>
      <p:pic>
        <p:nvPicPr>
          <p:cNvPr id="12" name="Imagen 1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6AF2D2C-4488-2582-7AD7-4F346CD2A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B78A0940-31FD-6677-44AD-E364F015E2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20"/>
          <p:cNvGraphicFramePr/>
          <p:nvPr/>
        </p:nvGraphicFramePr>
        <p:xfrm>
          <a:off x="952500" y="781800"/>
          <a:ext cx="7354700" cy="3154885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7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LIGAMENTO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CARACTERÍSTICAS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Córacohumeral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base de la apófisis coracoides hasta el borde superior de los tubérculos mayor y menor del húmero.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Lig. glenohumeral sup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porción superior del rodete glenoideo hasta el cuello anatómico del húmero.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Lig. glenohumeral medio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Por debajo del precedente y se extiende hasta el tubérculo menor del húmero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Lig. glenohumeral inferior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Nace a nivel de la porción anterior del rodete glenoideo y en el cuello de la escápula, y termina sobre la porción anterior e inferior del cuello quirúrgico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340840B3-FF5D-4E7D-D402-5BA734BA7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9AFBFAA-A068-4AA4-AD48-B59B7B6D6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BB9F940-EA09-FF5A-0C64-5E9965D7A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EA9999"/>
                </a:highlight>
              </a:rPr>
              <a:t>ARTICULACIÓN DEL CODO</a:t>
            </a:r>
            <a:endParaRPr b="1">
              <a:highlight>
                <a:srgbClr val="EA9999"/>
              </a:highlight>
            </a:endParaRPr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78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La articulación del codo se encuentra conformada por tres articulaciones sinoviales y diartrosis que comparten la misma cápsula y membrana sinovial: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Humero - Radial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Humero - Cubital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Articulación Radio – Cubital Superior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l="9564" t="2880" r="47945" b="47540"/>
          <a:stretch/>
        </p:blipFill>
        <p:spPr>
          <a:xfrm>
            <a:off x="6455075" y="445025"/>
            <a:ext cx="1694900" cy="1534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l="61829"/>
          <a:stretch/>
        </p:blipFill>
        <p:spPr>
          <a:xfrm>
            <a:off x="6320927" y="1979350"/>
            <a:ext cx="1468847" cy="29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FF40D59-31E0-9087-51F4-138AA0E76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198434"/>
            <a:ext cx="1680116" cy="945065"/>
          </a:xfrm>
          <a:prstGeom prst="rect">
            <a:avLst/>
          </a:prstGeom>
        </p:spPr>
      </p:pic>
      <p:pic>
        <p:nvPicPr>
          <p:cNvPr id="7" name="Imagen 6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B70A5D5-96D1-ABCC-E7E6-0062168D3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23D98FC4-B8D1-862A-EF72-4E93E5BC7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6AA84F"/>
                </a:highlight>
              </a:rPr>
              <a:t>ARTICULACIÓN HUMERO-RADIAL</a:t>
            </a:r>
            <a:endParaRPr b="1">
              <a:highlight>
                <a:srgbClr val="6AA84F"/>
              </a:highlight>
            </a:endParaRPr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48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sz="1600" b="1">
                <a:solidFill>
                  <a:schemeClr val="dk1"/>
                </a:solidFill>
              </a:rPr>
              <a:t>Tipo:</a:t>
            </a:r>
            <a:r>
              <a:rPr lang="es-419" sz="1200">
                <a:solidFill>
                  <a:schemeClr val="dk1"/>
                </a:solidFill>
              </a:rPr>
              <a:t> Diartrosis – Condilea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 b="1">
                <a:solidFill>
                  <a:schemeClr val="dk1"/>
                </a:solidFill>
              </a:rPr>
              <a:t>Superficies articulares: </a:t>
            </a:r>
            <a:endParaRPr sz="16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Humero: Cóndilo </a:t>
            </a:r>
            <a:endParaRPr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>
                <a:solidFill>
                  <a:schemeClr val="dk1"/>
                </a:solidFill>
              </a:rPr>
              <a:t>Radio: Cúpula Radial</a:t>
            </a:r>
            <a:r>
              <a:rPr lang="es-419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 b="1">
                <a:solidFill>
                  <a:schemeClr val="dk1"/>
                </a:solidFill>
              </a:rPr>
              <a:t>Medios de Unión: </a:t>
            </a:r>
            <a:endParaRPr sz="16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Anterior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Posterior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Lateral Externo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Ligamento Lateral Interno </a:t>
            </a:r>
            <a:endParaRPr>
              <a:solidFill>
                <a:schemeClr val="dk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s-419">
                <a:solidFill>
                  <a:schemeClr val="dk1"/>
                </a:solidFill>
              </a:rPr>
              <a:t>Cápsula Articula</a:t>
            </a:r>
            <a:r>
              <a:rPr lang="es-419" sz="1200">
                <a:solidFill>
                  <a:schemeClr val="dk1"/>
                </a:solidFill>
              </a:rPr>
              <a:t>r </a:t>
            </a:r>
            <a:endParaRPr sz="12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sz="1400" b="1">
                <a:solidFill>
                  <a:schemeClr val="dk1"/>
                </a:solidFill>
              </a:rPr>
              <a:t>Movimientos</a:t>
            </a:r>
            <a:r>
              <a:rPr lang="es-419" sz="1400">
                <a:solidFill>
                  <a:schemeClr val="dk1"/>
                </a:solidFill>
              </a:rPr>
              <a:t>: Flexión, extensión, abducción y aducción y circunducción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l="61829"/>
          <a:stretch/>
        </p:blipFill>
        <p:spPr>
          <a:xfrm>
            <a:off x="6728500" y="445025"/>
            <a:ext cx="1853701" cy="37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/>
          <p:nvPr/>
        </p:nvSpPr>
        <p:spPr>
          <a:xfrm>
            <a:off x="7049282" y="1692439"/>
            <a:ext cx="478775" cy="471825"/>
          </a:xfrm>
          <a:custGeom>
            <a:avLst/>
            <a:gdLst/>
            <a:ahLst/>
            <a:cxnLst/>
            <a:rect l="l" t="t" r="r" b="b"/>
            <a:pathLst>
              <a:path w="19151" h="18873" extrusionOk="0">
                <a:moveTo>
                  <a:pt x="13679" y="920"/>
                </a:moveTo>
                <a:cubicBezTo>
                  <a:pt x="9748" y="-64"/>
                  <a:pt x="4442" y="-794"/>
                  <a:pt x="1576" y="2072"/>
                </a:cubicBezTo>
                <a:cubicBezTo>
                  <a:pt x="-1785" y="5433"/>
                  <a:pt x="1080" y="13267"/>
                  <a:pt x="5034" y="15904"/>
                </a:cubicBezTo>
                <a:cubicBezTo>
                  <a:pt x="8108" y="17954"/>
                  <a:pt x="13370" y="20244"/>
                  <a:pt x="15984" y="17632"/>
                </a:cubicBezTo>
                <a:cubicBezTo>
                  <a:pt x="19023" y="14596"/>
                  <a:pt x="19647" y="9029"/>
                  <a:pt x="18289" y="4954"/>
                </a:cubicBezTo>
                <a:cubicBezTo>
                  <a:pt x="17682" y="3132"/>
                  <a:pt x="14537" y="3214"/>
                  <a:pt x="13679" y="1496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Google Shape;136;p22"/>
          <p:cNvSpPr/>
          <p:nvPr/>
        </p:nvSpPr>
        <p:spPr>
          <a:xfrm>
            <a:off x="6725452" y="2720734"/>
            <a:ext cx="674775" cy="353400"/>
          </a:xfrm>
          <a:custGeom>
            <a:avLst/>
            <a:gdLst/>
            <a:ahLst/>
            <a:cxnLst/>
            <a:rect l="l" t="t" r="r" b="b"/>
            <a:pathLst>
              <a:path w="26991" h="14136" extrusionOk="0">
                <a:moveTo>
                  <a:pt x="13953" y="130"/>
                </a:moveTo>
                <a:cubicBezTo>
                  <a:pt x="10490" y="130"/>
                  <a:pt x="6865" y="-389"/>
                  <a:pt x="3580" y="706"/>
                </a:cubicBezTo>
                <a:cubicBezTo>
                  <a:pt x="175" y="1840"/>
                  <a:pt x="-436" y="7675"/>
                  <a:pt x="698" y="11080"/>
                </a:cubicBezTo>
                <a:cubicBezTo>
                  <a:pt x="1891" y="14661"/>
                  <a:pt x="7874" y="13961"/>
                  <a:pt x="11648" y="13961"/>
                </a:cubicBezTo>
                <a:cubicBezTo>
                  <a:pt x="16821" y="13961"/>
                  <a:pt x="24318" y="14553"/>
                  <a:pt x="26632" y="9927"/>
                </a:cubicBezTo>
                <a:cubicBezTo>
                  <a:pt x="28042" y="7109"/>
                  <a:pt x="23926" y="3199"/>
                  <a:pt x="20869" y="2435"/>
                </a:cubicBezTo>
                <a:cubicBezTo>
                  <a:pt x="17652" y="1631"/>
                  <a:pt x="13417" y="3051"/>
                  <a:pt x="11072" y="706"/>
                </a:cubicBezTo>
              </a:path>
            </a:pathLst>
          </a:cu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48105"/>
          <a:stretch/>
        </p:blipFill>
        <p:spPr>
          <a:xfrm>
            <a:off x="4765575" y="2493450"/>
            <a:ext cx="1689175" cy="10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5">
            <a:alphaModFix/>
          </a:blip>
          <a:srcRect l="47900" t="59770" r="38864" b="14811"/>
          <a:stretch/>
        </p:blipFill>
        <p:spPr>
          <a:xfrm>
            <a:off x="3659700" y="3636024"/>
            <a:ext cx="1210225" cy="13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706D706-55E4-5EE7-7B8D-1CF5961BF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884" y="4415883"/>
            <a:ext cx="1680116" cy="755124"/>
          </a:xfrm>
          <a:prstGeom prst="rect">
            <a:avLst/>
          </a:prstGeom>
        </p:spPr>
      </p:pic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BA2B805-3C9E-AFB1-D76E-195B237F2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07D64943-A492-7206-EAFE-37272FDEC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A61C00"/>
                </a:highlight>
              </a:rPr>
              <a:t>ARTICULACIÓN HÚMERO-CUBITAL</a:t>
            </a:r>
            <a:endParaRPr b="1">
              <a:highlight>
                <a:srgbClr val="A61C00"/>
              </a:highlight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88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Tipo: </a:t>
            </a:r>
            <a:r>
              <a:rPr lang="es-419">
                <a:solidFill>
                  <a:schemeClr val="dk1"/>
                </a:solidFill>
              </a:rPr>
              <a:t>Sinovial - Diartrosis – Troclear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Húmero: Tróclea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Cúbito: Cavidad Sigmoidea Mayor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Medios de Unión</a:t>
            </a:r>
            <a:r>
              <a:rPr lang="es-419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Anterior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Posterior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Lateral Externo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Ligamento Lateral Interno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Cápsula Articular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 b="1">
                <a:solidFill>
                  <a:schemeClr val="dk1"/>
                </a:solidFill>
              </a:rPr>
              <a:t>Movimientos:</a:t>
            </a:r>
            <a:r>
              <a:rPr lang="es-419" sz="1400">
                <a:solidFill>
                  <a:schemeClr val="dk1"/>
                </a:solidFill>
              </a:rPr>
              <a:t> flexión y extensión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l="61829"/>
          <a:stretch/>
        </p:blipFill>
        <p:spPr>
          <a:xfrm>
            <a:off x="6018350" y="473650"/>
            <a:ext cx="1957700" cy="39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6814950" y="1801875"/>
            <a:ext cx="645200" cy="561600"/>
          </a:xfrm>
          <a:custGeom>
            <a:avLst/>
            <a:gdLst/>
            <a:ahLst/>
            <a:cxnLst/>
            <a:rect l="l" t="t" r="r" b="b"/>
            <a:pathLst>
              <a:path w="25808" h="22464" extrusionOk="0">
                <a:moveTo>
                  <a:pt x="0" y="0"/>
                </a:moveTo>
                <a:cubicBezTo>
                  <a:pt x="5337" y="2670"/>
                  <a:pt x="-737" y="12205"/>
                  <a:pt x="1152" y="17866"/>
                </a:cubicBezTo>
                <a:cubicBezTo>
                  <a:pt x="2491" y="21879"/>
                  <a:pt x="9817" y="15953"/>
                  <a:pt x="13831" y="17290"/>
                </a:cubicBezTo>
                <a:cubicBezTo>
                  <a:pt x="17693" y="18577"/>
                  <a:pt x="23536" y="24964"/>
                  <a:pt x="25357" y="21324"/>
                </a:cubicBezTo>
                <a:cubicBezTo>
                  <a:pt x="26988" y="18064"/>
                  <a:pt x="22783" y="14486"/>
                  <a:pt x="21899" y="10950"/>
                </a:cubicBezTo>
                <a:cubicBezTo>
                  <a:pt x="21187" y="8099"/>
                  <a:pt x="22248" y="4384"/>
                  <a:pt x="20170" y="2306"/>
                </a:cubicBezTo>
                <a:cubicBezTo>
                  <a:pt x="18133" y="269"/>
                  <a:pt x="14407" y="2306"/>
                  <a:pt x="11526" y="2306"/>
                </a:cubicBezTo>
                <a:cubicBezTo>
                  <a:pt x="8171" y="2306"/>
                  <a:pt x="5084" y="0"/>
                  <a:pt x="1729" y="0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7" name="Google Shape;147;p23"/>
          <p:cNvSpPr/>
          <p:nvPr/>
        </p:nvSpPr>
        <p:spPr>
          <a:xfrm>
            <a:off x="6757461" y="2327829"/>
            <a:ext cx="625050" cy="717725"/>
          </a:xfrm>
          <a:custGeom>
            <a:avLst/>
            <a:gdLst/>
            <a:ahLst/>
            <a:cxnLst/>
            <a:rect l="l" t="t" r="r" b="b"/>
            <a:pathLst>
              <a:path w="25002" h="28709" extrusionOk="0">
                <a:moveTo>
                  <a:pt x="1147" y="6625"/>
                </a:moveTo>
                <a:cubicBezTo>
                  <a:pt x="1147" y="10083"/>
                  <a:pt x="-1299" y="14554"/>
                  <a:pt x="1147" y="16998"/>
                </a:cubicBezTo>
                <a:cubicBezTo>
                  <a:pt x="2017" y="17868"/>
                  <a:pt x="3640" y="18137"/>
                  <a:pt x="4029" y="19304"/>
                </a:cubicBezTo>
                <a:cubicBezTo>
                  <a:pt x="4790" y="21587"/>
                  <a:pt x="5786" y="27346"/>
                  <a:pt x="7486" y="25643"/>
                </a:cubicBezTo>
                <a:cubicBezTo>
                  <a:pt x="9126" y="24000"/>
                  <a:pt x="11624" y="22026"/>
                  <a:pt x="13826" y="22761"/>
                </a:cubicBezTo>
                <a:cubicBezTo>
                  <a:pt x="16277" y="23579"/>
                  <a:pt x="16560" y="27707"/>
                  <a:pt x="19012" y="28524"/>
                </a:cubicBezTo>
                <a:cubicBezTo>
                  <a:pt x="21237" y="29265"/>
                  <a:pt x="24034" y="26715"/>
                  <a:pt x="24775" y="24490"/>
                </a:cubicBezTo>
                <a:cubicBezTo>
                  <a:pt x="25686" y="21756"/>
                  <a:pt x="20741" y="19304"/>
                  <a:pt x="17860" y="19304"/>
                </a:cubicBezTo>
                <a:cubicBezTo>
                  <a:pt x="16645" y="19304"/>
                  <a:pt x="13542" y="19009"/>
                  <a:pt x="14402" y="18151"/>
                </a:cubicBezTo>
                <a:cubicBezTo>
                  <a:pt x="18316" y="14243"/>
                  <a:pt x="23235" y="7192"/>
                  <a:pt x="20165" y="2591"/>
                </a:cubicBezTo>
                <a:cubicBezTo>
                  <a:pt x="16752" y="-2525"/>
                  <a:pt x="2300" y="1051"/>
                  <a:pt x="2300" y="7201"/>
                </a:cubicBezTo>
              </a:path>
            </a:pathLst>
          </a:cu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l="47625" t="18495" r="15389" b="29374"/>
          <a:stretch/>
        </p:blipFill>
        <p:spPr>
          <a:xfrm>
            <a:off x="3774625" y="3257075"/>
            <a:ext cx="2243723" cy="177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186CB17-00C6-0DE9-088D-C5ABE6714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884" y="4415883"/>
            <a:ext cx="1680116" cy="755124"/>
          </a:xfrm>
          <a:prstGeom prst="rect">
            <a:avLst/>
          </a:prstGeom>
        </p:spPr>
      </p:pic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A384E09-C9F6-1DAB-7313-152520C79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F0C3F927-6B31-5C50-20A7-0CFBF1BB0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DESCRIPCIÓN</a:t>
            </a:r>
            <a:endParaRPr b="1"/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3">
            <a:alphaModFix/>
          </a:blip>
          <a:srcRect l="17685" t="19930" r="47266" b="41609"/>
          <a:stretch/>
        </p:blipFill>
        <p:spPr>
          <a:xfrm>
            <a:off x="1426525" y="878900"/>
            <a:ext cx="6166425" cy="380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4"/>
          <p:cNvSpPr/>
          <p:nvPr/>
        </p:nvSpPr>
        <p:spPr>
          <a:xfrm>
            <a:off x="3970794" y="2536675"/>
            <a:ext cx="186000" cy="691550"/>
          </a:xfrm>
          <a:custGeom>
            <a:avLst/>
            <a:gdLst/>
            <a:ahLst/>
            <a:cxnLst/>
            <a:rect l="l" t="t" r="r" b="b"/>
            <a:pathLst>
              <a:path w="7440" h="27662" extrusionOk="0">
                <a:moveTo>
                  <a:pt x="6573" y="576"/>
                </a:moveTo>
                <a:cubicBezTo>
                  <a:pt x="6573" y="9807"/>
                  <a:pt x="10041" y="27662"/>
                  <a:pt x="810" y="27662"/>
                </a:cubicBezTo>
                <a:cubicBezTo>
                  <a:pt x="-548" y="27662"/>
                  <a:pt x="234" y="24986"/>
                  <a:pt x="234" y="23628"/>
                </a:cubicBezTo>
                <a:cubicBezTo>
                  <a:pt x="234" y="19521"/>
                  <a:pt x="1241" y="15422"/>
                  <a:pt x="2539" y="11526"/>
                </a:cubicBezTo>
                <a:cubicBezTo>
                  <a:pt x="3791" y="7769"/>
                  <a:pt x="1461" y="0"/>
                  <a:pt x="5421" y="0"/>
                </a:cubicBezTo>
              </a:path>
            </a:pathLst>
          </a:cu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6" name="Google Shape;156;p24"/>
          <p:cNvSpPr/>
          <p:nvPr/>
        </p:nvSpPr>
        <p:spPr>
          <a:xfrm>
            <a:off x="4798631" y="2594300"/>
            <a:ext cx="855375" cy="841350"/>
          </a:xfrm>
          <a:custGeom>
            <a:avLst/>
            <a:gdLst/>
            <a:ahLst/>
            <a:cxnLst/>
            <a:rect l="l" t="t" r="r" b="b"/>
            <a:pathLst>
              <a:path w="34215" h="33654" extrusionOk="0">
                <a:moveTo>
                  <a:pt x="28209" y="1153"/>
                </a:moveTo>
                <a:cubicBezTo>
                  <a:pt x="30130" y="1153"/>
                  <a:pt x="33113" y="-565"/>
                  <a:pt x="33972" y="1153"/>
                </a:cubicBezTo>
                <a:cubicBezTo>
                  <a:pt x="34458" y="2125"/>
                  <a:pt x="31930" y="2404"/>
                  <a:pt x="31667" y="3458"/>
                </a:cubicBezTo>
                <a:cubicBezTo>
                  <a:pt x="30871" y="6643"/>
                  <a:pt x="30029" y="9947"/>
                  <a:pt x="28209" y="12679"/>
                </a:cubicBezTo>
                <a:cubicBezTo>
                  <a:pt x="22706" y="20938"/>
                  <a:pt x="16234" y="32849"/>
                  <a:pt x="6310" y="32849"/>
                </a:cubicBezTo>
                <a:cubicBezTo>
                  <a:pt x="4389" y="32849"/>
                  <a:pt x="1406" y="34567"/>
                  <a:pt x="547" y="32849"/>
                </a:cubicBezTo>
                <a:cubicBezTo>
                  <a:pt x="-2677" y="26399"/>
                  <a:pt x="10684" y="22443"/>
                  <a:pt x="16683" y="18442"/>
                </a:cubicBezTo>
                <a:cubicBezTo>
                  <a:pt x="23076" y="14179"/>
                  <a:pt x="22830" y="0"/>
                  <a:pt x="30514" y="0"/>
                </a:cubicBezTo>
              </a:path>
            </a:pathLst>
          </a:custGeom>
          <a:noFill/>
          <a:ln w="28575" cap="flat" cmpd="sng">
            <a:solidFill>
              <a:srgbClr val="76A5A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7" name="Google Shape;157;p24"/>
          <p:cNvSpPr/>
          <p:nvPr/>
        </p:nvSpPr>
        <p:spPr>
          <a:xfrm>
            <a:off x="4155396" y="2118850"/>
            <a:ext cx="1284725" cy="1080825"/>
          </a:xfrm>
          <a:custGeom>
            <a:avLst/>
            <a:gdLst/>
            <a:ahLst/>
            <a:cxnLst/>
            <a:rect l="l" t="t" r="r" b="b"/>
            <a:pathLst>
              <a:path w="51389" h="43233" extrusionOk="0">
                <a:moveTo>
                  <a:pt x="29157" y="0"/>
                </a:moveTo>
                <a:cubicBezTo>
                  <a:pt x="23656" y="5501"/>
                  <a:pt x="17191" y="11152"/>
                  <a:pt x="9563" y="12679"/>
                </a:cubicBezTo>
                <a:cubicBezTo>
                  <a:pt x="6712" y="13250"/>
                  <a:pt x="1624" y="11011"/>
                  <a:pt x="918" y="13831"/>
                </a:cubicBezTo>
                <a:cubicBezTo>
                  <a:pt x="-62" y="17745"/>
                  <a:pt x="918" y="21900"/>
                  <a:pt x="918" y="25934"/>
                </a:cubicBezTo>
                <a:cubicBezTo>
                  <a:pt x="918" y="29397"/>
                  <a:pt x="-1387" y="34387"/>
                  <a:pt x="1495" y="36307"/>
                </a:cubicBezTo>
                <a:cubicBezTo>
                  <a:pt x="3598" y="37708"/>
                  <a:pt x="6590" y="36661"/>
                  <a:pt x="8987" y="37460"/>
                </a:cubicBezTo>
                <a:cubicBezTo>
                  <a:pt x="15221" y="39537"/>
                  <a:pt x="21772" y="44727"/>
                  <a:pt x="28005" y="42647"/>
                </a:cubicBezTo>
                <a:cubicBezTo>
                  <a:pt x="36315" y="39874"/>
                  <a:pt x="45982" y="34822"/>
                  <a:pt x="48751" y="26510"/>
                </a:cubicBezTo>
                <a:cubicBezTo>
                  <a:pt x="50039" y="22644"/>
                  <a:pt x="52739" y="17799"/>
                  <a:pt x="50480" y="14408"/>
                </a:cubicBezTo>
                <a:cubicBezTo>
                  <a:pt x="49000" y="12187"/>
                  <a:pt x="45452" y="12261"/>
                  <a:pt x="43565" y="10374"/>
                </a:cubicBezTo>
                <a:cubicBezTo>
                  <a:pt x="39345" y="6154"/>
                  <a:pt x="34549" y="576"/>
                  <a:pt x="28581" y="576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7" name="Imagen 6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F81DB3E-5571-B5E8-5519-AAD24013C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415883"/>
            <a:ext cx="1680116" cy="755124"/>
          </a:xfrm>
          <a:prstGeom prst="rect">
            <a:avLst/>
          </a:prstGeom>
        </p:spPr>
      </p:pic>
      <p:pic>
        <p:nvPicPr>
          <p:cNvPr id="8" name="Imagen 7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5304C055-0761-9352-3F89-ED8881A93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CA4F76B6-7C19-0ABA-81BB-40085083A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 b="1"/>
              <a:t>DESCRIPCIÓN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l="9708" t="42553" r="8638" b="35830"/>
          <a:stretch/>
        </p:blipFill>
        <p:spPr>
          <a:xfrm>
            <a:off x="652350" y="1092075"/>
            <a:ext cx="7880926" cy="2698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7299038" y="2090050"/>
            <a:ext cx="186450" cy="749175"/>
          </a:xfrm>
          <a:custGeom>
            <a:avLst/>
            <a:gdLst/>
            <a:ahLst/>
            <a:cxnLst/>
            <a:rect l="l" t="t" r="r" b="b"/>
            <a:pathLst>
              <a:path w="7458" h="29967" extrusionOk="0">
                <a:moveTo>
                  <a:pt x="2535" y="0"/>
                </a:moveTo>
                <a:cubicBezTo>
                  <a:pt x="7754" y="1739"/>
                  <a:pt x="5993" y="10635"/>
                  <a:pt x="5993" y="16136"/>
                </a:cubicBezTo>
                <a:cubicBezTo>
                  <a:pt x="5993" y="20554"/>
                  <a:pt x="9117" y="26267"/>
                  <a:pt x="5993" y="29391"/>
                </a:cubicBezTo>
                <a:cubicBezTo>
                  <a:pt x="5033" y="30351"/>
                  <a:pt x="2919" y="29776"/>
                  <a:pt x="1959" y="28815"/>
                </a:cubicBezTo>
                <a:cubicBezTo>
                  <a:pt x="-1436" y="25418"/>
                  <a:pt x="441" y="18963"/>
                  <a:pt x="1959" y="14407"/>
                </a:cubicBezTo>
                <a:cubicBezTo>
                  <a:pt x="3295" y="10397"/>
                  <a:pt x="1959" y="5954"/>
                  <a:pt x="1959" y="1728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5F030488-1DC2-0B7E-3185-63512CB72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415883"/>
            <a:ext cx="1680116" cy="755124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FA59A1C-D039-0A11-3F2C-71AC4E887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97677464-DBDB-CC58-8A51-F1A3E9A1E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6"/>
          <p:cNvGraphicFramePr/>
          <p:nvPr/>
        </p:nvGraphicFramePr>
        <p:xfrm>
          <a:off x="239500" y="248400"/>
          <a:ext cx="8759275" cy="457188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90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LIGAMENTO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CARACTERÍSTICAS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 anterior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Desde la cara anterior del epicondilo y la tróclea y las fosas coronoidea y radial y termina (fibras verticales y oblicuas) sobre la apófisis coronoides y la cara anterior del ligamento anular del radio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Fibras oblicuas: fascículo oblicuo lateral y un fascículo oblicuo medial, que se insertan en la cara anterior del epicóndilo y epitroclea respectivamente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 lateral externo o colateral radial 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Fibras radiadas desde el epicóndilo hasta el lig anular del radio. </a:t>
                      </a:r>
                      <a:endParaRPr sz="1200"/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lang="es-419" sz="1200" b="1"/>
                        <a:t>Fascículo anterior</a:t>
                      </a:r>
                      <a:r>
                        <a:rPr lang="es-419" sz="1200"/>
                        <a:t>: desde la porción anteroinferior del epicóndilo y termina por delante de la escotadura radial del cúbito. </a:t>
                      </a:r>
                      <a:endParaRPr sz="1200"/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lang="es-419" sz="1200" b="1"/>
                        <a:t>Fascículo medio: </a:t>
                      </a:r>
                      <a:r>
                        <a:rPr lang="es-419" sz="1200"/>
                        <a:t>desde la porción inferior del epicóndilo  hasta la porción posterior de la escotadura radial. </a:t>
                      </a:r>
                      <a:endParaRPr sz="1200"/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-"/>
                      </a:pPr>
                      <a:r>
                        <a:rPr lang="es-419" sz="1200" b="1"/>
                        <a:t>Fascículo posterior</a:t>
                      </a:r>
                      <a:r>
                        <a:rPr lang="es-419" sz="1200"/>
                        <a:t>:  desde la porción posterior del epicóndilo al borde lateral del olécranon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Lig. lateral interno o colateral cubital </a:t>
                      </a:r>
                      <a:endParaRPr sz="12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Aspecto triangular o en abanico, de vértice superior.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Fascículo anterior: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 desde la porción anteromedial de epitróclea hasta la porción medial de la apóf coronoides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Fascículo medio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: desde el borde inferior de epitróclea hasta el borde medial de la apóf coronoides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es-419" sz="1200" b="1">
                          <a:solidFill>
                            <a:schemeClr val="dk1"/>
                          </a:solidFill>
                        </a:rPr>
                        <a:t>Fascículo posterior: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 desde la porción posteroinferior de epitróclea hasta el borde medial del olécranon </a:t>
                      </a:r>
                      <a:r>
                        <a:rPr lang="es-419" sz="1200" i="1">
                          <a:solidFill>
                            <a:schemeClr val="dk1"/>
                          </a:solidFill>
                        </a:rPr>
                        <a:t>[ligamento de Bardinet</a:t>
                      </a: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].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</a:rPr>
                        <a:t>Las inserciones cubitales están reforzadas por fibras arciformes denominadas </a:t>
                      </a:r>
                      <a:r>
                        <a:rPr lang="es-419" sz="1200" i="1">
                          <a:solidFill>
                            <a:schemeClr val="dk1"/>
                          </a:solidFill>
                        </a:rPr>
                        <a:t>fascículo arqueado del ligamento colateral cubital [ligamento de Cooper].</a:t>
                      </a:r>
                      <a:endParaRPr sz="1200" i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1FAF90A1-871D-3F12-3023-5D6D921D8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3C8455D6-4A92-9030-5F9A-2C0E4043D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27"/>
          <p:cNvGraphicFramePr/>
          <p:nvPr/>
        </p:nvGraphicFramePr>
        <p:xfrm>
          <a:off x="192363" y="608600"/>
          <a:ext cx="8759275" cy="128010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190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LIGAMENTO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CARACTERÍSTICAS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 b="1"/>
                        <a:t>Lig posterior</a:t>
                      </a:r>
                      <a:endParaRPr sz="12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Refuerza  cara posterior de la articulación. 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Formado por fibras transversales [humerohumerales] ubicadas por encima del olécranon, y fibras oblicuas mediales y laterales, que se extienden desde los bordes medial y lateral de la fosa del olécranon del húmero a los bordes corre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5" name="Google Shape;175;p27"/>
          <p:cNvPicPr preferRelativeResize="0"/>
          <p:nvPr/>
        </p:nvPicPr>
        <p:blipFill rotWithShape="1">
          <a:blip r:embed="rId3">
            <a:alphaModFix/>
          </a:blip>
          <a:srcRect l="28403" t="58800" r="51002" b="18244"/>
          <a:stretch/>
        </p:blipFill>
        <p:spPr>
          <a:xfrm>
            <a:off x="5086023" y="2120252"/>
            <a:ext cx="3515449" cy="22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 rotWithShape="1">
          <a:blip r:embed="rId4">
            <a:alphaModFix/>
          </a:blip>
          <a:srcRect l="48948" t="52378" r="29958" b="19928"/>
          <a:stretch/>
        </p:blipFill>
        <p:spPr>
          <a:xfrm>
            <a:off x="732800" y="2018432"/>
            <a:ext cx="3515449" cy="259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62993B14-7E63-3F1C-162E-D91159D9C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B8FA284-6DB6-0845-169F-EEC7F7FAD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D5343C0D-152D-EF0C-0EE6-5B546A727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C27BA0"/>
                </a:highlight>
              </a:rPr>
              <a:t>ARTICULACIÓN RADIOCUBITAL SUPERIOR</a:t>
            </a:r>
            <a:endParaRPr>
              <a:highlight>
                <a:srgbClr val="C27BA0"/>
              </a:highlight>
            </a:endParaRPr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Tipo</a:t>
            </a:r>
            <a:r>
              <a:rPr lang="es-419">
                <a:solidFill>
                  <a:schemeClr val="dk1"/>
                </a:solidFill>
              </a:rPr>
              <a:t>: sinovial - Diartrosis – Trocoide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Superficies articulares: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Cúbito: Cavidad Sigmoidea Menor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Radio: Cabeza del Radio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b="1">
                <a:solidFill>
                  <a:schemeClr val="dk1"/>
                </a:solidFill>
              </a:rPr>
              <a:t>Medios de Unión: </a:t>
            </a:r>
            <a:endParaRPr b="1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419" sz="1300">
                <a:solidFill>
                  <a:schemeClr val="dk1"/>
                </a:solidFill>
              </a:rPr>
              <a:t>Ligamento Cuadrado de Denucé 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419" sz="1300">
                <a:solidFill>
                  <a:schemeClr val="dk1"/>
                </a:solidFill>
              </a:rPr>
              <a:t>Ligamento Anular</a:t>
            </a:r>
            <a:endParaRPr sz="13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 sz="1700" b="1">
                <a:solidFill>
                  <a:schemeClr val="dk1"/>
                </a:solidFill>
              </a:rPr>
              <a:t>Movimiento</a:t>
            </a:r>
            <a:r>
              <a:rPr lang="es-419" sz="1700">
                <a:solidFill>
                  <a:schemeClr val="dk1"/>
                </a:solidFill>
              </a:rPr>
              <a:t>: rotación</a:t>
            </a:r>
            <a:r>
              <a:rPr lang="es-419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l="49998" t="33545" r="15388" b="11154"/>
          <a:stretch/>
        </p:blipFill>
        <p:spPr>
          <a:xfrm>
            <a:off x="4898725" y="1089975"/>
            <a:ext cx="380332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7326836" y="2666350"/>
            <a:ext cx="186950" cy="288150"/>
          </a:xfrm>
          <a:custGeom>
            <a:avLst/>
            <a:gdLst/>
            <a:ahLst/>
            <a:cxnLst/>
            <a:rect l="l" t="t" r="r" b="b"/>
            <a:pathLst>
              <a:path w="7478" h="11526" extrusionOk="0">
                <a:moveTo>
                  <a:pt x="6035" y="0"/>
                </a:moveTo>
                <a:cubicBezTo>
                  <a:pt x="3774" y="1506"/>
                  <a:pt x="931" y="3127"/>
                  <a:pt x="272" y="5763"/>
                </a:cubicBezTo>
                <a:cubicBezTo>
                  <a:pt x="-271" y="7936"/>
                  <a:pt x="1489" y="11526"/>
                  <a:pt x="3729" y="11526"/>
                </a:cubicBezTo>
                <a:cubicBezTo>
                  <a:pt x="5371" y="11526"/>
                  <a:pt x="4938" y="8472"/>
                  <a:pt x="5458" y="6915"/>
                </a:cubicBezTo>
                <a:cubicBezTo>
                  <a:pt x="6138" y="4878"/>
                  <a:pt x="8759" y="576"/>
                  <a:pt x="6611" y="576"/>
                </a:cubicBezTo>
              </a:path>
            </a:pathLst>
          </a:custGeom>
          <a:noFill/>
          <a:ln w="3810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6" name="Imagen 5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6A58C10-E9AA-93E2-186D-6769F0D43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7" name="Imagen 6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5D46637-4AEC-4EC7-80C2-7385AE369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CE2E3889-4A4E-8B11-FB4C-02B5A2C43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DESCRIPCIÓN</a:t>
            </a:r>
            <a:endParaRPr b="1"/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l="9564" t="2880" r="47945" b="47540"/>
          <a:stretch/>
        </p:blipFill>
        <p:spPr>
          <a:xfrm>
            <a:off x="2595200" y="1554400"/>
            <a:ext cx="3249575" cy="29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/>
          <p:nvPr/>
        </p:nvSpPr>
        <p:spPr>
          <a:xfrm>
            <a:off x="4030308" y="2821716"/>
            <a:ext cx="437100" cy="496625"/>
          </a:xfrm>
          <a:custGeom>
            <a:avLst/>
            <a:gdLst/>
            <a:ahLst/>
            <a:cxnLst/>
            <a:rect l="l" t="t" r="r" b="b"/>
            <a:pathLst>
              <a:path w="17484" h="19865" extrusionOk="0">
                <a:moveTo>
                  <a:pt x="3041" y="3005"/>
                </a:moveTo>
                <a:cubicBezTo>
                  <a:pt x="4001" y="3005"/>
                  <a:pt x="4091" y="1379"/>
                  <a:pt x="4770" y="700"/>
                </a:cubicBezTo>
                <a:cubicBezTo>
                  <a:pt x="6128" y="-659"/>
                  <a:pt x="8612" y="700"/>
                  <a:pt x="10533" y="700"/>
                </a:cubicBezTo>
                <a:cubicBezTo>
                  <a:pt x="12646" y="700"/>
                  <a:pt x="15378" y="-794"/>
                  <a:pt x="16872" y="700"/>
                </a:cubicBezTo>
                <a:cubicBezTo>
                  <a:pt x="18891" y="2719"/>
                  <a:pt x="14551" y="5968"/>
                  <a:pt x="13991" y="8768"/>
                </a:cubicBezTo>
                <a:cubicBezTo>
                  <a:pt x="13299" y="12232"/>
                  <a:pt x="12895" y="16606"/>
                  <a:pt x="9956" y="18566"/>
                </a:cubicBezTo>
                <a:cubicBezTo>
                  <a:pt x="7719" y="20058"/>
                  <a:pt x="3790" y="20468"/>
                  <a:pt x="1888" y="18566"/>
                </a:cubicBezTo>
                <a:cubicBezTo>
                  <a:pt x="-1417" y="15261"/>
                  <a:pt x="14" y="6827"/>
                  <a:pt x="4193" y="4734"/>
                </a:cubicBezTo>
              </a:path>
            </a:pathLst>
          </a:cu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92" name="Google Shape;192;p29"/>
          <p:cNvPicPr preferRelativeResize="0"/>
          <p:nvPr/>
        </p:nvPicPr>
        <p:blipFill rotWithShape="1">
          <a:blip r:embed="rId4">
            <a:alphaModFix/>
          </a:blip>
          <a:srcRect l="39616" t="22808" r="38482" b="24504"/>
          <a:stretch/>
        </p:blipFill>
        <p:spPr>
          <a:xfrm>
            <a:off x="417975" y="1554400"/>
            <a:ext cx="1226924" cy="165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9"/>
          <p:cNvPicPr preferRelativeResize="0"/>
          <p:nvPr/>
        </p:nvPicPr>
        <p:blipFill rotWithShape="1">
          <a:blip r:embed="rId5">
            <a:alphaModFix/>
          </a:blip>
          <a:srcRect l="12738" t="27695" r="25814" b="18494"/>
          <a:stretch/>
        </p:blipFill>
        <p:spPr>
          <a:xfrm>
            <a:off x="5129250" y="245875"/>
            <a:ext cx="3946401" cy="19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5691150" y="2608700"/>
            <a:ext cx="3126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Lig.anular del radio</a:t>
            </a:r>
            <a:r>
              <a:rPr lang="es-419" sz="1200"/>
              <a:t>: desde el borde ant hasta el borde posterior de la escotadura radial del cúbito, rodeando la cabeza del radio con forma de anillo.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Lig. cuadrado [de Denucé]: </a:t>
            </a:r>
            <a:r>
              <a:rPr lang="es-419" sz="1200"/>
              <a:t>refuerza la superficie infde la cápsula y va desde el borde inferior de la escotadura radial del cúbito hasta el cuello del radio.</a:t>
            </a:r>
            <a:endParaRPr sz="1200"/>
          </a:p>
        </p:txBody>
      </p:sp>
      <p:pic>
        <p:nvPicPr>
          <p:cNvPr id="8" name="Imagen 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51F16C7E-175B-FA7C-696F-6482CC9D8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AEF43B5-2A8E-512F-0A0B-BE2CDAEF31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0F3C284F-AC81-AA22-8418-50FD20ADE5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ARTICULACIÓN RADIOCUBITAL MEDIA</a:t>
            </a:r>
            <a:endParaRPr b="1"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359100" cy="20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Tipo y Género:</a:t>
            </a:r>
            <a:r>
              <a:rPr lang="es-419">
                <a:solidFill>
                  <a:schemeClr val="dk1"/>
                </a:solidFill>
              </a:rPr>
              <a:t>Sin Sinovial – Sinartrosis - Sindesmosis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Superficies articulares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Borde Interno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Cubito: Borde Externo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Principales Medios de Unión: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Membrana interosea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Cuerda tendinosa de Weitbretch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40810" t="31661" r="51941" b="24618"/>
          <a:stretch/>
        </p:blipFill>
        <p:spPr>
          <a:xfrm>
            <a:off x="7362450" y="533392"/>
            <a:ext cx="1089713" cy="369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9E3C9746-D0C6-E899-E543-B7B352804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5970F1D-DC1B-44A3-0860-39AED99E2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2916F0F-729E-6F50-ED62-E4B75C670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6D9EEB"/>
                </a:highlight>
              </a:rPr>
              <a:t>ARTICULACIÓN RADIOCUBITAL DISTAL</a:t>
            </a:r>
            <a:endParaRPr>
              <a:highlight>
                <a:srgbClr val="6D9EEB"/>
              </a:highlight>
            </a:endParaRPr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Tipo y Género</a:t>
            </a:r>
            <a:r>
              <a:rPr lang="es-419">
                <a:solidFill>
                  <a:schemeClr val="dk1"/>
                </a:solidFill>
              </a:rPr>
              <a:t>:Sinovial – Diartrosis - Trocoide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Superficies articulares: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Cavidad Sigmoidea del Radio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Cúbito: Cabeza del Cubito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Medios de unión: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Lig. radiocubital anterior (palmar)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Lig. radiocubital posterior (dorsal)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Lig triangular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" name="Imagen 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80AA2E2C-D271-818E-2FA3-267E23B3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DCDBE1D-D5BD-BF51-A873-AD5347F71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2E6DAAE7-DC39-1F18-0F83-04151350B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32"/>
          <p:cNvGraphicFramePr/>
          <p:nvPr/>
        </p:nvGraphicFramePr>
        <p:xfrm>
          <a:off x="952500" y="329000"/>
          <a:ext cx="7239000" cy="371844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LIGAMENTO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CARACTERÍSTICAS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Lig. radiocubital anterior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Desde el borde anterior de la escotadura cubital del radio hasta la cabeza del cúbito.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Lig. radiocubital posterior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Transversalmente, desde la extremidad posterior de la escotadura cubital del radio hasta la porción posterior de la cabeza del cúbito y de su apófisis estiloides.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Lig. triangular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Forma triangular:</a:t>
                      </a:r>
                      <a:endParaRPr/>
                    </a:p>
                    <a:p>
                      <a:pPr marL="914400" lvl="1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Base: borde de la escotadura cubital del radio</a:t>
                      </a:r>
                      <a:endParaRPr/>
                    </a:p>
                    <a:p>
                      <a:pPr marL="914400" lvl="1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s-419"/>
                        <a:t>Vértice: surco que está en dirección medial a la apófisis estiloides del cúbito.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Mantiene unidos el radio y el cúbito.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FB629A06-ABFB-FB45-D6CD-2AF41FAD0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2487EC04-C55E-58E2-28A1-CE5C80D9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547A0EEC-5A03-8BDB-BDE1-615C08238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3"/>
          <p:cNvPicPr preferRelativeResize="0"/>
          <p:nvPr/>
        </p:nvPicPr>
        <p:blipFill rotWithShape="1">
          <a:blip r:embed="rId3">
            <a:alphaModFix/>
          </a:blip>
          <a:srcRect l="27859" t="22774" r="30120" b="13502"/>
          <a:stretch/>
        </p:blipFill>
        <p:spPr>
          <a:xfrm>
            <a:off x="1841762" y="243975"/>
            <a:ext cx="5460476" cy="465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6B3A71D2-27CD-0F47-CE60-982F01182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417F727-6709-227C-CC19-FDDA20E31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5D691309-7667-BF27-FC73-8178669C5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4"/>
          <p:cNvPicPr preferRelativeResize="0"/>
          <p:nvPr/>
        </p:nvPicPr>
        <p:blipFill rotWithShape="1">
          <a:blip r:embed="rId3">
            <a:alphaModFix/>
          </a:blip>
          <a:srcRect l="27526" t="29622" r="30619" b="26308"/>
          <a:stretch/>
        </p:blipFill>
        <p:spPr>
          <a:xfrm>
            <a:off x="273900" y="255175"/>
            <a:ext cx="8327577" cy="444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0E3ADC90-E079-BF8E-011C-EA63908C2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B0F2649-E27B-7872-EC5E-2F3F6084F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6B88579-43D3-F7A6-6383-85A11D7F7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5"/>
          <p:cNvPicPr preferRelativeResize="0"/>
          <p:nvPr/>
        </p:nvPicPr>
        <p:blipFill rotWithShape="1">
          <a:blip r:embed="rId3">
            <a:alphaModFix/>
          </a:blip>
          <a:srcRect l="15302" t="31709" r="16227" b="8143"/>
          <a:stretch/>
        </p:blipFill>
        <p:spPr>
          <a:xfrm>
            <a:off x="567500" y="289100"/>
            <a:ext cx="7963876" cy="393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5753B38-63CF-6296-3E1C-3E808C490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D7D6B9D-A4B2-93D7-2FB1-1D6BCB780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BA398C0-F402-257F-4053-B1C422EEF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6"/>
          <p:cNvPicPr preferRelativeResize="0"/>
          <p:nvPr/>
        </p:nvPicPr>
        <p:blipFill rotWithShape="1">
          <a:blip r:embed="rId3">
            <a:alphaModFix/>
          </a:blip>
          <a:srcRect l="25683" t="23071" r="18067" b="28691"/>
          <a:stretch/>
        </p:blipFill>
        <p:spPr>
          <a:xfrm>
            <a:off x="1167175" y="692250"/>
            <a:ext cx="7321726" cy="35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5137F950-9FC2-2BDC-1BEA-3CE1AE8EC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CE9E817-1710-CC69-D0E6-84E4469E0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19B361BF-1370-52F6-C553-383CB7EE0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4A86E8"/>
                </a:highlight>
              </a:rPr>
              <a:t>ARTICULACIÓN RADIO CARPIANA</a:t>
            </a:r>
            <a:endParaRPr b="1">
              <a:highlight>
                <a:srgbClr val="4A86E8"/>
              </a:highlight>
            </a:endParaRPr>
          </a:p>
        </p:txBody>
      </p:sp>
      <p:sp>
        <p:nvSpPr>
          <p:cNvPr id="238" name="Google Shape;23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082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 sz="1400" b="1">
                <a:solidFill>
                  <a:schemeClr val="dk1"/>
                </a:solidFill>
              </a:rPr>
              <a:t>Tipo y Género:</a:t>
            </a:r>
            <a:r>
              <a:rPr lang="es-419" sz="1400">
                <a:solidFill>
                  <a:schemeClr val="dk1"/>
                </a:solidFill>
              </a:rPr>
              <a:t>Sinovial – Diartrosis - Condilea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 sz="1400" b="1">
                <a:solidFill>
                  <a:schemeClr val="dk1"/>
                </a:solidFill>
              </a:rPr>
              <a:t>Superficies articulares:</a:t>
            </a:r>
            <a:endParaRPr sz="14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Radio: Carillas Articulares del escafoides y Semilunar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Cubito: Ligamento Triangular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Cóndilo Carpiano: Escafoides, Semilunar y Piramidal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 sz="1400" b="1">
                <a:solidFill>
                  <a:schemeClr val="dk1"/>
                </a:solidFill>
              </a:rPr>
              <a:t>Medios de unión: </a:t>
            </a:r>
            <a:endParaRPr sz="1400"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 Ligamentos Radio Carpianos y Cubito Carpianos Palmares y Dorsales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 sz="1400" b="1">
                <a:solidFill>
                  <a:schemeClr val="dk1"/>
                </a:solidFill>
              </a:rPr>
              <a:t>Movimientos:</a:t>
            </a:r>
            <a:r>
              <a:rPr lang="es-419" sz="1400">
                <a:solidFill>
                  <a:schemeClr val="dk1"/>
                </a:solidFill>
              </a:rPr>
              <a:t> Flexión, extensión, abducción y aducción y circunducción 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39" name="Google Shape;239;p37"/>
          <p:cNvPicPr preferRelativeResize="0"/>
          <p:nvPr/>
        </p:nvPicPr>
        <p:blipFill rotWithShape="1">
          <a:blip r:embed="rId3">
            <a:alphaModFix/>
          </a:blip>
          <a:srcRect l="24896" t="26614" r="16175" b="14531"/>
          <a:stretch/>
        </p:blipFill>
        <p:spPr>
          <a:xfrm>
            <a:off x="4572000" y="1455800"/>
            <a:ext cx="4336401" cy="24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FBF5C37-9D8D-7C90-D445-EE6C2EBD4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EF70B13-7DF6-8BF5-7ACD-72339DD44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3EA15A35-B855-1259-4BCB-7829FACD8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8"/>
          <p:cNvPicPr preferRelativeResize="0"/>
          <p:nvPr/>
        </p:nvPicPr>
        <p:blipFill rotWithShape="1">
          <a:blip r:embed="rId3">
            <a:alphaModFix/>
          </a:blip>
          <a:srcRect l="27526" t="29622" r="30619" b="26308"/>
          <a:stretch/>
        </p:blipFill>
        <p:spPr>
          <a:xfrm>
            <a:off x="273900" y="255175"/>
            <a:ext cx="8327577" cy="44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8"/>
          <p:cNvSpPr/>
          <p:nvPr/>
        </p:nvSpPr>
        <p:spPr>
          <a:xfrm>
            <a:off x="6123641" y="1196775"/>
            <a:ext cx="642400" cy="403400"/>
          </a:xfrm>
          <a:custGeom>
            <a:avLst/>
            <a:gdLst/>
            <a:ahLst/>
            <a:cxnLst/>
            <a:rect l="l" t="t" r="r" b="b"/>
            <a:pathLst>
              <a:path w="25696" h="16136" extrusionOk="0">
                <a:moveTo>
                  <a:pt x="7481" y="0"/>
                </a:moveTo>
                <a:cubicBezTo>
                  <a:pt x="11344" y="2574"/>
                  <a:pt x="15518" y="5763"/>
                  <a:pt x="20160" y="5763"/>
                </a:cubicBezTo>
                <a:cubicBezTo>
                  <a:pt x="22138" y="5763"/>
                  <a:pt x="26744" y="7246"/>
                  <a:pt x="25346" y="8644"/>
                </a:cubicBezTo>
                <a:cubicBezTo>
                  <a:pt x="22481" y="11509"/>
                  <a:pt x="17089" y="8516"/>
                  <a:pt x="13244" y="9797"/>
                </a:cubicBezTo>
                <a:cubicBezTo>
                  <a:pt x="9084" y="11183"/>
                  <a:pt x="6103" y="16136"/>
                  <a:pt x="1718" y="16136"/>
                </a:cubicBezTo>
                <a:cubicBezTo>
                  <a:pt x="-3277" y="16136"/>
                  <a:pt x="3949" y="5837"/>
                  <a:pt x="7481" y="2305"/>
                </a:cubicBezTo>
              </a:path>
            </a:pathLst>
          </a:custGeom>
          <a:noFill/>
          <a:ln w="19050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6" name="Google Shape;246;p38"/>
          <p:cNvSpPr/>
          <p:nvPr/>
        </p:nvSpPr>
        <p:spPr>
          <a:xfrm>
            <a:off x="6014400" y="1311925"/>
            <a:ext cx="163175" cy="301875"/>
          </a:xfrm>
          <a:custGeom>
            <a:avLst/>
            <a:gdLst/>
            <a:ahLst/>
            <a:cxnLst/>
            <a:rect l="l" t="t" r="r" b="b"/>
            <a:pathLst>
              <a:path w="6527" h="12075" extrusionOk="0">
                <a:moveTo>
                  <a:pt x="0" y="0"/>
                </a:moveTo>
                <a:cubicBezTo>
                  <a:pt x="2340" y="3510"/>
                  <a:pt x="489" y="13430"/>
                  <a:pt x="4406" y="11863"/>
                </a:cubicBezTo>
                <a:cubicBezTo>
                  <a:pt x="8131" y="10373"/>
                  <a:pt x="6385" y="0"/>
                  <a:pt x="2373" y="0"/>
                </a:cubicBezTo>
              </a:path>
            </a:pathLst>
          </a:cu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7" name="Google Shape;247;p38"/>
          <p:cNvSpPr/>
          <p:nvPr/>
        </p:nvSpPr>
        <p:spPr>
          <a:xfrm>
            <a:off x="6836350" y="1328875"/>
            <a:ext cx="102325" cy="159700"/>
          </a:xfrm>
          <a:custGeom>
            <a:avLst/>
            <a:gdLst/>
            <a:ahLst/>
            <a:cxnLst/>
            <a:rect l="l" t="t" r="r" b="b"/>
            <a:pathLst>
              <a:path w="4093" h="6388" extrusionOk="0">
                <a:moveTo>
                  <a:pt x="0" y="339"/>
                </a:moveTo>
                <a:cubicBezTo>
                  <a:pt x="0" y="2567"/>
                  <a:pt x="1478" y="7247"/>
                  <a:pt x="3389" y="6101"/>
                </a:cubicBezTo>
                <a:cubicBezTo>
                  <a:pt x="5297" y="4956"/>
                  <a:pt x="2903" y="0"/>
                  <a:pt x="678" y="0"/>
                </a:cubicBezTo>
              </a:path>
            </a:pathLst>
          </a:cu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8" name="Google Shape;248;p38"/>
          <p:cNvSpPr/>
          <p:nvPr/>
        </p:nvSpPr>
        <p:spPr>
          <a:xfrm>
            <a:off x="2104968" y="1197291"/>
            <a:ext cx="615550" cy="470700"/>
          </a:xfrm>
          <a:custGeom>
            <a:avLst/>
            <a:gdLst/>
            <a:ahLst/>
            <a:cxnLst/>
            <a:rect l="l" t="t" r="r" b="b"/>
            <a:pathLst>
              <a:path w="24622" h="18828" extrusionOk="0">
                <a:moveTo>
                  <a:pt x="19769" y="1884"/>
                </a:moveTo>
                <a:cubicBezTo>
                  <a:pt x="12806" y="1884"/>
                  <a:pt x="-1675" y="2598"/>
                  <a:pt x="239" y="9292"/>
                </a:cubicBezTo>
                <a:cubicBezTo>
                  <a:pt x="971" y="11850"/>
                  <a:pt x="5647" y="10919"/>
                  <a:pt x="7310" y="12996"/>
                </a:cubicBezTo>
                <a:cubicBezTo>
                  <a:pt x="10241" y="16658"/>
                  <a:pt x="16421" y="20460"/>
                  <a:pt x="20443" y="18047"/>
                </a:cubicBezTo>
                <a:cubicBezTo>
                  <a:pt x="25411" y="15065"/>
                  <a:pt x="25291" y="6253"/>
                  <a:pt x="23137" y="874"/>
                </a:cubicBezTo>
                <a:cubicBezTo>
                  <a:pt x="22073" y="-1783"/>
                  <a:pt x="17580" y="2558"/>
                  <a:pt x="14718" y="2558"/>
                </a:cubicBezTo>
              </a:path>
            </a:pathLst>
          </a:custGeom>
          <a:noFill/>
          <a:ln w="28575" cap="flat" cmpd="sng">
            <a:solidFill>
              <a:srgbClr val="134F5C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9" name="Google Shape;249;p38"/>
          <p:cNvSpPr/>
          <p:nvPr/>
        </p:nvSpPr>
        <p:spPr>
          <a:xfrm>
            <a:off x="2584541" y="1143400"/>
            <a:ext cx="300875" cy="377325"/>
          </a:xfrm>
          <a:custGeom>
            <a:avLst/>
            <a:gdLst/>
            <a:ahLst/>
            <a:cxnLst/>
            <a:rect l="l" t="t" r="r" b="b"/>
            <a:pathLst>
              <a:path w="12035" h="15093" extrusionOk="0">
                <a:moveTo>
                  <a:pt x="12035" y="0"/>
                </a:moveTo>
                <a:cubicBezTo>
                  <a:pt x="10906" y="4512"/>
                  <a:pt x="10954" y="10228"/>
                  <a:pt x="7321" y="13132"/>
                </a:cubicBezTo>
                <a:cubicBezTo>
                  <a:pt x="6341" y="13915"/>
                  <a:pt x="4841" y="15704"/>
                  <a:pt x="3954" y="14816"/>
                </a:cubicBezTo>
                <a:cubicBezTo>
                  <a:pt x="2775" y="13635"/>
                  <a:pt x="1176" y="12836"/>
                  <a:pt x="250" y="11448"/>
                </a:cubicBezTo>
                <a:cubicBezTo>
                  <a:pt x="-1171" y="9319"/>
                  <a:pt x="4116" y="8050"/>
                  <a:pt x="6311" y="6734"/>
                </a:cubicBezTo>
                <a:cubicBezTo>
                  <a:pt x="8607" y="5357"/>
                  <a:pt x="8795" y="1893"/>
                  <a:pt x="10688" y="0"/>
                </a:cubicBezTo>
              </a:path>
            </a:pathLst>
          </a:cu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8" name="Imagen 7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C8DFBEF-DD77-3BF4-0492-86594A2A3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01451E1-CFB4-D511-EDBD-DF70B104A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2C494259-634B-3CA4-714E-657E4DE9C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39"/>
          <p:cNvGraphicFramePr/>
          <p:nvPr/>
        </p:nvGraphicFramePr>
        <p:xfrm>
          <a:off x="952500" y="476250"/>
          <a:ext cx="7757675" cy="4266990"/>
        </p:xfrm>
        <a:graphic>
          <a:graphicData uri="http://schemas.openxmlformats.org/drawingml/2006/table">
            <a:tbl>
              <a:tblPr>
                <a:noFill/>
                <a:tableStyleId>{735C5254-7060-4A15-B340-EFAA526180A5}</a:tableStyleId>
              </a:tblPr>
              <a:tblGrid>
                <a:gridCol w="2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LIGAMENTO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CARACTERÍSTICAS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 radiocarpiano dorsal</a:t>
                      </a:r>
                      <a:r>
                        <a:rPr lang="es-419"/>
                        <a:t>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Ubicado sobre la cara posterior de la articulación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Va  desde el borde posterior del radio hasta el hueso piramidal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 radiocarpiano palmar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Refuerza la cara anterior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Desde el borde anterior de la cara articular del radio y desde su apófisis estiloides hasta los huesos semilunar y grande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 cubitocarpiano palmar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Desde la superficie flexora de la cabeza del cúbito hasta el hueso grande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 cubitocarpiano dorsal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Mismo trayecto que el del lig cubitocarpiano palmar pero sobre la cara dorsal de la articulación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b="1"/>
                        <a:t>Ligamento colateral cubital del carpo 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Desde la apófisis estiloides del cúbito hasta los huesos piramidal y pisiforme.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b="1">
                          <a:solidFill>
                            <a:schemeClr val="dk1"/>
                          </a:solidFill>
                        </a:rPr>
                        <a:t>Ligamento colateral radial del carpo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chemeClr val="dk1"/>
                          </a:solidFill>
                        </a:rPr>
                        <a:t>desde la apófisis estiloides del radio hasta el hueso escafoides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BBB72332-2F79-7C8F-11B6-C99EE581F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66E2B90-01AC-9FA8-4309-0C7EEF990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B84966F8-8737-47A2-2F19-BFC5986B5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6AA84F"/>
                </a:highlight>
              </a:rPr>
              <a:t>ARTICULACIÓN MEDIOCARPIANA </a:t>
            </a:r>
            <a:endParaRPr b="1">
              <a:highlight>
                <a:srgbClr val="6AA84F"/>
              </a:highlight>
            </a:endParaRPr>
          </a:p>
        </p:txBody>
      </p:sp>
      <p:sp>
        <p:nvSpPr>
          <p:cNvPr id="260" name="Google Shape;260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30100" cy="21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 b="1">
                <a:solidFill>
                  <a:schemeClr val="dk1"/>
                </a:solidFill>
              </a:rPr>
              <a:t>Tipo y Género:</a:t>
            </a:r>
            <a:r>
              <a:rPr lang="es-419" sz="1700">
                <a:solidFill>
                  <a:schemeClr val="dk1"/>
                </a:solidFill>
              </a:rPr>
              <a:t> Sinovial – Diartrosis - Bicondílea</a:t>
            </a:r>
            <a:endParaRPr sz="170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 b="1">
                <a:solidFill>
                  <a:schemeClr val="dk1"/>
                </a:solidFill>
              </a:rPr>
              <a:t>Superficies articulares</a:t>
            </a:r>
            <a:r>
              <a:rPr lang="es-419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marL="914400" lvl="1" indent="-29257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300">
                <a:solidFill>
                  <a:schemeClr val="dk1"/>
                </a:solidFill>
              </a:rPr>
              <a:t>1er Fila: Carillas Articulares del escafoides, Semilunar y Piramidal (cavidad glenoidea)</a:t>
            </a:r>
            <a:endParaRPr sz="1300">
              <a:solidFill>
                <a:schemeClr val="dk1"/>
              </a:solidFill>
            </a:endParaRPr>
          </a:p>
          <a:p>
            <a:pPr marL="914400" lvl="1" indent="-29257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300">
                <a:solidFill>
                  <a:schemeClr val="dk1"/>
                </a:solidFill>
              </a:rPr>
              <a:t>2da Fila: Carillas Articulares del Trapecio, Trapezoide, Grande y Ganchoso (condilo)</a:t>
            </a:r>
            <a:endParaRPr sz="130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 b="1">
                <a:solidFill>
                  <a:schemeClr val="dk1"/>
                </a:solidFill>
              </a:rPr>
              <a:t>Medios de Unión:</a:t>
            </a:r>
            <a:r>
              <a:rPr lang="es-419" sz="1700">
                <a:solidFill>
                  <a:schemeClr val="dk1"/>
                </a:solidFill>
              </a:rPr>
              <a:t>  </a:t>
            </a:r>
            <a:endParaRPr sz="1700">
              <a:solidFill>
                <a:schemeClr val="dk1"/>
              </a:solidFill>
            </a:endParaRPr>
          </a:p>
          <a:p>
            <a:pPr marL="914400" lvl="1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>
                <a:solidFill>
                  <a:schemeClr val="dk1"/>
                </a:solidFill>
              </a:rPr>
              <a:t>Ligamentos dorsales y palmares que unen ambas filas entre sí</a:t>
            </a:r>
            <a:endParaRPr sz="1700">
              <a:solidFill>
                <a:schemeClr val="dk1"/>
              </a:solidFill>
            </a:endParaRPr>
          </a:p>
          <a:p>
            <a:pPr marL="914400" lvl="1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-419" sz="1700">
                <a:solidFill>
                  <a:schemeClr val="dk1"/>
                </a:solidFill>
              </a:rPr>
              <a:t>Ligamento colateral medial: desde el piramidal hasta al gancho del h. ganchoso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5001325" y="1246150"/>
            <a:ext cx="2139000" cy="646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i="1"/>
              <a:t>Bicondílea</a:t>
            </a:r>
            <a:r>
              <a:rPr lang="es-419" sz="1000"/>
              <a:t>: Los cóndilos se encuentran en las superficies articulares opuestas</a:t>
            </a:r>
            <a:endParaRPr sz="1000"/>
          </a:p>
        </p:txBody>
      </p:sp>
      <p:pic>
        <p:nvPicPr>
          <p:cNvPr id="262" name="Google Shape;262;p40"/>
          <p:cNvPicPr preferRelativeResize="0"/>
          <p:nvPr/>
        </p:nvPicPr>
        <p:blipFill rotWithShape="1">
          <a:blip r:embed="rId3">
            <a:alphaModFix/>
          </a:blip>
          <a:srcRect l="66448" t="29291" r="16927" b="29149"/>
          <a:stretch/>
        </p:blipFill>
        <p:spPr>
          <a:xfrm>
            <a:off x="7399701" y="1134500"/>
            <a:ext cx="618877" cy="86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5001325" y="2057400"/>
            <a:ext cx="2082600" cy="646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i="1"/>
              <a:t>Doble condílea:</a:t>
            </a:r>
            <a:r>
              <a:rPr lang="es-419" sz="1000"/>
              <a:t> Los cóndilos se encuentran en la misma superficie articular</a:t>
            </a:r>
            <a:endParaRPr sz="1000"/>
          </a:p>
        </p:txBody>
      </p:sp>
      <p:pic>
        <p:nvPicPr>
          <p:cNvPr id="264" name="Google Shape;264;p40"/>
          <p:cNvPicPr preferRelativeResize="0"/>
          <p:nvPr/>
        </p:nvPicPr>
        <p:blipFill rotWithShape="1">
          <a:blip r:embed="rId4">
            <a:alphaModFix/>
          </a:blip>
          <a:srcRect l="47128" t="29691" r="34449" b="28752"/>
          <a:stretch/>
        </p:blipFill>
        <p:spPr>
          <a:xfrm>
            <a:off x="7399701" y="2057400"/>
            <a:ext cx="685800" cy="86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0"/>
          <p:cNvPicPr preferRelativeResize="0"/>
          <p:nvPr/>
        </p:nvPicPr>
        <p:blipFill rotWithShape="1">
          <a:blip r:embed="rId5">
            <a:alphaModFix/>
          </a:blip>
          <a:srcRect l="60458" t="30015" r="17156" b="17483"/>
          <a:stretch/>
        </p:blipFill>
        <p:spPr>
          <a:xfrm>
            <a:off x="5263375" y="2927206"/>
            <a:ext cx="1595502" cy="2103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/>
          <p:cNvPicPr preferRelativeResize="0"/>
          <p:nvPr/>
        </p:nvPicPr>
        <p:blipFill rotWithShape="1">
          <a:blip r:embed="rId6">
            <a:alphaModFix/>
          </a:blip>
          <a:srcRect l="20224" t="26520" r="15873" b="13613"/>
          <a:stretch/>
        </p:blipFill>
        <p:spPr>
          <a:xfrm>
            <a:off x="1922625" y="3282825"/>
            <a:ext cx="3430378" cy="180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A714309-DD1E-F2B0-CE3E-5E1FC83FD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9C73AE30-6C79-3713-B629-6123260E6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6FA8DC"/>
                </a:highlight>
              </a:rPr>
              <a:t>ARTICULACIÓN CARPOMETACARPIANA </a:t>
            </a:r>
            <a:endParaRPr b="1">
              <a:highlight>
                <a:srgbClr val="6FA8DC"/>
              </a:highlight>
            </a:endParaRPr>
          </a:p>
        </p:txBody>
      </p:sp>
      <p:sp>
        <p:nvSpPr>
          <p:cNvPr id="272" name="Google Shape;272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94100" cy="34164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chemeClr val="dk1"/>
                </a:solidFill>
              </a:rPr>
              <a:t>DEL PULGAR CON EL 1ER METACARPIANO 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Tipo y género:</a:t>
            </a:r>
            <a:r>
              <a:rPr lang="es-419" sz="1100">
                <a:solidFill>
                  <a:schemeClr val="dk1"/>
                </a:solidFill>
              </a:rPr>
              <a:t> diartrosis - en silla de montar o selar.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Superficies articulares: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cara distal del trapecio (convexa en dirección dorsopalmar y cóncava en dirección transversal)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superficie articular de la base del 1er metacarpiano (inversa a la cara articular del trapecio).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Medios de unión: 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cápsula articular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ligamento palmar, dorsal e interóseo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En dirección anteromedial está cubierta por los músculos de la eminencia tenar.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4310950" y="1186075"/>
            <a:ext cx="3945900" cy="3039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chemeClr val="dk1"/>
                </a:solidFill>
              </a:rPr>
              <a:t>DE LOS METACARPIANOS (2, 3, 4 y 5 ) CON EL CARPO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Tipo y género: </a:t>
            </a:r>
            <a:r>
              <a:rPr lang="es-419" sz="1100">
                <a:solidFill>
                  <a:schemeClr val="dk1"/>
                </a:solidFill>
              </a:rPr>
              <a:t>diartrosis - artrodias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Superficies articulares: 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II metacarpiano articula con el trapecio, el trapezoide y el grande.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III metacarpiano se articula con el hueso grande.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IV metacarpiano se articula con los huesos ganchoso y grande. 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El v metacarpiano se articula con el hueso ganchoso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419" sz="1100" b="1">
                <a:solidFill>
                  <a:schemeClr val="dk1"/>
                </a:solidFill>
              </a:rPr>
              <a:t>Medios de unión: </a:t>
            </a:r>
            <a:endParaRPr sz="1100"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-419" sz="1100">
                <a:solidFill>
                  <a:schemeClr val="dk1"/>
                </a:solidFill>
              </a:rPr>
              <a:t>cápsula articular reforzada por ligamentos palmares, dorsales e interóseos </a:t>
            </a:r>
            <a:endParaRPr sz="700">
              <a:solidFill>
                <a:schemeClr val="dk1"/>
              </a:solidFill>
            </a:endParaRPr>
          </a:p>
        </p:txBody>
      </p:sp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D430074F-0D91-A6BA-80AF-3157445AD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A57D2B2-3E63-3036-E088-2FFD23206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2886F63-42BE-A661-A5A1-54F38CD51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EA9999"/>
                </a:highlight>
              </a:rPr>
              <a:t>ARTICULACIÓN INTERMETACARPIANA </a:t>
            </a:r>
            <a:endParaRPr b="1">
              <a:highlight>
                <a:srgbClr val="EA9999"/>
              </a:highlight>
            </a:endParaRPr>
          </a:p>
        </p:txBody>
      </p:sp>
      <p:sp>
        <p:nvSpPr>
          <p:cNvPr id="279" name="Google Shape;27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Articulaciones entre los metacarpianos: 2º y 3º, 3º y 4º, 4º y 5º.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Son planas (artrodias) y sus cavidades sinoviales son prolongaciones de la articulación carpometacarpiana.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s-419" sz="1600">
                <a:solidFill>
                  <a:schemeClr val="dk1"/>
                </a:solidFill>
              </a:rPr>
              <a:t>Reforzadas por los ligamentos: interóseos, palmares (tres) y dorsales (tres). Estos últimos se extienden sobre la cara correspondiente de un metacarpiano al otro.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80" name="Google Shape;280;p42"/>
          <p:cNvPicPr preferRelativeResize="0"/>
          <p:nvPr/>
        </p:nvPicPr>
        <p:blipFill rotWithShape="1">
          <a:blip r:embed="rId3">
            <a:alphaModFix/>
          </a:blip>
          <a:srcRect l="35649" t="48750" r="34716" b="14485"/>
          <a:stretch/>
        </p:blipFill>
        <p:spPr>
          <a:xfrm>
            <a:off x="2515450" y="2895625"/>
            <a:ext cx="3052651" cy="212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D948189-A247-4582-4A3C-520BF607D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2D592571-CEB0-F1A5-5818-536E97E92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93C47D"/>
                </a:highlight>
              </a:rPr>
              <a:t>ARTICULACIÓN METACARPOFALÁNGICA</a:t>
            </a:r>
            <a:endParaRPr b="1">
              <a:highlight>
                <a:srgbClr val="93C47D"/>
              </a:highlight>
            </a:endParaRPr>
          </a:p>
        </p:txBody>
      </p:sp>
      <p:sp>
        <p:nvSpPr>
          <p:cNvPr id="286" name="Google Shape;286;p43"/>
          <p:cNvSpPr txBox="1">
            <a:spLocks noGrp="1"/>
          </p:cNvSpPr>
          <p:nvPr>
            <p:ph type="body" idx="1"/>
          </p:nvPr>
        </p:nvSpPr>
        <p:spPr>
          <a:xfrm>
            <a:off x="247224" y="1170789"/>
            <a:ext cx="3859800" cy="3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b="1" dirty="0">
                <a:solidFill>
                  <a:schemeClr val="dk1"/>
                </a:solidFill>
              </a:rPr>
              <a:t>Tipo de articulación:</a:t>
            </a:r>
            <a:r>
              <a:rPr lang="es-419" dirty="0">
                <a:solidFill>
                  <a:schemeClr val="dk1"/>
                </a:solidFill>
              </a:rPr>
              <a:t> diartrosis - condílea </a:t>
            </a:r>
            <a:endParaRPr dirty="0">
              <a:solidFill>
                <a:schemeClr val="dk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b="1" dirty="0">
                <a:solidFill>
                  <a:schemeClr val="dk1"/>
                </a:solidFill>
              </a:rPr>
              <a:t>Superficies articulares: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dirty="0">
                <a:solidFill>
                  <a:schemeClr val="dk1"/>
                </a:solidFill>
              </a:rPr>
              <a:t>Cabeza del metacarpiano </a:t>
            </a:r>
            <a:endParaRPr dirty="0">
              <a:solidFill>
                <a:schemeClr val="dk1"/>
              </a:solidFill>
            </a:endParaRP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dirty="0">
                <a:solidFill>
                  <a:schemeClr val="dk1"/>
                </a:solidFill>
              </a:rPr>
              <a:t>Cavidad glenoidea de la falange proximal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318" dirty="0">
                <a:solidFill>
                  <a:schemeClr val="dk1"/>
                </a:solidFill>
              </a:rPr>
              <a:t>A nivel del pulgar la superficie articular está aumentada por un fibrocartílago en el cual encontramos dos pequeños huesos sesamoideos (medial y lateral).</a:t>
            </a:r>
            <a:endParaRPr sz="1318" dirty="0">
              <a:solidFill>
                <a:schemeClr val="dk1"/>
              </a:solidFill>
            </a:endParaRPr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b="1" dirty="0">
                <a:solidFill>
                  <a:schemeClr val="dk1"/>
                </a:solidFill>
              </a:rPr>
              <a:t>Medios de unión</a:t>
            </a:r>
            <a:r>
              <a:rPr lang="es-419" dirty="0">
                <a:solidFill>
                  <a:schemeClr val="dk1"/>
                </a:solidFill>
              </a:rPr>
              <a:t>: </a:t>
            </a:r>
            <a:endParaRPr dirty="0">
              <a:solidFill>
                <a:schemeClr val="dk1"/>
              </a:solidFill>
            </a:endParaRP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dirty="0">
                <a:solidFill>
                  <a:schemeClr val="dk1"/>
                </a:solidFill>
              </a:rPr>
              <a:t>Cápsula articular reforzada por:</a:t>
            </a:r>
            <a:endParaRPr dirty="0">
              <a:solidFill>
                <a:schemeClr val="dk1"/>
              </a:solidFill>
            </a:endParaRPr>
          </a:p>
          <a:p>
            <a:pPr marL="1371600" lvl="2" indent="-2908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s-419" dirty="0">
                <a:solidFill>
                  <a:schemeClr val="dk1"/>
                </a:solidFill>
              </a:rPr>
              <a:t>Ligamentos laterales (media y lateral): tienen forma triangular y van desde el tubérculo metacarpiano (vértice) hasta la porción anterolateral de la falange proximal (base)</a:t>
            </a:r>
            <a:endParaRPr dirty="0">
              <a:solidFill>
                <a:schemeClr val="dk1"/>
              </a:solidFill>
            </a:endParaRPr>
          </a:p>
          <a:p>
            <a:pPr marL="1371600" lvl="2" indent="-2908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s-419" dirty="0" err="1">
                <a:solidFill>
                  <a:schemeClr val="dk1"/>
                </a:solidFill>
              </a:rPr>
              <a:t>Lig</a:t>
            </a:r>
            <a:r>
              <a:rPr lang="es-419" dirty="0">
                <a:solidFill>
                  <a:schemeClr val="dk1"/>
                </a:solidFill>
              </a:rPr>
              <a:t>. transverso profundo (une las caras palmares de las art metacarpofalángicas del 2º al 5º dedo). </a:t>
            </a:r>
            <a:endParaRPr dirty="0">
              <a:solidFill>
                <a:schemeClr val="dk1"/>
              </a:solidFill>
            </a:endParaRPr>
          </a:p>
          <a:p>
            <a:pPr marL="914400" lvl="1" indent="-290830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endParaRPr dirty="0"/>
          </a:p>
        </p:txBody>
      </p:sp>
      <p:pic>
        <p:nvPicPr>
          <p:cNvPr id="287" name="Google Shape;287;p43"/>
          <p:cNvPicPr preferRelativeResize="0"/>
          <p:nvPr/>
        </p:nvPicPr>
        <p:blipFill rotWithShape="1">
          <a:blip r:embed="rId3">
            <a:alphaModFix/>
          </a:blip>
          <a:srcRect l="35032" t="37077" r="33553" b="23769"/>
          <a:stretch/>
        </p:blipFill>
        <p:spPr>
          <a:xfrm>
            <a:off x="5861200" y="918525"/>
            <a:ext cx="3219549" cy="22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7024" y="2804349"/>
            <a:ext cx="2669051" cy="21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0200" y="3354763"/>
            <a:ext cx="1920950" cy="10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C1ED4DF-A8DB-FC3E-2BB6-E65D14788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82892DD-950F-4173-E345-F08FF2C80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6BED5A26-662B-B348-520E-2C74AF4C6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8E7CC3"/>
                </a:highlight>
              </a:rPr>
              <a:t>ARTICULACIÓN INTERFALÁNGICA </a:t>
            </a:r>
            <a:endParaRPr b="1">
              <a:highlight>
                <a:srgbClr val="8E7CC3"/>
              </a:highlight>
            </a:endParaRPr>
          </a:p>
        </p:txBody>
      </p:sp>
      <p:sp>
        <p:nvSpPr>
          <p:cNvPr id="295" name="Google Shape;295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766600" cy="21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Tipo de articulaciones: diartosis - troclear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Superficies articulares: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Polea del extremo distal de las falanges proximal y media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Garganta para la polea ubicada en las extremidades proximales de las falanges media y distal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419">
                <a:solidFill>
                  <a:schemeClr val="dk1"/>
                </a:solidFill>
              </a:rPr>
              <a:t>Medios de unión: Su cápsula articular está reforzada por ligamentos laterales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6" name="Google Shape;296;p44"/>
          <p:cNvPicPr preferRelativeResize="0"/>
          <p:nvPr/>
        </p:nvPicPr>
        <p:blipFill rotWithShape="1">
          <a:blip r:embed="rId3">
            <a:alphaModFix/>
          </a:blip>
          <a:srcRect l="35189" t="52330" r="37645" b="27171"/>
          <a:stretch/>
        </p:blipFill>
        <p:spPr>
          <a:xfrm>
            <a:off x="2850000" y="3260276"/>
            <a:ext cx="3604649" cy="152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0C893184-8CFA-DEE7-F1DA-494BF9A5F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84" y="4591879"/>
            <a:ext cx="1680116" cy="551621"/>
          </a:xfrm>
          <a:prstGeom prst="rect">
            <a:avLst/>
          </a:prstGeom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E8EAD21C-1FFE-3593-F2C0-5A348D29F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4CD2BDD2-C3F2-9858-909E-48A4EC000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Microsoft Office PowerPoint</Application>
  <PresentationFormat>Presentación en pantalla (16:9)</PresentationFormat>
  <Paragraphs>222</Paragraphs>
  <Slides>33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6" baseType="lpstr">
      <vt:lpstr>Arial</vt:lpstr>
      <vt:lpstr>Bungee</vt:lpstr>
      <vt:lpstr>Simple Light</vt:lpstr>
      <vt:lpstr>Presentación de PowerPoint</vt:lpstr>
      <vt:lpstr>ARTROLOGÍA DE MIEMBRO SUPERIOR </vt:lpstr>
      <vt:lpstr>CINTURA ESCAPULAR </vt:lpstr>
      <vt:lpstr>ARTICULACIÓN ACROMIOCLAVICULAR </vt:lpstr>
      <vt:lpstr>DESCRIPCIÓN</vt:lpstr>
      <vt:lpstr>Presentación de PowerPoint</vt:lpstr>
      <vt:lpstr>ARTICULACIÓN ESCAPULOHUMERAL </vt:lpstr>
      <vt:lpstr>DESCRIPCIÓN </vt:lpstr>
      <vt:lpstr>Presentación de PowerPoint</vt:lpstr>
      <vt:lpstr>ARTICULACIÓN DEL CODO</vt:lpstr>
      <vt:lpstr>ARTICULACIÓN HUMERO-RADIAL</vt:lpstr>
      <vt:lpstr>ARTICULACIÓN HÚMERO-CUBITAL</vt:lpstr>
      <vt:lpstr>DESCRIPCIÓN</vt:lpstr>
      <vt:lpstr>DESCRIPCIÓN</vt:lpstr>
      <vt:lpstr>Presentación de PowerPoint</vt:lpstr>
      <vt:lpstr>Presentación de PowerPoint</vt:lpstr>
      <vt:lpstr>ARTICULACIÓN RADIOCUBITAL SUPERIOR</vt:lpstr>
      <vt:lpstr>DESCRIPCIÓN</vt:lpstr>
      <vt:lpstr>ARTICULACIÓN RADIOCUBITAL MEDIA</vt:lpstr>
      <vt:lpstr>ARTICULACIÓN RADIOCUBITAL DISTAL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ARTICULACIÓN RADIO CARPIANA</vt:lpstr>
      <vt:lpstr>Presentación de PowerPoint</vt:lpstr>
      <vt:lpstr>Presentación de PowerPoint</vt:lpstr>
      <vt:lpstr>ARTICULACIÓN MEDIOCARPIANA </vt:lpstr>
      <vt:lpstr>ARTICULACIÓN CARPOMETACARPIANA </vt:lpstr>
      <vt:lpstr>ARTICULACIÓN INTERMETACARPIANA </vt:lpstr>
      <vt:lpstr>ARTICULACIÓN METACARPOFALÁNGICA</vt:lpstr>
      <vt:lpstr>ARTICULACIÓN INTERFALÁNGICA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Joyce Marinho</cp:lastModifiedBy>
  <cp:revision>1</cp:revision>
  <dcterms:modified xsi:type="dcterms:W3CDTF">2022-05-18T17:48:16Z</dcterms:modified>
</cp:coreProperties>
</file>
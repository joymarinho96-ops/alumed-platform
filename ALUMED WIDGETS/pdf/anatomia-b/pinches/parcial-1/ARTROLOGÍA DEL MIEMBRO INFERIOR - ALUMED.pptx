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9"/>
  </p:notesMasterIdLst>
  <p:sldIdLst>
    <p:sldId id="28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1c6023077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1c6023077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1c60230773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1c60230773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1c6023077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1c60230773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c60230773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c60230773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11 y 28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1c60230773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1c60230773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1c60230773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1c60230773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1c60230773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1c60230773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1c60230773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1c60230773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1c60230773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1c60230773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1c60230773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1c60230773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1c60230773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1c60230773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1c60230773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1c60230773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1c60230773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1c60230773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1c60230773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1c60230773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1c60230773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1c60230773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1c60230773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1c60230773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1c60230773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1c60230773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1c60230773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1c60230773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1c60230773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1c60230773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1c60230773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1c60230773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1c60230773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1c60230773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1c60230773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1c60230773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1c60230773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1c60230773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1c60230773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1c60230773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1c60230773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11c60230773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9E77-57A7-C35F-530E-6BC1FD028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0553BED-0A94-C490-EABC-F429B491D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003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13544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>
                <a:latin typeface="Bungee" pitchFamily="2" charset="0"/>
              </a:rPr>
              <a:t>ARTROLOGÍA DEL MIEMBRO INFERIOR</a:t>
            </a:r>
            <a:endParaRPr b="1" dirty="0">
              <a:latin typeface="Bungee" pitchFamily="2" charset="0"/>
            </a:endParaRPr>
          </a:p>
        </p:txBody>
      </p:sp>
      <p:pic>
        <p:nvPicPr>
          <p:cNvPr id="3" name="Imagen 2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DF8CB367-89F3-9E66-E128-8DF56BAF9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774DC93D-387F-E0C6-6EA6-81C82E13D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RECORDAR…. ARTICULACIONES</a:t>
            </a:r>
            <a:endParaRPr b="1"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>
                <a:solidFill>
                  <a:schemeClr val="dk1"/>
                </a:solidFill>
              </a:rPr>
              <a:t>TIPO Y GÉNERO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>
                <a:solidFill>
                  <a:schemeClr val="dk1"/>
                </a:solidFill>
              </a:rPr>
              <a:t>SUPERFICIES ARTICULARES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>
                <a:solidFill>
                  <a:schemeClr val="dk1"/>
                </a:solidFill>
              </a:rPr>
              <a:t>MEDIOS DE UNIÓN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>
                <a:solidFill>
                  <a:schemeClr val="dk1"/>
                </a:solidFill>
              </a:rPr>
              <a:t>MOVIMIENTO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" name="Imagen 3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E8A09AD0-E3C8-D353-3FAA-76F9DA19F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74A00684-F701-0D1A-6875-4269F70EB3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highlight>
                  <a:srgbClr val="B4A7D6"/>
                </a:highlight>
              </a:rPr>
              <a:t>SÍNFISIS PUBIANA</a:t>
            </a:r>
            <a:endParaRPr>
              <a:highlight>
                <a:srgbClr val="B4A7D6"/>
              </a:highlight>
            </a:endParaRPr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989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Es una sínfisis  , fibrocartilaginosa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dk1"/>
                </a:solidFill>
              </a:rPr>
              <a:t>SUPERFICIES ARTICULARES</a:t>
            </a:r>
            <a:r>
              <a:rPr lang="es-419">
                <a:solidFill>
                  <a:schemeClr val="dk1"/>
                </a:solidFill>
              </a:rPr>
              <a:t>: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>
                <a:solidFill>
                  <a:schemeClr val="dk1"/>
                </a:solidFill>
              </a:rPr>
              <a:t>ambos pubis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>
                <a:solidFill>
                  <a:schemeClr val="dk1"/>
                </a:solidFill>
              </a:rPr>
              <a:t>disco interpubiano fibrocartilaginoso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dk1"/>
                </a:solidFill>
              </a:rPr>
              <a:t>MEDIOS DE UNIÓN: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>
                <a:solidFill>
                  <a:schemeClr val="dk1"/>
                </a:solidFill>
              </a:rPr>
              <a:t> ligamentos anteriores, posteriores, inferiores y superiores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7625" y="619675"/>
            <a:ext cx="3491024" cy="199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5400" y="3008075"/>
            <a:ext cx="2452250" cy="185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FD3DFB65-BEA8-FA57-B4D0-71802C56E7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7B8D9C7A-A06A-D1CE-4871-934AA7BBC0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highlight>
                  <a:srgbClr val="FFF2CC"/>
                </a:highlight>
              </a:rPr>
              <a:t>ARTICULACIÓN COXOFEMORAL </a:t>
            </a:r>
            <a:endParaRPr>
              <a:highlight>
                <a:srgbClr val="FFF2CC"/>
              </a:highlight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32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dk1"/>
                </a:solidFill>
              </a:rPr>
              <a:t>Tipo y género</a:t>
            </a:r>
            <a:r>
              <a:rPr lang="es-419">
                <a:solidFill>
                  <a:schemeClr val="dk1"/>
                </a:solidFill>
              </a:rPr>
              <a:t>: diartrosis - enartrosis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dk1"/>
                </a:solidFill>
              </a:rPr>
              <a:t>SUPERFICIES ARTICULARES</a:t>
            </a:r>
            <a:r>
              <a:rPr lang="es-419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marL="457200" lvl="0" indent="-317182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>
                <a:solidFill>
                  <a:schemeClr val="dk1"/>
                </a:solidFill>
              </a:rPr>
              <a:t>cabeza del fémur-fosita del lig redondo </a:t>
            </a:r>
            <a:endParaRPr>
              <a:solidFill>
                <a:schemeClr val="dk1"/>
              </a:solidFill>
            </a:endParaRPr>
          </a:p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>
                <a:solidFill>
                  <a:schemeClr val="dk1"/>
                </a:solidFill>
              </a:rPr>
              <a:t>acetábulo del hueso coxal </a:t>
            </a:r>
            <a:endParaRPr>
              <a:solidFill>
                <a:schemeClr val="dk1"/>
              </a:solidFill>
            </a:endParaRPr>
          </a:p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>
                <a:solidFill>
                  <a:schemeClr val="dk1"/>
                </a:solidFill>
              </a:rPr>
              <a:t>labrum acetabular o rodete cotiloideo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dk1"/>
                </a:solidFill>
              </a:rPr>
              <a:t>MEDIOS DE UNIÓN:</a:t>
            </a:r>
            <a:r>
              <a:rPr lang="es-419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457200" lvl="0" indent="-317182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>
                <a:solidFill>
                  <a:schemeClr val="dk1"/>
                </a:solidFill>
              </a:rPr>
              <a:t>cápsula articular </a:t>
            </a:r>
            <a:endParaRPr>
              <a:solidFill>
                <a:schemeClr val="dk1"/>
              </a:solidFill>
            </a:endParaRPr>
          </a:p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>
                <a:solidFill>
                  <a:schemeClr val="dk1"/>
                </a:solidFill>
              </a:rPr>
              <a:t>ligamentos: </a:t>
            </a:r>
            <a:endParaRPr>
              <a:solidFill>
                <a:schemeClr val="dk1"/>
              </a:solidFill>
            </a:endParaRPr>
          </a:p>
          <a:p>
            <a:pPr marL="914400" lvl="1" indent="-29749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>
                <a:solidFill>
                  <a:schemeClr val="dk1"/>
                </a:solidFill>
              </a:rPr>
              <a:t>ileofemoral </a:t>
            </a:r>
            <a:endParaRPr>
              <a:solidFill>
                <a:schemeClr val="dk1"/>
              </a:solidFill>
            </a:endParaRPr>
          </a:p>
          <a:p>
            <a:pPr marL="914400" lvl="1" indent="-29749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>
                <a:solidFill>
                  <a:schemeClr val="dk1"/>
                </a:solidFill>
              </a:rPr>
              <a:t>pubofemoral </a:t>
            </a:r>
            <a:endParaRPr>
              <a:solidFill>
                <a:schemeClr val="dk1"/>
              </a:solidFill>
            </a:endParaRPr>
          </a:p>
          <a:p>
            <a:pPr marL="914400" lvl="1" indent="-29749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>
                <a:solidFill>
                  <a:schemeClr val="dk1"/>
                </a:solidFill>
              </a:rPr>
              <a:t>isquifemoral </a:t>
            </a:r>
            <a:endParaRPr>
              <a:solidFill>
                <a:schemeClr val="dk1"/>
              </a:solidFill>
            </a:endParaRPr>
          </a:p>
          <a:p>
            <a:pPr marL="914400" lvl="1" indent="-29749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>
                <a:solidFill>
                  <a:schemeClr val="dk1"/>
                </a:solidFill>
              </a:rPr>
              <a:t>lig redondo de la cabeza del fémur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6025" y="1097163"/>
            <a:ext cx="2751075" cy="352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ABE3E0B6-3A9B-3B71-75C0-A219360B45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1BCDF180-2A3C-D4F1-9295-CE989DD5B0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Ligamentos iliofemoral y pubofemoral  </a:t>
            </a: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193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Inserciones del </a:t>
            </a:r>
            <a:r>
              <a:rPr lang="es-419" u="sng">
                <a:solidFill>
                  <a:schemeClr val="dk1"/>
                </a:solidFill>
              </a:rPr>
              <a:t>lig iliofemoral </a:t>
            </a:r>
            <a:r>
              <a:rPr lang="es-419">
                <a:solidFill>
                  <a:schemeClr val="dk1"/>
                </a:solidFill>
              </a:rPr>
              <a:t>: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>
                <a:solidFill>
                  <a:schemeClr val="dk1"/>
                </a:solidFill>
              </a:rPr>
              <a:t>desde EIAI , desciende en abanico: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porción transversa termina en el trocanter mayor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porción descendente termina en el trocanter menor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Inserciones del </a:t>
            </a:r>
            <a:r>
              <a:rPr lang="es-419" u="sng">
                <a:solidFill>
                  <a:schemeClr val="dk1"/>
                </a:solidFill>
              </a:rPr>
              <a:t>lig pubofemoral:</a:t>
            </a:r>
            <a:r>
              <a:rPr lang="es-419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Tiene sus inserciones en el pubis , se dirige hacia hacia la cápsula y al trocánter menor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200">
                <a:solidFill>
                  <a:schemeClr val="dk1"/>
                </a:solidFill>
              </a:rPr>
              <a:t>El lig pubofemoral y los 2 haces del lig iliofemoral forman la </a:t>
            </a:r>
            <a:r>
              <a:rPr lang="es-419" sz="1200" b="1">
                <a:solidFill>
                  <a:schemeClr val="dk1"/>
                </a:solidFill>
              </a:rPr>
              <a:t>N de Welcker</a:t>
            </a:r>
            <a:endParaRPr sz="1200" b="1">
              <a:solidFill>
                <a:schemeClr val="dk1"/>
              </a:solidFill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 rotWithShape="1">
          <a:blip r:embed="rId3">
            <a:alphaModFix/>
          </a:blip>
          <a:srcRect l="8627" t="17502" r="15361" b="19651"/>
          <a:stretch/>
        </p:blipFill>
        <p:spPr>
          <a:xfrm>
            <a:off x="6472425" y="445025"/>
            <a:ext cx="2308675" cy="184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 rotWithShape="1">
          <a:blip r:embed="rId4">
            <a:alphaModFix/>
          </a:blip>
          <a:srcRect l="33520" t="19770" r="34396" b="12244"/>
          <a:stretch/>
        </p:blipFill>
        <p:spPr>
          <a:xfrm>
            <a:off x="5696150" y="2106500"/>
            <a:ext cx="2498534" cy="2976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33C1DED3-704A-6037-AD45-5E6970D89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3BB3B47B-6492-6FA4-181D-7A15E024E3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s-419"/>
              <a:t>Ligamento isquiofemoral y ligamento redondo</a:t>
            </a: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15000" cy="35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>
                <a:solidFill>
                  <a:schemeClr val="dk1"/>
                </a:solidFill>
              </a:rPr>
              <a:t>Ligamento isquiofemoral:</a:t>
            </a:r>
            <a:endParaRPr u="sng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>
                <a:solidFill>
                  <a:schemeClr val="dk1"/>
                </a:solidFill>
              </a:rPr>
              <a:t>posterior e inferior se dirige desde el isquion hacia la fosa trocanterica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u="sng">
                <a:solidFill>
                  <a:schemeClr val="dk1"/>
                </a:solidFill>
              </a:rPr>
              <a:t>Ligamento redondo:</a:t>
            </a:r>
            <a:endParaRPr u="sng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>
                <a:solidFill>
                  <a:schemeClr val="dk1"/>
                </a:solidFill>
              </a:rPr>
              <a:t> desde la fosita de la cabeza del fémur hacia el ligamento transverso del acetábulo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 rotWithShape="1">
          <a:blip r:embed="rId3">
            <a:alphaModFix/>
          </a:blip>
          <a:srcRect l="63193" t="31956" r="17194" b="35237"/>
          <a:stretch/>
        </p:blipFill>
        <p:spPr>
          <a:xfrm>
            <a:off x="6217975" y="1017725"/>
            <a:ext cx="2129601" cy="200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9100" y="2988300"/>
            <a:ext cx="1871771" cy="200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EEBE5A50-B0E3-0DD5-E39D-580B2B8D53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8F49DA6C-9013-133F-3246-C139FCB0D5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highlight>
                  <a:srgbClr val="A2C4C9"/>
                </a:highlight>
              </a:rPr>
              <a:t>ARTICULACIÓN DE LA RODILLA </a:t>
            </a:r>
            <a:endParaRPr>
              <a:highlight>
                <a:srgbClr val="A2C4C9"/>
              </a:highlight>
            </a:endParaRPr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844000" cy="36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dk1"/>
                </a:solidFill>
              </a:rPr>
              <a:t>TIPO Y GÉNERO</a:t>
            </a:r>
            <a:r>
              <a:rPr lang="es-419">
                <a:solidFill>
                  <a:schemeClr val="dk1"/>
                </a:solidFill>
              </a:rPr>
              <a:t>: diartrosis (sinovial)</a:t>
            </a:r>
            <a:endParaRPr>
              <a:solidFill>
                <a:schemeClr val="dk1"/>
              </a:solidFill>
            </a:endParaRPr>
          </a:p>
          <a:p>
            <a:pPr marL="457200" lvl="0" indent="-300037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>
                <a:solidFill>
                  <a:schemeClr val="dk1"/>
                </a:solidFill>
              </a:rPr>
              <a:t>Por la función: troclear</a:t>
            </a:r>
            <a:endParaRPr>
              <a:solidFill>
                <a:schemeClr val="dk1"/>
              </a:solidFill>
            </a:endParaRPr>
          </a:p>
          <a:p>
            <a:pPr marL="457200" lvl="0" indent="-30003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>
                <a:solidFill>
                  <a:schemeClr val="dk1"/>
                </a:solidFill>
              </a:rPr>
              <a:t>Por la anatomía: bicondílea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dk1"/>
                </a:solidFill>
              </a:rPr>
              <a:t>SUPERFICIES ARTICULARES: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i="1">
                <a:solidFill>
                  <a:schemeClr val="dk1"/>
                </a:solidFill>
              </a:rPr>
              <a:t>Fémur:</a:t>
            </a:r>
            <a:endParaRPr i="1">
              <a:solidFill>
                <a:schemeClr val="dk1"/>
              </a:solidFill>
            </a:endParaRPr>
          </a:p>
          <a:p>
            <a:pPr marL="457200" lvl="0" indent="-300037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>
                <a:solidFill>
                  <a:schemeClr val="dk1"/>
                </a:solidFill>
              </a:rPr>
              <a:t> cóndilos femorales </a:t>
            </a:r>
            <a:endParaRPr>
              <a:solidFill>
                <a:schemeClr val="dk1"/>
              </a:solidFill>
            </a:endParaRPr>
          </a:p>
          <a:p>
            <a:pPr marL="457200" lvl="0" indent="-30003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>
                <a:solidFill>
                  <a:schemeClr val="dk1"/>
                </a:solidFill>
              </a:rPr>
              <a:t>tróclea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i="1">
                <a:solidFill>
                  <a:schemeClr val="dk1"/>
                </a:solidFill>
              </a:rPr>
              <a:t>Rótula </a:t>
            </a:r>
            <a:endParaRPr i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i="1">
                <a:solidFill>
                  <a:schemeClr val="dk1"/>
                </a:solidFill>
              </a:rPr>
              <a:t>Tibia:</a:t>
            </a:r>
            <a:br>
              <a:rPr lang="es-419">
                <a:solidFill>
                  <a:schemeClr val="dk1"/>
                </a:solidFill>
              </a:rPr>
            </a:br>
            <a:r>
              <a:rPr lang="es-419">
                <a:solidFill>
                  <a:schemeClr val="dk1"/>
                </a:solidFill>
              </a:rPr>
              <a:t>-  carillas articulares de sus cóndilos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b="1">
                <a:solidFill>
                  <a:schemeClr val="dk1"/>
                </a:solidFill>
              </a:rPr>
              <a:t>Meniscos</a:t>
            </a:r>
            <a:r>
              <a:rPr lang="es-419">
                <a:solidFill>
                  <a:schemeClr val="dk1"/>
                </a:solidFill>
              </a:rPr>
              <a:t>: dos fibrocartílagos que aumentan la superficie articular (Medial C- Lateral O) unidos hacia adelante por el </a:t>
            </a:r>
            <a:r>
              <a:rPr lang="es-419" i="1">
                <a:solidFill>
                  <a:schemeClr val="dk1"/>
                </a:solidFill>
              </a:rPr>
              <a:t>ligamento transverso de la rodilla</a:t>
            </a:r>
            <a:endParaRPr i="1">
              <a:solidFill>
                <a:schemeClr val="dk1"/>
              </a:solidFill>
            </a:endParaRPr>
          </a:p>
        </p:txBody>
      </p:sp>
      <p:pic>
        <p:nvPicPr>
          <p:cNvPr id="98" name="Google Shape;98;p19"/>
          <p:cNvPicPr preferRelativeResize="0"/>
          <p:nvPr/>
        </p:nvPicPr>
        <p:blipFill rotWithShape="1">
          <a:blip r:embed="rId3">
            <a:alphaModFix/>
          </a:blip>
          <a:srcRect l="34136" t="20335" r="47227" b="10613"/>
          <a:stretch/>
        </p:blipFill>
        <p:spPr>
          <a:xfrm>
            <a:off x="7259575" y="1780475"/>
            <a:ext cx="1572724" cy="3276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" name="Google Shape;99;p19"/>
          <p:cNvCxnSpPr/>
          <p:nvPr/>
        </p:nvCxnSpPr>
        <p:spPr>
          <a:xfrm rot="10800000" flipH="1">
            <a:off x="2581675" y="3655500"/>
            <a:ext cx="4677900" cy="90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00" name="Google Shape;100;p19"/>
          <p:cNvPicPr preferRelativeResize="0"/>
          <p:nvPr/>
        </p:nvPicPr>
        <p:blipFill rotWithShape="1">
          <a:blip r:embed="rId4">
            <a:alphaModFix/>
          </a:blip>
          <a:srcRect l="34226" t="32650" r="13011" b="18798"/>
          <a:stretch/>
        </p:blipFill>
        <p:spPr>
          <a:xfrm>
            <a:off x="5889675" y="187575"/>
            <a:ext cx="2942624" cy="152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4900" y="1432250"/>
            <a:ext cx="2422300" cy="193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n 7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EE726577-0AE6-34BB-4AC8-24E071D863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n 8" descr="Logotipo&#10;&#10;Descripción generada automáticamente">
            <a:extLst>
              <a:ext uri="{FF2B5EF4-FFF2-40B4-BE49-F238E27FC236}">
                <a16:creationId xmlns:a16="http://schemas.microsoft.com/office/drawing/2014/main" id="{8F640C1A-DB43-E6EB-E884-BD29D38046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0599" y="50036"/>
            <a:ext cx="1245891" cy="7008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Meniscos de la rodilla</a:t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9875" y="1210450"/>
            <a:ext cx="4286250" cy="326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14DE7FCA-E21D-9062-035A-70EDCEEBA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49E99EDF-DBB0-F267-4E52-90712AD745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body" idx="1"/>
          </p:nvPr>
        </p:nvSpPr>
        <p:spPr>
          <a:xfrm>
            <a:off x="311700" y="439625"/>
            <a:ext cx="8520600" cy="41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dk1"/>
                </a:solidFill>
              </a:rPr>
              <a:t>MEDIOS DE UNIÓN: 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>
                <a:solidFill>
                  <a:schemeClr val="dk1"/>
                </a:solidFill>
              </a:rPr>
              <a:t>Cápsula articular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>
                <a:solidFill>
                  <a:schemeClr val="dk1"/>
                </a:solidFill>
              </a:rPr>
              <a:t>Ligamentos: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anteriores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posteriores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colaterales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cruzados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 rotWithShape="1">
          <a:blip r:embed="rId3">
            <a:alphaModFix/>
          </a:blip>
          <a:srcRect l="43330" t="21665" r="29547" b="44800"/>
          <a:stretch/>
        </p:blipFill>
        <p:spPr>
          <a:xfrm>
            <a:off x="3427775" y="1094926"/>
            <a:ext cx="4771626" cy="331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398D879B-578F-C00F-870B-882C16103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72B13FF3-1530-5D5E-3AA7-C33465B65A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Ligamentos anteriores </a:t>
            </a:r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001300" cy="38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dk1"/>
                </a:solidFill>
              </a:rPr>
              <a:t> LIGAMENTO ROTULIANO O TENDÓN DEL CUÁDRICEPS FEMORAL</a:t>
            </a:r>
            <a:r>
              <a:rPr lang="es-419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Conformado por: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>
                <a:solidFill>
                  <a:schemeClr val="dk1"/>
                </a:solidFill>
              </a:rPr>
              <a:t>aleta rotuliana lateral, expansión del m. vasto lateral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>
                <a:solidFill>
                  <a:schemeClr val="dk1"/>
                </a:solidFill>
              </a:rPr>
              <a:t>aleta rotuliana medial, expansión del vasto medial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>
                <a:solidFill>
                  <a:schemeClr val="dk1"/>
                </a:solidFill>
              </a:rPr>
              <a:t>el tracto iliotibial recubre la artic.desde lateral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>
                <a:solidFill>
                  <a:schemeClr val="dk1"/>
                </a:solidFill>
              </a:rPr>
              <a:t>expansiones del ms sartorio recubre la arti. desde medial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3300" y="272875"/>
            <a:ext cx="2828925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2"/>
          <p:cNvPicPr preferRelativeResize="0"/>
          <p:nvPr/>
        </p:nvPicPr>
        <p:blipFill rotWithShape="1">
          <a:blip r:embed="rId4">
            <a:alphaModFix/>
          </a:blip>
          <a:srcRect l="33725" t="24583" r="36175" b="9331"/>
          <a:stretch/>
        </p:blipFill>
        <p:spPr>
          <a:xfrm>
            <a:off x="6885750" y="2571750"/>
            <a:ext cx="2067912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"/>
          <p:cNvSpPr/>
          <p:nvPr/>
        </p:nvSpPr>
        <p:spPr>
          <a:xfrm>
            <a:off x="8710525" y="4774725"/>
            <a:ext cx="433500" cy="34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Imagen 6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11D3BD64-7C75-E15C-B39A-C4FB99F13B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n 7" descr="Logotipo&#10;&#10;Descripción generada automáticamente">
            <a:extLst>
              <a:ext uri="{FF2B5EF4-FFF2-40B4-BE49-F238E27FC236}">
                <a16:creationId xmlns:a16="http://schemas.microsoft.com/office/drawing/2014/main" id="{AC6A9F61-8547-3525-5211-02AA96EEC4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Ligamentos posteriores</a:t>
            </a:r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720900" cy="38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 i="1">
                <a:solidFill>
                  <a:schemeClr val="dk1"/>
                </a:solidFill>
              </a:rPr>
              <a:t>casquete medial</a:t>
            </a:r>
            <a:r>
              <a:rPr lang="es-419">
                <a:solidFill>
                  <a:schemeClr val="dk1"/>
                </a:solidFill>
              </a:rPr>
              <a:t>, fibras verticales que van desde del fémur a la tibia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 i="1">
                <a:solidFill>
                  <a:schemeClr val="dk1"/>
                </a:solidFill>
              </a:rPr>
              <a:t>lig poplíteo oblicuo</a:t>
            </a:r>
            <a:r>
              <a:rPr lang="es-419">
                <a:solidFill>
                  <a:schemeClr val="dk1"/>
                </a:solidFill>
              </a:rPr>
              <a:t>, corresponde a fibras reflejas del músculo semimenbranoso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 i="1">
                <a:solidFill>
                  <a:schemeClr val="dk1"/>
                </a:solidFill>
              </a:rPr>
              <a:t>lig popliteo arcuato</a:t>
            </a:r>
            <a:r>
              <a:rPr lang="es-419">
                <a:solidFill>
                  <a:schemeClr val="dk1"/>
                </a:solidFill>
              </a:rPr>
              <a:t>, forma una arcada arriba del ms popliteo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 i="1">
                <a:solidFill>
                  <a:schemeClr val="dk1"/>
                </a:solidFill>
              </a:rPr>
              <a:t>casquete lateral</a:t>
            </a:r>
            <a:r>
              <a:rPr lang="es-419">
                <a:solidFill>
                  <a:schemeClr val="dk1"/>
                </a:solidFill>
              </a:rPr>
              <a:t>, desde tibia y peroné hasta el ligamento popliteo arcuato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8900" y="887825"/>
            <a:ext cx="3614229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B5F25712-F02C-CB4C-D882-45F94CFE2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A2B20AA9-067D-8979-3F39-3B226C23F5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Ligamentos colaterales </a:t>
            </a:r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7200" cy="3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dk1"/>
                </a:solidFill>
              </a:rPr>
              <a:t>Ligamento colateral tibial o lateral interno</a:t>
            </a:r>
            <a:r>
              <a:rPr lang="es-419">
                <a:solidFill>
                  <a:schemeClr val="dk1"/>
                </a:solidFill>
              </a:rPr>
              <a:t>: desde el cóndilo medial del fémur hasta la tibia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b="1">
                <a:solidFill>
                  <a:schemeClr val="dk1"/>
                </a:solidFill>
              </a:rPr>
              <a:t>Ligamento colateral peroneo o lateral externo:</a:t>
            </a:r>
            <a:r>
              <a:rPr lang="es-419">
                <a:solidFill>
                  <a:schemeClr val="dk1"/>
                </a:solidFill>
              </a:rPr>
              <a:t> desde el cóndilo lateral hacia la cabeza del peroné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3600" y="682775"/>
            <a:ext cx="3174475" cy="3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02A4FAF8-9CBA-ACBD-D18D-1C90D86C2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E383967D-5670-9B3E-8933-29DAA25204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s-419" sz="2800"/>
              <a:t>Ligamentos cruzados </a:t>
            </a:r>
            <a:endParaRPr sz="2800"/>
          </a:p>
        </p:txBody>
      </p:sp>
      <p:sp>
        <p:nvSpPr>
          <p:cNvPr id="142" name="Google Shape;142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525700" cy="347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 i="1">
                <a:solidFill>
                  <a:schemeClr val="dk1"/>
                </a:solidFill>
              </a:rPr>
              <a:t>Cruzado anterior:</a:t>
            </a:r>
            <a:r>
              <a:rPr lang="es-419">
                <a:solidFill>
                  <a:schemeClr val="dk1"/>
                </a:solidFill>
              </a:rPr>
              <a:t> desde el área intercondilea anterior hasta la cara medial del cóndilo lateral del fémur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 i="1">
                <a:solidFill>
                  <a:schemeClr val="dk1"/>
                </a:solidFill>
              </a:rPr>
              <a:t>Cruzado posterior</a:t>
            </a:r>
            <a:r>
              <a:rPr lang="es-419">
                <a:solidFill>
                  <a:schemeClr val="dk1"/>
                </a:solidFill>
              </a:rPr>
              <a:t>: desde el área intercondilea posterior hacia la cara lateral del cóndilo medial del fémur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4800" y="615625"/>
            <a:ext cx="2857500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9D52CEB8-0FAB-911F-9AFE-E389C608A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AEB0E2A2-DE25-27FC-458E-383C91159B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6"/>
          <p:cNvPicPr preferRelativeResize="0"/>
          <p:nvPr/>
        </p:nvPicPr>
        <p:blipFill rotWithShape="1">
          <a:blip r:embed="rId3">
            <a:alphaModFix/>
          </a:blip>
          <a:srcRect l="34311" t="21147" r="30194" b="25931"/>
          <a:stretch/>
        </p:blipFill>
        <p:spPr>
          <a:xfrm>
            <a:off x="2066774" y="500150"/>
            <a:ext cx="4607276" cy="38622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26"/>
          <p:cNvCxnSpPr/>
          <p:nvPr/>
        </p:nvCxnSpPr>
        <p:spPr>
          <a:xfrm rot="10800000" flipH="1">
            <a:off x="6553075" y="1195825"/>
            <a:ext cx="998100" cy="50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0" name="Google Shape;150;p26"/>
          <p:cNvCxnSpPr/>
          <p:nvPr/>
        </p:nvCxnSpPr>
        <p:spPr>
          <a:xfrm flipH="1">
            <a:off x="1300025" y="2332763"/>
            <a:ext cx="877500" cy="382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1" name="Google Shape;151;p26"/>
          <p:cNvCxnSpPr/>
          <p:nvPr/>
        </p:nvCxnSpPr>
        <p:spPr>
          <a:xfrm rot="10800000" flipH="1">
            <a:off x="6119550" y="661300"/>
            <a:ext cx="1199700" cy="1008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2" name="Google Shape;152;p26"/>
          <p:cNvCxnSpPr/>
          <p:nvPr/>
        </p:nvCxnSpPr>
        <p:spPr>
          <a:xfrm flipH="1">
            <a:off x="2177525" y="3464100"/>
            <a:ext cx="2208000" cy="1048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3" name="Google Shape;153;p26"/>
          <p:cNvCxnSpPr/>
          <p:nvPr/>
        </p:nvCxnSpPr>
        <p:spPr>
          <a:xfrm rot="10800000">
            <a:off x="1461875" y="1714500"/>
            <a:ext cx="1199700" cy="11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4" name="Google Shape;154;p26"/>
          <p:cNvCxnSpPr/>
          <p:nvPr/>
        </p:nvCxnSpPr>
        <p:spPr>
          <a:xfrm>
            <a:off x="5484425" y="1709925"/>
            <a:ext cx="987900" cy="289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5" name="Google Shape;155;p26"/>
          <p:cNvCxnSpPr/>
          <p:nvPr/>
        </p:nvCxnSpPr>
        <p:spPr>
          <a:xfrm>
            <a:off x="6553075" y="3343125"/>
            <a:ext cx="735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6" name="Google Shape;156;p26"/>
          <p:cNvCxnSpPr/>
          <p:nvPr/>
        </p:nvCxnSpPr>
        <p:spPr>
          <a:xfrm rot="10800000" flipH="1">
            <a:off x="3034600" y="288525"/>
            <a:ext cx="685500" cy="42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" name="Google Shape;157;p26"/>
          <p:cNvCxnSpPr/>
          <p:nvPr/>
        </p:nvCxnSpPr>
        <p:spPr>
          <a:xfrm flipH="1">
            <a:off x="5403900" y="570700"/>
            <a:ext cx="806400" cy="30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8" name="Google Shape;158;p26"/>
          <p:cNvCxnSpPr/>
          <p:nvPr/>
        </p:nvCxnSpPr>
        <p:spPr>
          <a:xfrm rot="10800000">
            <a:off x="1391375" y="681525"/>
            <a:ext cx="887100" cy="41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9" name="Google Shape;159;p26"/>
          <p:cNvSpPr txBox="1"/>
          <p:nvPr/>
        </p:nvSpPr>
        <p:spPr>
          <a:xfrm>
            <a:off x="2611175" y="-34575"/>
            <a:ext cx="2167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1"/>
              <a:t>Tendón del m semimembranoso</a:t>
            </a:r>
            <a:endParaRPr sz="900" b="1"/>
          </a:p>
        </p:txBody>
      </p:sp>
      <p:sp>
        <p:nvSpPr>
          <p:cNvPr id="160" name="Google Shape;160;p26"/>
          <p:cNvSpPr txBox="1"/>
          <p:nvPr/>
        </p:nvSpPr>
        <p:spPr>
          <a:xfrm>
            <a:off x="3720100" y="500150"/>
            <a:ext cx="1843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1"/>
              <a:t>Tendón del m biceps femoral</a:t>
            </a:r>
            <a:endParaRPr sz="900" b="1"/>
          </a:p>
        </p:txBody>
      </p:sp>
      <p:sp>
        <p:nvSpPr>
          <p:cNvPr id="161" name="Google Shape;161;p26"/>
          <p:cNvSpPr txBox="1"/>
          <p:nvPr/>
        </p:nvSpPr>
        <p:spPr>
          <a:xfrm>
            <a:off x="6797375" y="338625"/>
            <a:ext cx="1519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1"/>
              <a:t>Tendón del m popliteo </a:t>
            </a:r>
            <a:endParaRPr sz="900" b="1"/>
          </a:p>
        </p:txBody>
      </p:sp>
      <p:sp>
        <p:nvSpPr>
          <p:cNvPr id="162" name="Google Shape;162;p26"/>
          <p:cNvSpPr txBox="1"/>
          <p:nvPr/>
        </p:nvSpPr>
        <p:spPr>
          <a:xfrm>
            <a:off x="7365175" y="927700"/>
            <a:ext cx="1397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1"/>
              <a:t>Lig colateral peroneo</a:t>
            </a:r>
            <a:endParaRPr sz="900" b="1"/>
          </a:p>
        </p:txBody>
      </p:sp>
      <p:sp>
        <p:nvSpPr>
          <p:cNvPr id="163" name="Google Shape;163;p26"/>
          <p:cNvSpPr txBox="1"/>
          <p:nvPr/>
        </p:nvSpPr>
        <p:spPr>
          <a:xfrm>
            <a:off x="7243325" y="3181575"/>
            <a:ext cx="1125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1"/>
              <a:t>Tracto iliotibial</a:t>
            </a:r>
            <a:endParaRPr sz="900" b="1"/>
          </a:p>
        </p:txBody>
      </p:sp>
      <p:sp>
        <p:nvSpPr>
          <p:cNvPr id="164" name="Google Shape;164;p26"/>
          <p:cNvSpPr txBox="1"/>
          <p:nvPr/>
        </p:nvSpPr>
        <p:spPr>
          <a:xfrm>
            <a:off x="5964125" y="4567550"/>
            <a:ext cx="1048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1"/>
              <a:t>Menisco lateral </a:t>
            </a:r>
            <a:endParaRPr sz="900" b="1"/>
          </a:p>
        </p:txBody>
      </p:sp>
      <p:sp>
        <p:nvSpPr>
          <p:cNvPr id="165" name="Google Shape;165;p26"/>
          <p:cNvSpPr txBox="1"/>
          <p:nvPr/>
        </p:nvSpPr>
        <p:spPr>
          <a:xfrm>
            <a:off x="426950" y="1499050"/>
            <a:ext cx="1125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1"/>
              <a:t>Menisco medial</a:t>
            </a:r>
            <a:endParaRPr sz="900" b="1"/>
          </a:p>
        </p:txBody>
      </p:sp>
      <p:sp>
        <p:nvSpPr>
          <p:cNvPr id="166" name="Google Shape;166;p26"/>
          <p:cNvSpPr txBox="1"/>
          <p:nvPr/>
        </p:nvSpPr>
        <p:spPr>
          <a:xfrm>
            <a:off x="1427825" y="4512600"/>
            <a:ext cx="1519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1"/>
              <a:t>Ligamento transverso </a:t>
            </a:r>
            <a:endParaRPr sz="900" b="1"/>
          </a:p>
        </p:txBody>
      </p:sp>
      <p:sp>
        <p:nvSpPr>
          <p:cNvPr id="167" name="Google Shape;167;p26"/>
          <p:cNvSpPr txBox="1"/>
          <p:nvPr/>
        </p:nvSpPr>
        <p:spPr>
          <a:xfrm>
            <a:off x="189250" y="2728150"/>
            <a:ext cx="1702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1"/>
              <a:t>Ligamento colateral tibial </a:t>
            </a:r>
            <a:endParaRPr sz="900" b="1"/>
          </a:p>
        </p:txBody>
      </p:sp>
      <p:sp>
        <p:nvSpPr>
          <p:cNvPr id="168" name="Google Shape;168;p26"/>
          <p:cNvSpPr txBox="1"/>
          <p:nvPr/>
        </p:nvSpPr>
        <p:spPr>
          <a:xfrm>
            <a:off x="51450" y="346275"/>
            <a:ext cx="170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 b="1"/>
              <a:t>Tendón del m semitendinoso</a:t>
            </a:r>
            <a:endParaRPr sz="800" b="1"/>
          </a:p>
        </p:txBody>
      </p:sp>
      <p:cxnSp>
        <p:nvCxnSpPr>
          <p:cNvPr id="169" name="Google Shape;169;p26"/>
          <p:cNvCxnSpPr/>
          <p:nvPr/>
        </p:nvCxnSpPr>
        <p:spPr>
          <a:xfrm rot="10800000">
            <a:off x="4320575" y="1163125"/>
            <a:ext cx="180000" cy="67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0" name="Google Shape;170;p26"/>
          <p:cNvCxnSpPr/>
          <p:nvPr/>
        </p:nvCxnSpPr>
        <p:spPr>
          <a:xfrm flipH="1">
            <a:off x="1585975" y="1934525"/>
            <a:ext cx="2254500" cy="149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1" name="Google Shape;171;p26"/>
          <p:cNvCxnSpPr/>
          <p:nvPr/>
        </p:nvCxnSpPr>
        <p:spPr>
          <a:xfrm flipH="1">
            <a:off x="5083400" y="4137650"/>
            <a:ext cx="25800" cy="47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2" name="Google Shape;172;p26"/>
          <p:cNvSpPr txBox="1"/>
          <p:nvPr/>
        </p:nvSpPr>
        <p:spPr>
          <a:xfrm>
            <a:off x="4859875" y="5924525"/>
            <a:ext cx="1458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1"/>
              <a:t>Lig cruzao posterior</a:t>
            </a:r>
            <a:endParaRPr sz="900" b="1"/>
          </a:p>
        </p:txBody>
      </p:sp>
      <p:sp>
        <p:nvSpPr>
          <p:cNvPr id="173" name="Google Shape;173;p26"/>
          <p:cNvSpPr txBox="1"/>
          <p:nvPr/>
        </p:nvSpPr>
        <p:spPr>
          <a:xfrm>
            <a:off x="426950" y="3376975"/>
            <a:ext cx="1458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1"/>
              <a:t>Lig cruzado posterior</a:t>
            </a:r>
            <a:endParaRPr sz="900" b="1"/>
          </a:p>
        </p:txBody>
      </p:sp>
      <p:sp>
        <p:nvSpPr>
          <p:cNvPr id="174" name="Google Shape;174;p26"/>
          <p:cNvSpPr txBox="1"/>
          <p:nvPr/>
        </p:nvSpPr>
        <p:spPr>
          <a:xfrm>
            <a:off x="3598475" y="928325"/>
            <a:ext cx="1458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1"/>
              <a:t>Lig cruzado anterior</a:t>
            </a:r>
            <a:endParaRPr sz="900" b="1"/>
          </a:p>
        </p:txBody>
      </p:sp>
      <p:sp>
        <p:nvSpPr>
          <p:cNvPr id="175" name="Google Shape;175;p26"/>
          <p:cNvSpPr txBox="1"/>
          <p:nvPr/>
        </p:nvSpPr>
        <p:spPr>
          <a:xfrm>
            <a:off x="4367300" y="4512600"/>
            <a:ext cx="1458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1"/>
              <a:t>Ligamento rotuliano </a:t>
            </a:r>
            <a:endParaRPr sz="900" b="1"/>
          </a:p>
        </p:txBody>
      </p:sp>
      <p:pic>
        <p:nvPicPr>
          <p:cNvPr id="30" name="Imagen 29" descr="Logotipo&#10;&#10;Descripción generada automáticamente">
            <a:extLst>
              <a:ext uri="{FF2B5EF4-FFF2-40B4-BE49-F238E27FC236}">
                <a16:creationId xmlns:a16="http://schemas.microsoft.com/office/drawing/2014/main" id="{53890A42-3822-BA3C-0080-EE1B1A264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highlight>
                  <a:srgbClr val="FFD966"/>
                </a:highlight>
              </a:rPr>
              <a:t>ARTICULACIÓN TIBIOPERONEA </a:t>
            </a:r>
            <a:endParaRPr>
              <a:highlight>
                <a:srgbClr val="FFD966"/>
              </a:highlight>
            </a:endParaRPr>
          </a:p>
        </p:txBody>
      </p:sp>
      <p:sp>
        <p:nvSpPr>
          <p:cNvPr id="181" name="Google Shape;181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566500" cy="36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b="1">
                <a:solidFill>
                  <a:schemeClr val="dk1"/>
                </a:solidFill>
              </a:rPr>
              <a:t>PROXIMAL:</a:t>
            </a:r>
            <a:r>
              <a:rPr lang="es-419">
                <a:solidFill>
                  <a:schemeClr val="dk1"/>
                </a:solidFill>
              </a:rPr>
              <a:t> SINOVIAL PLANA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b="1">
                <a:solidFill>
                  <a:schemeClr val="dk1"/>
                </a:solidFill>
              </a:rPr>
              <a:t>MEMBRANA INTERÓSEA</a:t>
            </a:r>
            <a:r>
              <a:rPr lang="es-419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b="1">
                <a:solidFill>
                  <a:schemeClr val="dk1"/>
                </a:solidFill>
              </a:rPr>
              <a:t>DISTAL</a:t>
            </a:r>
            <a:r>
              <a:rPr lang="es-419">
                <a:solidFill>
                  <a:schemeClr val="dk1"/>
                </a:solidFill>
              </a:rPr>
              <a:t>: SINDESMOSIS, SIRVE DE ESTABILIZADORA DEL COMPLEJO TIBIA PERONÉ ASTRÁGALO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000" b="1">
                <a:solidFill>
                  <a:schemeClr val="dk1"/>
                </a:solidFill>
              </a:rPr>
              <a:t>sindesmosis:</a:t>
            </a:r>
            <a:r>
              <a:rPr lang="es-419" sz="1000">
                <a:solidFill>
                  <a:schemeClr val="dk1"/>
                </a:solidFill>
              </a:rPr>
              <a:t> articulacion fibrosa, cuyos huesos se recubren por tejido fibroso 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82" name="Google Shape;182;p27"/>
          <p:cNvPicPr preferRelativeResize="0"/>
          <p:nvPr/>
        </p:nvPicPr>
        <p:blipFill rotWithShape="1">
          <a:blip r:embed="rId3">
            <a:alphaModFix/>
          </a:blip>
          <a:srcRect l="52006" t="23047" r="41041" b="37084"/>
          <a:stretch/>
        </p:blipFill>
        <p:spPr>
          <a:xfrm>
            <a:off x="6580050" y="269700"/>
            <a:ext cx="1436550" cy="46316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7"/>
          <p:cNvSpPr/>
          <p:nvPr/>
        </p:nvSpPr>
        <p:spPr>
          <a:xfrm>
            <a:off x="6472725" y="3877575"/>
            <a:ext cx="396300" cy="39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7"/>
          <p:cNvSpPr/>
          <p:nvPr/>
        </p:nvSpPr>
        <p:spPr>
          <a:xfrm>
            <a:off x="6456200" y="4273875"/>
            <a:ext cx="255900" cy="41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Imagen 6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9AA73E8E-2F84-4AB0-5F3C-5E49C976D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n 7" descr="Logotipo&#10;&#10;Descripción generada automáticamente">
            <a:extLst>
              <a:ext uri="{FF2B5EF4-FFF2-40B4-BE49-F238E27FC236}">
                <a16:creationId xmlns:a16="http://schemas.microsoft.com/office/drawing/2014/main" id="{B1E96E3A-13AA-FE21-73D3-3092D673A1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Articulación peroneo-tibial superior </a:t>
            </a:r>
            <a:endParaRPr/>
          </a:p>
        </p:txBody>
      </p:sp>
      <p:sp>
        <p:nvSpPr>
          <p:cNvPr id="190" name="Google Shape;190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b="1">
                <a:solidFill>
                  <a:schemeClr val="dk1"/>
                </a:solidFill>
              </a:rPr>
              <a:t>Tipo y género</a:t>
            </a:r>
            <a:r>
              <a:rPr lang="es-419">
                <a:solidFill>
                  <a:schemeClr val="dk1"/>
                </a:solidFill>
              </a:rPr>
              <a:t>: diartrosis - artrodia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b="1">
                <a:solidFill>
                  <a:schemeClr val="dk1"/>
                </a:solidFill>
              </a:rPr>
              <a:t>Superficies articulares: 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faceta articular de la tibia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faceta articular del peroné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b="1">
                <a:solidFill>
                  <a:schemeClr val="dk1"/>
                </a:solidFill>
              </a:rPr>
              <a:t>Medios de unión: 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cápsula fibrosa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lig peroneostibiales anterior y posterior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b="1">
                <a:solidFill>
                  <a:schemeClr val="dk1"/>
                </a:solidFill>
              </a:rPr>
              <a:t>Movimiento: </a:t>
            </a:r>
            <a:r>
              <a:rPr lang="es-419">
                <a:solidFill>
                  <a:schemeClr val="dk1"/>
                </a:solidFill>
              </a:rPr>
              <a:t>deslizamiento de poca extensión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1" name="Google Shape;191;p28"/>
          <p:cNvPicPr preferRelativeResize="0"/>
          <p:nvPr/>
        </p:nvPicPr>
        <p:blipFill rotWithShape="1">
          <a:blip r:embed="rId3">
            <a:alphaModFix/>
          </a:blip>
          <a:srcRect l="57603" t="22391" r="29755" b="54631"/>
          <a:stretch/>
        </p:blipFill>
        <p:spPr>
          <a:xfrm>
            <a:off x="6183750" y="772701"/>
            <a:ext cx="2468550" cy="2522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923BDE8D-B809-E305-6BF0-42590770F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587C5209-C493-0531-C993-CA46FFBF02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Articulación tibioperonea inferior </a:t>
            </a:r>
            <a:endParaRPr/>
          </a:p>
        </p:txBody>
      </p:sp>
      <p:sp>
        <p:nvSpPr>
          <p:cNvPr id="197" name="Google Shape;197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b="1">
                <a:solidFill>
                  <a:schemeClr val="dk1"/>
                </a:solidFill>
              </a:rPr>
              <a:t>Tipo y género</a:t>
            </a:r>
            <a:r>
              <a:rPr lang="es-419">
                <a:solidFill>
                  <a:schemeClr val="dk1"/>
                </a:solidFill>
              </a:rPr>
              <a:t>: anfiartrosis 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b="1">
                <a:solidFill>
                  <a:schemeClr val="dk1"/>
                </a:solidFill>
              </a:rPr>
              <a:t>Superficies articulares: 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superficie de la tibia (cara ext)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fsuperficie del peroné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b="1">
                <a:solidFill>
                  <a:schemeClr val="dk1"/>
                </a:solidFill>
              </a:rPr>
              <a:t>Medios de unión: 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Lig interóseo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Ligamento anterior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Ligamento posterior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b="1">
                <a:solidFill>
                  <a:schemeClr val="dk1"/>
                </a:solidFill>
              </a:rPr>
              <a:t>Movimiento: </a:t>
            </a:r>
            <a:r>
              <a:rPr lang="es-419">
                <a:solidFill>
                  <a:schemeClr val="dk1"/>
                </a:solidFill>
              </a:rPr>
              <a:t>mov transversales </a:t>
            </a:r>
            <a:endParaRPr/>
          </a:p>
        </p:txBody>
      </p:sp>
      <p:pic>
        <p:nvPicPr>
          <p:cNvPr id="198" name="Google Shape;198;p29"/>
          <p:cNvPicPr preferRelativeResize="0"/>
          <p:nvPr/>
        </p:nvPicPr>
        <p:blipFill rotWithShape="1">
          <a:blip r:embed="rId3">
            <a:alphaModFix/>
          </a:blip>
          <a:srcRect l="58146" t="63997" r="30206" b="19140"/>
          <a:stretch/>
        </p:blipFill>
        <p:spPr>
          <a:xfrm>
            <a:off x="5605850" y="1543878"/>
            <a:ext cx="2525649" cy="205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DBFDD777-42B0-423A-64B9-AE17E715F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732DFC36-3C97-6BE9-1D39-E85CCDEAB9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s-419">
                <a:highlight>
                  <a:srgbClr val="C27BA0"/>
                </a:highlight>
              </a:rPr>
              <a:t>ARTICULACIÓN TIBIO TARSIANA </a:t>
            </a:r>
            <a:endParaRPr>
              <a:highlight>
                <a:srgbClr val="C27BA0"/>
              </a:highlight>
            </a:endParaRPr>
          </a:p>
        </p:txBody>
      </p:sp>
      <p:sp>
        <p:nvSpPr>
          <p:cNvPr id="204" name="Google Shape;204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b="1">
                <a:solidFill>
                  <a:schemeClr val="dk1"/>
                </a:solidFill>
              </a:rPr>
              <a:t>Tipo y género</a:t>
            </a:r>
            <a:r>
              <a:rPr lang="es-419">
                <a:solidFill>
                  <a:schemeClr val="dk1"/>
                </a:solidFill>
              </a:rPr>
              <a:t>: diartrosis - troclear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b="1">
                <a:solidFill>
                  <a:schemeClr val="dk1"/>
                </a:solidFill>
              </a:rPr>
              <a:t>Superficies articulares: 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mortaja tibioperonea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3 facetas articulares del astrágalo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b="1">
                <a:solidFill>
                  <a:schemeClr val="dk1"/>
                </a:solidFill>
              </a:rPr>
              <a:t>Medios de unión: 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cápsula fibrosa reforzada por lig anterior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Ligamentos laterales:</a:t>
            </a:r>
            <a:endParaRPr>
              <a:solidFill>
                <a:schemeClr val="dk1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s-419">
                <a:solidFill>
                  <a:schemeClr val="dk1"/>
                </a:solidFill>
              </a:rPr>
              <a:t>lig lateral externo (3 haces): desde el maleolo ext hacia el astrágalo</a:t>
            </a:r>
            <a:endParaRPr>
              <a:solidFill>
                <a:schemeClr val="dk1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s-419">
                <a:solidFill>
                  <a:schemeClr val="dk1"/>
                </a:solidFill>
              </a:rPr>
              <a:t>Ligamento lateral interno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b="1">
                <a:solidFill>
                  <a:schemeClr val="dk1"/>
                </a:solidFill>
              </a:rPr>
              <a:t>Movimiento: </a:t>
            </a:r>
            <a:r>
              <a:rPr lang="es-419">
                <a:solidFill>
                  <a:schemeClr val="dk1"/>
                </a:solidFill>
              </a:rPr>
              <a:t>flexión y extensión </a:t>
            </a:r>
            <a:endParaRPr/>
          </a:p>
        </p:txBody>
      </p:sp>
      <p:pic>
        <p:nvPicPr>
          <p:cNvPr id="205" name="Google Shape;20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3975" y="1102628"/>
            <a:ext cx="3318175" cy="201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8638" y="3118863"/>
            <a:ext cx="1533525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CA185BEA-8F18-9864-92BD-8997B94D3D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1F862CBF-F4A3-DCE1-8046-37B8FA313E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Ligamento lateral externo </a:t>
            </a:r>
            <a:endParaRPr/>
          </a:p>
        </p:txBody>
      </p:sp>
      <p:sp>
        <p:nvSpPr>
          <p:cNvPr id="212" name="Google Shape;212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691400" cy="34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anterior o peroneoastragalino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medio o peroneocalcaneo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posterior o peroneocalcaneo ( se inserta en el tubérculo del canal del flexor largo propio del dedo grueso)</a:t>
            </a:r>
            <a:endParaRPr/>
          </a:p>
        </p:txBody>
      </p:sp>
      <p:pic>
        <p:nvPicPr>
          <p:cNvPr id="213" name="Google Shape;21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4875" y="73625"/>
            <a:ext cx="1636700" cy="266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1"/>
          <p:cNvPicPr preferRelativeResize="0"/>
          <p:nvPr/>
        </p:nvPicPr>
        <p:blipFill rotWithShape="1">
          <a:blip r:embed="rId4">
            <a:alphaModFix/>
          </a:blip>
          <a:srcRect r="43454"/>
          <a:stretch/>
        </p:blipFill>
        <p:spPr>
          <a:xfrm>
            <a:off x="4058525" y="2340575"/>
            <a:ext cx="3215025" cy="231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1"/>
          <p:cNvPicPr preferRelativeResize="0"/>
          <p:nvPr/>
        </p:nvPicPr>
        <p:blipFill rotWithShape="1">
          <a:blip r:embed="rId5">
            <a:alphaModFix/>
          </a:blip>
          <a:srcRect l="43758" t="30052" r="24100" b="32596"/>
          <a:stretch/>
        </p:blipFill>
        <p:spPr>
          <a:xfrm>
            <a:off x="363275" y="2840824"/>
            <a:ext cx="2939150" cy="192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1"/>
          <p:cNvSpPr/>
          <p:nvPr/>
        </p:nvSpPr>
        <p:spPr>
          <a:xfrm>
            <a:off x="370775" y="3697775"/>
            <a:ext cx="117600" cy="1536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31"/>
          <p:cNvSpPr/>
          <p:nvPr/>
        </p:nvSpPr>
        <p:spPr>
          <a:xfrm>
            <a:off x="370775" y="3978000"/>
            <a:ext cx="117600" cy="993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Imagen 8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F04BDC56-8A0B-CD39-3955-31158313EF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Ligamento lateral interno </a:t>
            </a:r>
            <a:endParaRPr/>
          </a:p>
        </p:txBody>
      </p:sp>
      <p:sp>
        <p:nvSpPr>
          <p:cNvPr id="223" name="Google Shape;223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832800" cy="37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 i="1">
                <a:solidFill>
                  <a:schemeClr val="dk1"/>
                </a:solidFill>
              </a:rPr>
              <a:t>Capa superficial o ligamento deltoideo</a:t>
            </a:r>
            <a:r>
              <a:rPr lang="es-419">
                <a:solidFill>
                  <a:schemeClr val="dk1"/>
                </a:solidFill>
              </a:rPr>
              <a:t>: desde el maléolo int (en abanico) hasta la cara sup del h escafoides y cuello del astrágalo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tibioastragalino anterior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tibionavicular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tibiocalcaneo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tibioastagalino posterior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 i="1">
                <a:solidFill>
                  <a:schemeClr val="dk1"/>
                </a:solidFill>
              </a:rPr>
              <a:t>Capa profunda</a:t>
            </a:r>
            <a:r>
              <a:rPr lang="es-419">
                <a:solidFill>
                  <a:schemeClr val="dk1"/>
                </a:solidFill>
              </a:rPr>
              <a:t>: desde el maléolo int hasta la faceta articular interna del astragalo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24" name="Google Shape;224;p32"/>
          <p:cNvPicPr preferRelativeResize="0"/>
          <p:nvPr/>
        </p:nvPicPr>
        <p:blipFill rotWithShape="1">
          <a:blip r:embed="rId3">
            <a:alphaModFix/>
          </a:blip>
          <a:srcRect l="56900"/>
          <a:stretch/>
        </p:blipFill>
        <p:spPr>
          <a:xfrm>
            <a:off x="6314200" y="282750"/>
            <a:ext cx="2518099" cy="237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2"/>
          <p:cNvPicPr preferRelativeResize="0"/>
          <p:nvPr/>
        </p:nvPicPr>
        <p:blipFill rotWithShape="1">
          <a:blip r:embed="rId4">
            <a:alphaModFix/>
          </a:blip>
          <a:srcRect l="35128" t="30285" r="46992" b="43216"/>
          <a:stretch/>
        </p:blipFill>
        <p:spPr>
          <a:xfrm>
            <a:off x="4177575" y="2325450"/>
            <a:ext cx="2782248" cy="231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E198B89E-0784-471B-BFEE-69CEA1F14B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highlight>
                  <a:srgbClr val="F6B26B"/>
                </a:highlight>
              </a:rPr>
              <a:t>ARTICULACIONES DEL PIE </a:t>
            </a:r>
            <a:endParaRPr>
              <a:highlight>
                <a:srgbClr val="F6B26B"/>
              </a:highlight>
            </a:endParaRPr>
          </a:p>
        </p:txBody>
      </p:sp>
      <p:pic>
        <p:nvPicPr>
          <p:cNvPr id="231" name="Google Shape;231;p33"/>
          <p:cNvPicPr preferRelativeResize="0"/>
          <p:nvPr/>
        </p:nvPicPr>
        <p:blipFill rotWithShape="1">
          <a:blip r:embed="rId3">
            <a:alphaModFix/>
          </a:blip>
          <a:srcRect l="55164" t="38316" r="29117" b="27219"/>
          <a:stretch/>
        </p:blipFill>
        <p:spPr>
          <a:xfrm>
            <a:off x="5460025" y="1144452"/>
            <a:ext cx="2892648" cy="356574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3"/>
          <p:cNvSpPr txBox="1"/>
          <p:nvPr/>
        </p:nvSpPr>
        <p:spPr>
          <a:xfrm>
            <a:off x="443075" y="1302300"/>
            <a:ext cx="31638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 b="1"/>
              <a:t>Art astrágalo calcaneas</a:t>
            </a: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Art de los huesos de la 2° fila del tarso e/ sí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escafocuboidea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cúneoescafoidea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intercuneales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cúneocuboidea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 b="1"/>
              <a:t>Art medio tarsiana o de Chopart</a:t>
            </a:r>
            <a:endParaRPr b="1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astrágalo escafoidea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calcaneocuboidea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 b="1"/>
              <a:t>Art tarsometatarsiana o de Lisfranc </a:t>
            </a: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Art metatarso falángicas e interfalángicas </a:t>
            </a:r>
            <a:endParaRPr/>
          </a:p>
        </p:txBody>
      </p:sp>
      <p:pic>
        <p:nvPicPr>
          <p:cNvPr id="5" name="Imagen 4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34CDC627-771A-027C-9D0D-AA5D68404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ED975351-260F-DBB4-D5EC-AE7D9E0A9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Articulación astrágalo calcánea </a:t>
            </a:r>
            <a:endParaRPr/>
          </a:p>
        </p:txBody>
      </p:sp>
      <p:sp>
        <p:nvSpPr>
          <p:cNvPr id="238" name="Google Shape;238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605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dk1"/>
                </a:solidFill>
              </a:rPr>
              <a:t>ANTERIOR:</a:t>
            </a:r>
            <a:r>
              <a:rPr lang="es-419">
                <a:solidFill>
                  <a:schemeClr val="dk1"/>
                </a:solidFill>
              </a:rPr>
              <a:t> diartrosis - artrodia (lig dorsal, plantar e interóseo)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dk1"/>
                </a:solidFill>
              </a:rPr>
              <a:t>POSTERIOR: 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>
                <a:solidFill>
                  <a:schemeClr val="dk1"/>
                </a:solidFill>
              </a:rPr>
              <a:t>Tipo y género: diartrosis - trocoide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>
                <a:solidFill>
                  <a:schemeClr val="dk1"/>
                </a:solidFill>
              </a:rPr>
              <a:t>Superficies articulares: faceta postero ext de la cara inf del astrágalo - superficie calcanea (arriba y adelante)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>
                <a:solidFill>
                  <a:schemeClr val="dk1"/>
                </a:solidFill>
              </a:rPr>
              <a:t>Medios de unión: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lig astrágalo-calcaneo externo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lig astrágalo-calcáneo posterior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lig astrágalo-calcáneo interóseo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39" name="Google Shape;23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6225" y="121525"/>
            <a:ext cx="3358126" cy="251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4575" y="2684050"/>
            <a:ext cx="2018122" cy="219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44F76153-74D0-5B14-2800-8869959BAB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03B48D2C-92A1-599F-53B6-33A4DA160E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s-419"/>
              <a:t>Articulación medio tarsiana o de Chopart </a:t>
            </a:r>
            <a:endParaRPr/>
          </a:p>
        </p:txBody>
      </p:sp>
      <p:sp>
        <p:nvSpPr>
          <p:cNvPr id="246" name="Google Shape;246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55200" cy="35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UcParenR"/>
            </a:pPr>
            <a:r>
              <a:rPr lang="es-419">
                <a:solidFill>
                  <a:schemeClr val="dk1"/>
                </a:solidFill>
              </a:rPr>
              <a:t>Astrágalo escafoidea (enartrosis)</a:t>
            </a:r>
            <a:endParaRPr>
              <a:solidFill>
                <a:schemeClr val="dk1"/>
              </a:solidFill>
            </a:endParaRPr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arenR"/>
            </a:pPr>
            <a:r>
              <a:rPr lang="es-419">
                <a:solidFill>
                  <a:schemeClr val="dk1"/>
                </a:solidFill>
              </a:rPr>
              <a:t>Superficies articulares:</a:t>
            </a:r>
            <a:endParaRPr>
              <a:solidFill>
                <a:schemeClr val="dk1"/>
              </a:solidFill>
            </a:endParaRPr>
          </a:p>
          <a:p>
            <a:pPr marL="1371600" lvl="2" indent="-31083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romanLcParenR"/>
            </a:pPr>
            <a:r>
              <a:rPr lang="es-419">
                <a:solidFill>
                  <a:schemeClr val="dk1"/>
                </a:solidFill>
              </a:rPr>
              <a:t>cabeza del astrágalo</a:t>
            </a:r>
            <a:endParaRPr>
              <a:solidFill>
                <a:schemeClr val="dk1"/>
              </a:solidFill>
            </a:endParaRPr>
          </a:p>
          <a:p>
            <a:pPr marL="1371600" lvl="2" indent="-31083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romanLcParenR"/>
            </a:pPr>
            <a:r>
              <a:rPr lang="es-419">
                <a:solidFill>
                  <a:schemeClr val="dk1"/>
                </a:solidFill>
              </a:rPr>
              <a:t>cara post del escafoides</a:t>
            </a:r>
            <a:endParaRPr>
              <a:solidFill>
                <a:schemeClr val="dk1"/>
              </a:solidFill>
            </a:endParaRPr>
          </a:p>
          <a:p>
            <a:pPr marL="1371600" lvl="2" indent="-31083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romanLcParenR"/>
            </a:pPr>
            <a:r>
              <a:rPr lang="es-419">
                <a:solidFill>
                  <a:schemeClr val="dk1"/>
                </a:solidFill>
              </a:rPr>
              <a:t>cara sup del calcáneo</a:t>
            </a:r>
            <a:endParaRPr>
              <a:solidFill>
                <a:schemeClr val="dk1"/>
              </a:solidFill>
            </a:endParaRPr>
          </a:p>
          <a:p>
            <a:pPr marL="1371600" lvl="2" indent="-31083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romanLcParenR"/>
            </a:pPr>
            <a:r>
              <a:rPr lang="es-419">
                <a:solidFill>
                  <a:schemeClr val="dk1"/>
                </a:solidFill>
              </a:rPr>
              <a:t>lig calcaneo escafoideo inferior </a:t>
            </a:r>
            <a:endParaRPr>
              <a:solidFill>
                <a:schemeClr val="dk1"/>
              </a:solidFill>
            </a:endParaRPr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arenR"/>
            </a:pPr>
            <a:r>
              <a:rPr lang="es-419">
                <a:solidFill>
                  <a:schemeClr val="dk1"/>
                </a:solidFill>
              </a:rPr>
              <a:t>Medios de unión:</a:t>
            </a:r>
            <a:endParaRPr>
              <a:solidFill>
                <a:schemeClr val="dk1"/>
              </a:solidFill>
            </a:endParaRPr>
          </a:p>
          <a:p>
            <a:pPr marL="1371600" lvl="2" indent="-31083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romanLcParenR"/>
            </a:pPr>
            <a:r>
              <a:rPr lang="es-419">
                <a:solidFill>
                  <a:schemeClr val="dk1"/>
                </a:solidFill>
              </a:rPr>
              <a:t>cápsula articular</a:t>
            </a:r>
            <a:endParaRPr>
              <a:solidFill>
                <a:schemeClr val="dk1"/>
              </a:solidFill>
            </a:endParaRPr>
          </a:p>
          <a:p>
            <a:pPr marL="1371600" lvl="2" indent="-31083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romanLcParenR"/>
            </a:pPr>
            <a:r>
              <a:rPr lang="es-419">
                <a:solidFill>
                  <a:schemeClr val="dk1"/>
                </a:solidFill>
              </a:rPr>
              <a:t>Ligamentos: </a:t>
            </a:r>
            <a:r>
              <a:rPr lang="es-419" i="1">
                <a:solidFill>
                  <a:schemeClr val="dk1"/>
                </a:solidFill>
              </a:rPr>
              <a:t>calcáneo escafoideo inf, calcáneo astrágalo escafoideo superior, astrágalo cálcaneo interoseo y calcáneo escafoideo externo </a:t>
            </a:r>
            <a:r>
              <a:rPr lang="es-419">
                <a:solidFill>
                  <a:schemeClr val="dk1"/>
                </a:solidFill>
              </a:rPr>
              <a:t>(forma parte del ligamento en Y junto con el lig calcaneocuboideo)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47" name="Google Shape;24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5225" y="1311325"/>
            <a:ext cx="4707100" cy="178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D553F497-9BF2-FBC9-2D97-713CABD42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BA821B32-E147-15E2-29B7-0B7FC3CA9B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Articulación medio tarsiana o de Chopart </a:t>
            </a:r>
            <a:endParaRPr/>
          </a:p>
        </p:txBody>
      </p:sp>
      <p:sp>
        <p:nvSpPr>
          <p:cNvPr id="253" name="Google Shape;253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736000" cy="34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B) Calcáneocuboidea (encaje recíproco)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>
                <a:solidFill>
                  <a:schemeClr val="dk1"/>
                </a:solidFill>
              </a:rPr>
              <a:t>Superficies articulares: apóf mayor del calcáneo - cara posterior del cuboides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>
                <a:solidFill>
                  <a:schemeClr val="dk1"/>
                </a:solidFill>
              </a:rPr>
              <a:t>Medios de unión: cápsula articular reforzada por: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lig calcaneo cuboideo superior o dorsal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lig calcaneo cuboideo inferior o plantar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lig calcaneo cuboideo interno (haz externo del ligamento en Y)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54" name="Google Shape;25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0100" y="1170125"/>
            <a:ext cx="2791500" cy="3500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ED6A21B5-E912-DB25-2611-1C5616AED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BEE60B93-7314-D359-626D-3E78C660CD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Articulación tarso metatarsiana o de Lisfranc </a:t>
            </a:r>
            <a:endParaRPr/>
          </a:p>
        </p:txBody>
      </p:sp>
      <p:sp>
        <p:nvSpPr>
          <p:cNvPr id="260" name="Google Shape;260;p37"/>
          <p:cNvSpPr txBox="1">
            <a:spLocks noGrp="1"/>
          </p:cNvSpPr>
          <p:nvPr>
            <p:ph type="body" idx="1"/>
          </p:nvPr>
        </p:nvSpPr>
        <p:spPr>
          <a:xfrm>
            <a:off x="311700" y="1179600"/>
            <a:ext cx="6115500" cy="33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Las 3 cuñas y el cuboides forman un arco óseo transversal de concavidad inferior: la arcada tarsiana ( cara anteriores de 1° cuneiforme, 2 y 3 cuneiforme y cuboides)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Las extremidades posteriores de los 5 metatarsianos forman también una bóveda transversal cóncava hacia abajo: la arcada metatarsiana ( facetas articulares de los 5 metatarsianos)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Esta articulación es una serie de artrodias por las cuales estos 2 arcos se unen entre sí: </a:t>
            </a:r>
            <a:endParaRPr>
              <a:solidFill>
                <a:schemeClr val="dk1"/>
              </a:solidFill>
            </a:endParaRPr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>
                <a:solidFill>
                  <a:schemeClr val="dk1"/>
                </a:solidFill>
              </a:rPr>
              <a:t>medios de unión: </a:t>
            </a:r>
            <a:endParaRPr>
              <a:solidFill>
                <a:schemeClr val="dk1"/>
              </a:solidFill>
            </a:endParaRPr>
          </a:p>
          <a:p>
            <a:pPr marL="914400" lvl="1" indent="-3041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>
                <a:solidFill>
                  <a:schemeClr val="dk1"/>
                </a:solidFill>
              </a:rPr>
              <a:t>cápsula articular (son 3) </a:t>
            </a:r>
            <a:endParaRPr>
              <a:solidFill>
                <a:schemeClr val="dk1"/>
              </a:solidFill>
            </a:endParaRPr>
          </a:p>
          <a:p>
            <a:pPr marL="914400" lvl="1" indent="-3041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>
                <a:solidFill>
                  <a:schemeClr val="dk1"/>
                </a:solidFill>
              </a:rPr>
              <a:t>ligamentos dorsales (7)</a:t>
            </a:r>
            <a:endParaRPr>
              <a:solidFill>
                <a:schemeClr val="dk1"/>
              </a:solidFill>
            </a:endParaRPr>
          </a:p>
          <a:p>
            <a:pPr marL="914400" lvl="1" indent="-3041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>
                <a:solidFill>
                  <a:schemeClr val="dk1"/>
                </a:solidFill>
              </a:rPr>
              <a:t>ligamentos plantares (4) </a:t>
            </a:r>
            <a:endParaRPr>
              <a:solidFill>
                <a:schemeClr val="dk1"/>
              </a:solidFill>
            </a:endParaRPr>
          </a:p>
          <a:p>
            <a:pPr marL="914400" lvl="1" indent="-3041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>
                <a:solidFill>
                  <a:schemeClr val="dk1"/>
                </a:solidFill>
              </a:rPr>
              <a:t>ligamentos interóseos (3)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61" name="Google Shape;26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9975" y="1441325"/>
            <a:ext cx="2839225" cy="298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7EB7C58D-D272-5218-935B-BC6C43B9C6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343CA1E6-F57D-6283-E8DF-032F8B2880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5800" y="52975"/>
            <a:ext cx="7213689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53B6A81C-B0F2-A688-5EAB-BC6FA0CEF4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C4A88691-8B1C-264C-AC5D-D889C69133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1062</Words>
  <Application>Microsoft Office PowerPoint</Application>
  <PresentationFormat>Presentación en pantalla (16:9)</PresentationFormat>
  <Paragraphs>187</Paragraphs>
  <Slides>27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0" baseType="lpstr">
      <vt:lpstr>Arial</vt:lpstr>
      <vt:lpstr>Bungee</vt:lpstr>
      <vt:lpstr>Simple Light</vt:lpstr>
      <vt:lpstr>Presentación de PowerPoint</vt:lpstr>
      <vt:lpstr>ARTROLOGÍA DEL MIEMBRO INFERIOR</vt:lpstr>
      <vt:lpstr>RECORDAR…. ARTICULACIONES</vt:lpstr>
      <vt:lpstr>SÍNFISIS PUBIANA</vt:lpstr>
      <vt:lpstr>ARTICULACIÓN COXOFEMORAL </vt:lpstr>
      <vt:lpstr>Ligamentos iliofemoral y pubofemoral  </vt:lpstr>
      <vt:lpstr>Ligamento isquiofemoral y ligamento redondo</vt:lpstr>
      <vt:lpstr>ARTICULACIÓN DE LA RODILLA </vt:lpstr>
      <vt:lpstr>Meniscos de la rodilla</vt:lpstr>
      <vt:lpstr>Presentación de PowerPoint</vt:lpstr>
      <vt:lpstr>Ligamentos anteriores </vt:lpstr>
      <vt:lpstr>Ligamentos posteriores</vt:lpstr>
      <vt:lpstr>Ligamentos colaterales </vt:lpstr>
      <vt:lpstr>Ligamentos cruzados </vt:lpstr>
      <vt:lpstr>Presentación de PowerPoint</vt:lpstr>
      <vt:lpstr>ARTICULACIÓN TIBIOPERONEA </vt:lpstr>
      <vt:lpstr>Articulación peroneo-tibial superior </vt:lpstr>
      <vt:lpstr>Articulación tibioperonea inferior </vt:lpstr>
      <vt:lpstr>ARTICULACIÓN TIBIO TARSIANA </vt:lpstr>
      <vt:lpstr>Ligamento lateral externo </vt:lpstr>
      <vt:lpstr>Ligamento lateral interno </vt:lpstr>
      <vt:lpstr>ARTICULACIONES DEL PIE </vt:lpstr>
      <vt:lpstr>Articulación astrágalo calcánea </vt:lpstr>
      <vt:lpstr>Articulación medio tarsiana o de Chopart </vt:lpstr>
      <vt:lpstr>Articulación medio tarsiana o de Chopart </vt:lpstr>
      <vt:lpstr>Articulación tarso metatarsiana o de Lisfranc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Joyce Marinho</dc:creator>
  <cp:lastModifiedBy>Joyce Marinho</cp:lastModifiedBy>
  <cp:revision>1</cp:revision>
  <dcterms:modified xsi:type="dcterms:W3CDTF">2022-05-18T18:09:43Z</dcterms:modified>
</cp:coreProperties>
</file>
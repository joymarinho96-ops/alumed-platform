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30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embeddedFontLst>
    <p:embeddedFont>
      <p:font typeface="Bungee" pitchFamily="2" charset="0"/>
      <p:regular r:id="rId24"/>
    </p:embeddedFont>
    <p:embeddedFont>
      <p:font typeface="Comfortaa" panose="020B0604020202020204" charset="0"/>
      <p:regular r:id="rId25"/>
      <p:bold r:id="rId26"/>
    </p:embeddedFont>
    <p:embeddedFont>
      <p:font typeface="Nunito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A1C43E-43A1-47AC-98A9-6271C98BFDB1}">
  <a:tblStyle styleId="{A7A1C43E-43A1-47AC-98A9-6271C98BFD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64e529a2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64e529a2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64e529a2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64e529a2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64e529a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264e529a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264e529a2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264e529a2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264e529a2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264e529a2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264e529a2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264e529a2e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64e529a2e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64e529a2e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afc42dff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2afc42dff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2afc42dff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2afc42dff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afc42dff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2afc42dff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2afc42dff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2afc42dff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afc42dff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afc42dff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afc42dff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2afc42dff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a502cf4f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2a502cf4f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2a502cf4f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2a502cf4f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2a502cf4f2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2a502cf4f2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2a502cf4f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2a502cf4f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2a502cf4f2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2a502cf4f2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2afc42dff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2afc42dff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D6512-869C-2A9F-FB4E-FB42A588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E4FF148C-9FE0-48CD-13FE-30A615333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80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125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latin typeface="Bungee" pitchFamily="2" charset="0"/>
              </a:rPr>
              <a:t>PLEXO BRAQUIAL</a:t>
            </a:r>
            <a:r>
              <a:rPr lang="es-419" dirty="0">
                <a:latin typeface="Bungee" pitchFamily="2" charset="0"/>
              </a:rPr>
              <a:t> </a:t>
            </a:r>
            <a:endParaRPr dirty="0">
              <a:latin typeface="Bungee" pitchFamily="2" charset="0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308" y="1998482"/>
            <a:ext cx="3070025" cy="27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CC9E96B-A467-974B-F0D6-117A0D4D8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95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ES UN PLEXO NERVIOSO?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-"/>
            </a:pPr>
            <a:r>
              <a:rPr lang="es-419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Agrupación o red de fibras nerviosas de nervios espinales (ramas anteriores) que parten desde la médula espinal 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-"/>
            </a:pPr>
            <a:r>
              <a:rPr lang="es-419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 denominan según la zona del cuerpo en la que se distribuye la inervación: braquial, cervical, lumbar, sacro, coccígeo, etc.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l="35405" t="26546" r="37253" b="39359"/>
          <a:stretch/>
        </p:blipFill>
        <p:spPr>
          <a:xfrm>
            <a:off x="2576700" y="2571750"/>
            <a:ext cx="3476876" cy="243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D5012D5B-694B-6B26-0BBA-974C26BFD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l="41722" t="22720" r="41287" b="19392"/>
          <a:stretch/>
        </p:blipFill>
        <p:spPr>
          <a:xfrm>
            <a:off x="718850" y="435075"/>
            <a:ext cx="2230924" cy="427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5019550" y="818000"/>
            <a:ext cx="353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011725" y="331625"/>
            <a:ext cx="600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latin typeface="Comfortaa"/>
                <a:ea typeface="Comfortaa"/>
                <a:cs typeface="Comfortaa"/>
                <a:sym typeface="Comfortaa"/>
              </a:rPr>
              <a:t>¿CÓMO ESTÁ FORMADO EL PLEXO BRAQUIAL?</a:t>
            </a:r>
            <a:endParaRPr sz="18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411013" y="158642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C4</a:t>
            </a:r>
            <a:endParaRPr b="1"/>
          </a:p>
        </p:txBody>
      </p:sp>
      <p:sp>
        <p:nvSpPr>
          <p:cNvPr id="71" name="Google Shape;71;p15"/>
          <p:cNvSpPr txBox="1"/>
          <p:nvPr/>
        </p:nvSpPr>
        <p:spPr>
          <a:xfrm>
            <a:off x="1411013" y="191042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C5</a:t>
            </a:r>
            <a:endParaRPr b="1"/>
          </a:p>
        </p:txBody>
      </p:sp>
      <p:sp>
        <p:nvSpPr>
          <p:cNvPr id="72" name="Google Shape;72;p15"/>
          <p:cNvSpPr txBox="1"/>
          <p:nvPr/>
        </p:nvSpPr>
        <p:spPr>
          <a:xfrm>
            <a:off x="1411013" y="224775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C6</a:t>
            </a:r>
            <a:endParaRPr b="1"/>
          </a:p>
        </p:txBody>
      </p:sp>
      <p:sp>
        <p:nvSpPr>
          <p:cNvPr id="73" name="Google Shape;73;p15"/>
          <p:cNvSpPr txBox="1"/>
          <p:nvPr/>
        </p:nvSpPr>
        <p:spPr>
          <a:xfrm>
            <a:off x="1560213" y="257175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C7</a:t>
            </a:r>
            <a:endParaRPr b="1"/>
          </a:p>
        </p:txBody>
      </p:sp>
      <p:sp>
        <p:nvSpPr>
          <p:cNvPr id="74" name="Google Shape;74;p15"/>
          <p:cNvSpPr txBox="1"/>
          <p:nvPr/>
        </p:nvSpPr>
        <p:spPr>
          <a:xfrm>
            <a:off x="1563400" y="290907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T1</a:t>
            </a:r>
            <a:endParaRPr b="1"/>
          </a:p>
        </p:txBody>
      </p:sp>
      <p:sp>
        <p:nvSpPr>
          <p:cNvPr id="75" name="Google Shape;75;p15"/>
          <p:cNvSpPr txBox="1"/>
          <p:nvPr/>
        </p:nvSpPr>
        <p:spPr>
          <a:xfrm>
            <a:off x="1563400" y="330927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T2</a:t>
            </a:r>
            <a:endParaRPr b="1"/>
          </a:p>
        </p:txBody>
      </p:sp>
      <p:sp>
        <p:nvSpPr>
          <p:cNvPr id="76" name="Google Shape;76;p15"/>
          <p:cNvSpPr txBox="1"/>
          <p:nvPr/>
        </p:nvSpPr>
        <p:spPr>
          <a:xfrm>
            <a:off x="3482775" y="867600"/>
            <a:ext cx="5354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Nunito"/>
                <a:ea typeface="Nunito"/>
                <a:cs typeface="Nunito"/>
                <a:sym typeface="Nunito"/>
              </a:rPr>
              <a:t>Ramas anteriores de los nervios ESPINALES desde C4 hasta T1: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es-419" sz="1800">
                <a:latin typeface="Nunito"/>
                <a:ea typeface="Nunito"/>
                <a:cs typeface="Nunito"/>
                <a:sym typeface="Nunito"/>
              </a:rPr>
              <a:t>Nervios raquídeos: C5, C6, C7, C8, T1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1869738" y="1892875"/>
            <a:ext cx="2084100" cy="3684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78;p15"/>
          <p:cNvCxnSpPr>
            <a:stCxn id="72" idx="0"/>
          </p:cNvCxnSpPr>
          <p:nvPr/>
        </p:nvCxnSpPr>
        <p:spPr>
          <a:xfrm rot="-5400000" flipH="1">
            <a:off x="2554463" y="1451400"/>
            <a:ext cx="417000" cy="2009700"/>
          </a:xfrm>
          <a:prstGeom prst="curvedConnector4">
            <a:avLst>
              <a:gd name="adj1" fmla="val 19742"/>
              <a:gd name="adj2" fmla="val 58636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5"/>
          <p:cNvCxnSpPr/>
          <p:nvPr/>
        </p:nvCxnSpPr>
        <p:spPr>
          <a:xfrm>
            <a:off x="1869738" y="2601075"/>
            <a:ext cx="2084100" cy="3684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80;p15"/>
          <p:cNvCxnSpPr/>
          <p:nvPr/>
        </p:nvCxnSpPr>
        <p:spPr>
          <a:xfrm>
            <a:off x="1848613" y="2925875"/>
            <a:ext cx="2084100" cy="3684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/>
          <p:cNvCxnSpPr/>
          <p:nvPr/>
        </p:nvCxnSpPr>
        <p:spPr>
          <a:xfrm>
            <a:off x="1869738" y="3264475"/>
            <a:ext cx="2084100" cy="3684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5"/>
          <p:cNvSpPr txBox="1"/>
          <p:nvPr/>
        </p:nvSpPr>
        <p:spPr>
          <a:xfrm>
            <a:off x="3953850" y="2072138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C5</a:t>
            </a:r>
            <a:endParaRPr b="1"/>
          </a:p>
        </p:txBody>
      </p:sp>
      <p:sp>
        <p:nvSpPr>
          <p:cNvPr id="83" name="Google Shape;83;p15"/>
          <p:cNvSpPr txBox="1"/>
          <p:nvPr/>
        </p:nvSpPr>
        <p:spPr>
          <a:xfrm>
            <a:off x="3767825" y="247235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C6</a:t>
            </a:r>
            <a:endParaRPr b="1"/>
          </a:p>
        </p:txBody>
      </p:sp>
      <p:sp>
        <p:nvSpPr>
          <p:cNvPr id="84" name="Google Shape;84;p15"/>
          <p:cNvSpPr txBox="1"/>
          <p:nvPr/>
        </p:nvSpPr>
        <p:spPr>
          <a:xfrm>
            <a:off x="3953850" y="275350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C7</a:t>
            </a:r>
            <a:endParaRPr b="1"/>
          </a:p>
        </p:txBody>
      </p:sp>
      <p:sp>
        <p:nvSpPr>
          <p:cNvPr id="85" name="Google Shape;85;p15"/>
          <p:cNvSpPr txBox="1"/>
          <p:nvPr/>
        </p:nvSpPr>
        <p:spPr>
          <a:xfrm>
            <a:off x="3920225" y="308362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C8</a:t>
            </a:r>
            <a:endParaRPr b="1"/>
          </a:p>
        </p:txBody>
      </p:sp>
      <p:sp>
        <p:nvSpPr>
          <p:cNvPr id="86" name="Google Shape;86;p15"/>
          <p:cNvSpPr txBox="1"/>
          <p:nvPr/>
        </p:nvSpPr>
        <p:spPr>
          <a:xfrm>
            <a:off x="3920225" y="343485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T1</a:t>
            </a:r>
            <a:endParaRPr b="1"/>
          </a:p>
        </p:txBody>
      </p:sp>
      <p:pic>
        <p:nvPicPr>
          <p:cNvPr id="22" name="Imagen 2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43E75A7E-31B3-1C51-B2BB-54E5491CD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 l="28190" t="23794" r="19489" b="19267"/>
          <a:stretch/>
        </p:blipFill>
        <p:spPr>
          <a:xfrm>
            <a:off x="718825" y="258425"/>
            <a:ext cx="7498350" cy="458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9F7829A4-7651-A739-E69A-25A3F1C8C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l="27894" t="23750" r="19976" b="20154"/>
          <a:stretch/>
        </p:blipFill>
        <p:spPr>
          <a:xfrm>
            <a:off x="941950" y="231450"/>
            <a:ext cx="7411574" cy="44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4BAE38EC-9438-4802-6D95-A269B0325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18"/>
          <p:cNvGraphicFramePr/>
          <p:nvPr/>
        </p:nvGraphicFramePr>
        <p:xfrm>
          <a:off x="1163200" y="1254995"/>
          <a:ext cx="7239000" cy="2763100"/>
        </p:xfrm>
        <a:graphic>
          <a:graphicData uri="http://schemas.openxmlformats.org/drawingml/2006/table">
            <a:tbl>
              <a:tblPr>
                <a:noFill/>
                <a:tableStyleId>{A7A1C43E-43A1-47AC-98A9-6271C98BFDB1}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>
                          <a:highlight>
                            <a:srgbClr val="C27BA0"/>
                          </a:highlight>
                        </a:rPr>
                        <a:t>RAMAS TERMINALES ANTERIORES </a:t>
                      </a:r>
                      <a:endParaRPr b="1">
                        <a:highlight>
                          <a:srgbClr val="C27BA0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músculo cutáneo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mediano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cubital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>
                          <a:highlight>
                            <a:srgbClr val="6AA84F"/>
                          </a:highlight>
                        </a:rPr>
                        <a:t>RAMAS TERMINALES POSTERIORES</a:t>
                      </a:r>
                      <a:endParaRPr b="1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circunflejo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radial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Imagen 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E197A197-BF85-E652-BDF7-2B2B1B155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D2E6FBDB-0A3D-2FCB-E5B2-8BCFDD170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l="47767" t="25283" r="19255" b="19136"/>
          <a:stretch/>
        </p:blipFill>
        <p:spPr>
          <a:xfrm>
            <a:off x="4665297" y="827975"/>
            <a:ext cx="4537002" cy="4299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19"/>
          <p:cNvGraphicFramePr/>
          <p:nvPr/>
        </p:nvGraphicFramePr>
        <p:xfrm>
          <a:off x="208850" y="827975"/>
          <a:ext cx="4347550" cy="4299270"/>
        </p:xfrm>
        <a:graphic>
          <a:graphicData uri="http://schemas.openxmlformats.org/drawingml/2006/table">
            <a:tbl>
              <a:tblPr>
                <a:noFill/>
                <a:tableStyleId>{A7A1C43E-43A1-47AC-98A9-6271C98BFDB1}</a:tableStyleId>
              </a:tblPr>
              <a:tblGrid>
                <a:gridCol w="229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C27BA0"/>
                          </a:highlight>
                        </a:rPr>
                        <a:t>N de los pectorales (1)</a:t>
                      </a:r>
                      <a:endParaRPr sz="1300">
                        <a:highlight>
                          <a:srgbClr val="C27BA0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Pectoral mayor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Pectoral menor 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C27BA0"/>
                          </a:highlight>
                        </a:rPr>
                        <a:t>N. del subclavio (2)</a:t>
                      </a:r>
                      <a:endParaRPr sz="1300">
                        <a:highlight>
                          <a:srgbClr val="C27BA0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Subclavio 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C27BA0"/>
                          </a:highlight>
                        </a:rPr>
                        <a:t>N. supraescapular (3)</a:t>
                      </a:r>
                      <a:endParaRPr sz="1300">
                        <a:highlight>
                          <a:srgbClr val="C27BA0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Supraespinoso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Infraespinoso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subescapular (4)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Subescapular 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dorsal ancho (5)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Dorsal ancho 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redondo mayor (6)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Redondo mayor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del serrato mayor (7)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Serrato mayor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del angular y del romboides (8) 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Angular del omóplato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Romboides 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8" name="Google Shape;108;p19"/>
          <p:cNvSpPr txBox="1"/>
          <p:nvPr/>
        </p:nvSpPr>
        <p:spPr>
          <a:xfrm>
            <a:off x="208850" y="247875"/>
            <a:ext cx="473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latin typeface="Comfortaa"/>
                <a:ea typeface="Comfortaa"/>
                <a:cs typeface="Comfortaa"/>
                <a:sym typeface="Comfortaa"/>
              </a:rPr>
              <a:t>RAMAS COLATERALES MOTORAS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9" name="Google Shape;109;p19"/>
          <p:cNvCxnSpPr/>
          <p:nvPr/>
        </p:nvCxnSpPr>
        <p:spPr>
          <a:xfrm rot="-5400000" flipH="1">
            <a:off x="6448625" y="3394025"/>
            <a:ext cx="557700" cy="458700"/>
          </a:xfrm>
          <a:prstGeom prst="curvedConnector3">
            <a:avLst>
              <a:gd name="adj1" fmla="val 15559"/>
            </a:avLst>
          </a:prstGeom>
          <a:noFill/>
          <a:ln w="762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" name="Google Shape;110;p19"/>
          <p:cNvSpPr txBox="1"/>
          <p:nvPr/>
        </p:nvSpPr>
        <p:spPr>
          <a:xfrm>
            <a:off x="6721325" y="3344525"/>
            <a:ext cx="23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1</a:t>
            </a:r>
            <a:endParaRPr b="1"/>
          </a:p>
        </p:txBody>
      </p:sp>
      <p:cxnSp>
        <p:nvCxnSpPr>
          <p:cNvPr id="111" name="Google Shape;111;p19"/>
          <p:cNvCxnSpPr/>
          <p:nvPr/>
        </p:nvCxnSpPr>
        <p:spPr>
          <a:xfrm rot="5400000">
            <a:off x="7720600" y="2527500"/>
            <a:ext cx="435600" cy="2106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9"/>
          <p:cNvCxnSpPr/>
          <p:nvPr/>
        </p:nvCxnSpPr>
        <p:spPr>
          <a:xfrm flipH="1">
            <a:off x="7795750" y="2577950"/>
            <a:ext cx="309900" cy="2727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113;p19"/>
          <p:cNvSpPr txBox="1"/>
          <p:nvPr/>
        </p:nvSpPr>
        <p:spPr>
          <a:xfrm>
            <a:off x="7795750" y="2432700"/>
            <a:ext cx="30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2</a:t>
            </a:r>
            <a:endParaRPr b="1"/>
          </a:p>
        </p:txBody>
      </p:sp>
      <p:cxnSp>
        <p:nvCxnSpPr>
          <p:cNvPr id="114" name="Google Shape;114;p19"/>
          <p:cNvCxnSpPr/>
          <p:nvPr/>
        </p:nvCxnSpPr>
        <p:spPr>
          <a:xfrm rot="10800000">
            <a:off x="7236250" y="2181300"/>
            <a:ext cx="483300" cy="451500"/>
          </a:xfrm>
          <a:prstGeom prst="curvedConnector3">
            <a:avLst>
              <a:gd name="adj1" fmla="val 32945"/>
            </a:avLst>
          </a:prstGeom>
          <a:noFill/>
          <a:ln w="762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" name="Google Shape;115;p19"/>
          <p:cNvSpPr txBox="1"/>
          <p:nvPr/>
        </p:nvSpPr>
        <p:spPr>
          <a:xfrm>
            <a:off x="7399150" y="2014800"/>
            <a:ext cx="30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3</a:t>
            </a:r>
            <a:endParaRPr b="1"/>
          </a:p>
        </p:txBody>
      </p:sp>
      <p:cxnSp>
        <p:nvCxnSpPr>
          <p:cNvPr id="116" name="Google Shape;116;p19"/>
          <p:cNvCxnSpPr/>
          <p:nvPr/>
        </p:nvCxnSpPr>
        <p:spPr>
          <a:xfrm>
            <a:off x="6292475" y="3856375"/>
            <a:ext cx="198300" cy="173400"/>
          </a:xfrm>
          <a:prstGeom prst="curvedConnector3">
            <a:avLst>
              <a:gd name="adj1" fmla="val 75000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6368675" y="3780175"/>
            <a:ext cx="198300" cy="173400"/>
          </a:xfrm>
          <a:prstGeom prst="curvedConnector3">
            <a:avLst>
              <a:gd name="adj1" fmla="val 75000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9"/>
          <p:cNvCxnSpPr/>
          <p:nvPr/>
        </p:nvCxnSpPr>
        <p:spPr>
          <a:xfrm>
            <a:off x="6444875" y="3703975"/>
            <a:ext cx="198300" cy="173400"/>
          </a:xfrm>
          <a:prstGeom prst="curvedConnector3">
            <a:avLst>
              <a:gd name="adj1" fmla="val 75000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19"/>
          <p:cNvSpPr txBox="1"/>
          <p:nvPr/>
        </p:nvSpPr>
        <p:spPr>
          <a:xfrm rot="-2167965">
            <a:off x="5929833" y="3423327"/>
            <a:ext cx="923416" cy="39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4 5 6</a:t>
            </a:r>
            <a:endParaRPr b="1"/>
          </a:p>
        </p:txBody>
      </p:sp>
      <p:cxnSp>
        <p:nvCxnSpPr>
          <p:cNvPr id="120" name="Google Shape;120;p19"/>
          <p:cNvCxnSpPr/>
          <p:nvPr/>
        </p:nvCxnSpPr>
        <p:spPr>
          <a:xfrm rot="5400000">
            <a:off x="7578900" y="2894075"/>
            <a:ext cx="1611300" cy="483300"/>
          </a:xfrm>
          <a:prstGeom prst="curvedConnector3">
            <a:avLst>
              <a:gd name="adj1" fmla="val 19230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9"/>
          <p:cNvCxnSpPr/>
          <p:nvPr/>
        </p:nvCxnSpPr>
        <p:spPr>
          <a:xfrm rot="5400000">
            <a:off x="8099400" y="2646200"/>
            <a:ext cx="731400" cy="594900"/>
          </a:xfrm>
          <a:prstGeom prst="curvedConnector3">
            <a:avLst>
              <a:gd name="adj1" fmla="val 13556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9"/>
          <p:cNvCxnSpPr/>
          <p:nvPr/>
        </p:nvCxnSpPr>
        <p:spPr>
          <a:xfrm rot="5400000">
            <a:off x="8062250" y="2943625"/>
            <a:ext cx="780900" cy="594900"/>
          </a:xfrm>
          <a:prstGeom prst="curvedConnector3">
            <a:avLst>
              <a:gd name="adj1" fmla="val 25394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9"/>
          <p:cNvSpPr txBox="1"/>
          <p:nvPr/>
        </p:nvSpPr>
        <p:spPr>
          <a:xfrm>
            <a:off x="8385850" y="2577950"/>
            <a:ext cx="23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7</a:t>
            </a:r>
            <a:endParaRPr b="1"/>
          </a:p>
        </p:txBody>
      </p:sp>
      <p:cxnSp>
        <p:nvCxnSpPr>
          <p:cNvPr id="124" name="Google Shape;124;p19"/>
          <p:cNvCxnSpPr/>
          <p:nvPr/>
        </p:nvCxnSpPr>
        <p:spPr>
          <a:xfrm rot="5400000" flipH="1">
            <a:off x="8241950" y="1821875"/>
            <a:ext cx="458700" cy="359400"/>
          </a:xfrm>
          <a:prstGeom prst="curvedConnector3">
            <a:avLst>
              <a:gd name="adj1" fmla="val 21615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" name="Google Shape;125;p19"/>
          <p:cNvSpPr txBox="1"/>
          <p:nvPr/>
        </p:nvSpPr>
        <p:spPr>
          <a:xfrm>
            <a:off x="8241950" y="1614600"/>
            <a:ext cx="45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8</a:t>
            </a:r>
            <a:endParaRPr b="1"/>
          </a:p>
        </p:txBody>
      </p:sp>
      <p:pic>
        <p:nvPicPr>
          <p:cNvPr id="22" name="Imagen 21" descr="Logotipo&#10;&#10;Descripción generada automáticamente">
            <a:extLst>
              <a:ext uri="{FF2B5EF4-FFF2-40B4-BE49-F238E27FC236}">
                <a16:creationId xmlns:a16="http://schemas.microsoft.com/office/drawing/2014/main" id="{A3991AAC-C52E-CC5F-6100-9678A75F8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RELACIONES</a:t>
            </a:r>
            <a:endParaRPr b="1"/>
          </a:p>
        </p:txBody>
      </p:sp>
      <p:pic>
        <p:nvPicPr>
          <p:cNvPr id="131" name="Google Shape;131;p20"/>
          <p:cNvPicPr preferRelativeResize="0"/>
          <p:nvPr/>
        </p:nvPicPr>
        <p:blipFill rotWithShape="1">
          <a:blip r:embed="rId3">
            <a:alphaModFix/>
          </a:blip>
          <a:srcRect l="18292" t="26180" r="20365" b="18412"/>
          <a:stretch/>
        </p:blipFill>
        <p:spPr>
          <a:xfrm>
            <a:off x="2311100" y="1585600"/>
            <a:ext cx="6790775" cy="34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/>
          <p:cNvPicPr preferRelativeResize="0"/>
          <p:nvPr/>
        </p:nvPicPr>
        <p:blipFill rotWithShape="1">
          <a:blip r:embed="rId4">
            <a:alphaModFix/>
          </a:blip>
          <a:srcRect l="34465" t="19771" r="35157" b="28551"/>
          <a:stretch/>
        </p:blipFill>
        <p:spPr>
          <a:xfrm>
            <a:off x="311700" y="1017725"/>
            <a:ext cx="3146175" cy="300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897032-7D41-E585-525F-71D54B6D2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RELACIONES</a:t>
            </a:r>
            <a:endParaRPr b="1"/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 l="28657" t="35957" r="20887" b="8207"/>
          <a:stretch/>
        </p:blipFill>
        <p:spPr>
          <a:xfrm>
            <a:off x="3319075" y="1370625"/>
            <a:ext cx="5804701" cy="36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 rotWithShape="1">
          <a:blip r:embed="rId4">
            <a:alphaModFix/>
          </a:blip>
          <a:srcRect l="32471" t="26357" r="35265" b="24642"/>
          <a:stretch/>
        </p:blipFill>
        <p:spPr>
          <a:xfrm>
            <a:off x="354525" y="877450"/>
            <a:ext cx="3314077" cy="28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9EEB69D-6BBC-2AD7-639B-25F09617A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chemeClr val="accent4"/>
                </a:highlight>
              </a:rPr>
              <a:t>Nervio músculo cutáneo</a:t>
            </a:r>
            <a:endParaRPr>
              <a:highlight>
                <a:schemeClr val="accent4"/>
              </a:highlight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24300" cy="3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1 . Perfora al músculo Coracobraquial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2 . Discurre entre los planos superficial y profundo del brazo 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3 . Se cruza al canal bicipital externo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 4 . Termina como ramos sensitivos en la cara externa del antebrazo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634525" y="3428475"/>
            <a:ext cx="3028500" cy="98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/>
              <a:t>Territorio de inervación motora: </a:t>
            </a:r>
            <a:endParaRPr sz="1300"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 sz="1300"/>
              <a:t>coracobraquial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 sz="1300"/>
              <a:t>braquial anterior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 sz="1300"/>
              <a:t>biceps braquial </a:t>
            </a:r>
            <a:endParaRPr sz="1300"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l="28190" t="23794" r="19489" b="19267"/>
          <a:stretch/>
        </p:blipFill>
        <p:spPr>
          <a:xfrm>
            <a:off x="4667800" y="1302450"/>
            <a:ext cx="4001851" cy="2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69BD434-A90A-ACBE-566D-D6D0A6DC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D0EDC6E2-497D-EC1C-4754-4FFDA85EB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"/>
          <p:cNvPicPr preferRelativeResize="0"/>
          <p:nvPr/>
        </p:nvPicPr>
        <p:blipFill rotWithShape="1">
          <a:blip r:embed="rId3">
            <a:alphaModFix/>
          </a:blip>
          <a:srcRect l="32213" t="14055" r="34163" b="11617"/>
          <a:stretch/>
        </p:blipFill>
        <p:spPr>
          <a:xfrm>
            <a:off x="2921350" y="159725"/>
            <a:ext cx="3651123" cy="453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5C80400-953F-906B-CF3D-F0F178027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07CB0F47-507C-5784-2ECE-A0DDC4FDA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93C47D"/>
                </a:highlight>
              </a:rPr>
              <a:t>Nervio cubital </a:t>
            </a:r>
            <a:endParaRPr>
              <a:highlight>
                <a:srgbClr val="93C47D"/>
              </a:highlight>
            </a:endParaRPr>
          </a:p>
        </p:txBody>
      </p:sp>
      <p:sp>
        <p:nvSpPr>
          <p:cNvPr id="158" name="Google Shape;15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91700" cy="3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1- En la axila camina entre la vena y arteria axilar 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2- En El Brazo se ubica muy por detrás de la arteria humeral, luego se dirige hacia adentro hasta volverse posterior perforando el tabique intermuscular interno y colocándose en el compartimento del tríceps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3 - A nivel del codo el nervio se encuentra en el canal epitrocleoolecraneano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4 - Luego penetra en el antebrazo entre los dos fascículos del cubital anterior. 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 5- En el antebrazo descansa sobre el flexor común profundo de los dedos. En el antebrazo es acompañado por la arteria cubital la cual se ubica externamente al nervio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6 - En la muñeca,  pasa por un canal propio (de Guyón) formado por el ligamento anular, el hueso ganchoso y el pisiforme</a:t>
            </a:r>
            <a:endParaRPr sz="1065">
              <a:solidFill>
                <a:schemeClr val="dk1"/>
              </a:solidFill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6054600" y="2438725"/>
            <a:ext cx="2777700" cy="2401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Territorio de inervación motora</a:t>
            </a:r>
            <a:r>
              <a:rPr lang="es-419" sz="1200"/>
              <a:t>: 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 i="1"/>
              <a:t>Antebrazo:</a:t>
            </a:r>
            <a:r>
              <a:rPr lang="es-419" sz="1200"/>
              <a:t> 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Cubital Anterior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2 Haces internos del Flexor común profundo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 i="1"/>
              <a:t>Mano:</a:t>
            </a:r>
            <a:endParaRPr sz="1200" i="1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interóseos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3° y 4° lumbricales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aproximador del meñique 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flexor corto del meñique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oponente del meñique </a:t>
            </a:r>
            <a:endParaRPr sz="1200"/>
          </a:p>
        </p:txBody>
      </p:sp>
      <p:pic>
        <p:nvPicPr>
          <p:cNvPr id="160" name="Google Shape;160;p24"/>
          <p:cNvPicPr preferRelativeResize="0"/>
          <p:nvPr/>
        </p:nvPicPr>
        <p:blipFill rotWithShape="1">
          <a:blip r:embed="rId3">
            <a:alphaModFix/>
          </a:blip>
          <a:srcRect l="28190" t="23794" r="19489" b="19267"/>
          <a:stretch/>
        </p:blipFill>
        <p:spPr>
          <a:xfrm>
            <a:off x="5373825" y="86025"/>
            <a:ext cx="3563525" cy="21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31EB4DB6-0B6E-94A4-7172-6485C4838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6926" y="4422388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/>
          <p:cNvPicPr preferRelativeResize="0"/>
          <p:nvPr/>
        </p:nvPicPr>
        <p:blipFill rotWithShape="1">
          <a:blip r:embed="rId3">
            <a:alphaModFix/>
          </a:blip>
          <a:srcRect l="29243" t="22498" r="51273" b="19018"/>
          <a:stretch/>
        </p:blipFill>
        <p:spPr>
          <a:xfrm>
            <a:off x="1235725" y="353925"/>
            <a:ext cx="2727550" cy="460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 rotWithShape="1">
          <a:blip r:embed="rId4">
            <a:alphaModFix/>
          </a:blip>
          <a:srcRect l="32999" t="23190" r="33795" b="32093"/>
          <a:stretch/>
        </p:blipFill>
        <p:spPr>
          <a:xfrm>
            <a:off x="4741350" y="1146400"/>
            <a:ext cx="3765300" cy="285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C371408-66B0-8C86-7B3E-1A7462ABA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DDA0B3A1-79E4-39AD-876B-C536C6A3A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76A5AF"/>
                </a:highlight>
              </a:rPr>
              <a:t>Nervio mediano</a:t>
            </a:r>
            <a:endParaRPr>
              <a:highlight>
                <a:srgbClr val="76A5AF"/>
              </a:highlight>
            </a:endParaRPr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94800" cy="38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1- En la </a:t>
            </a:r>
            <a:r>
              <a:rPr lang="es-419" b="1">
                <a:solidFill>
                  <a:schemeClr val="dk1"/>
                </a:solidFill>
              </a:rPr>
              <a:t>fosa axilar </a:t>
            </a:r>
            <a:r>
              <a:rPr lang="es-419">
                <a:solidFill>
                  <a:schemeClr val="dk1"/>
                </a:solidFill>
              </a:rPr>
              <a:t>está ubicado por delante de la arteria axilar y entre el nervio musculocutáneo (en dirección lateral) y los nervios cubital, cutáneo antebraquial medial y cutáneo braquial medial (en dirección medial). Hacia anterior lo cubren los músculos pectorales menor y mayor.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2- En el</a:t>
            </a:r>
            <a:r>
              <a:rPr lang="es-419" b="1">
                <a:solidFill>
                  <a:schemeClr val="dk1"/>
                </a:solidFill>
              </a:rPr>
              <a:t> brazo</a:t>
            </a:r>
            <a:r>
              <a:rPr lang="es-419">
                <a:solidFill>
                  <a:schemeClr val="dk1"/>
                </a:solidFill>
              </a:rPr>
              <a:t>, está ubicado a nivel del conducto braquial. Hacia lateral se relaciona con el músculo bíceps. Acompaña a la arteria braquial a la que cruza por delante, de lateral a medial. Hacia posterior se relaciona con el nervio cubital y hacia medial, con el nervio braquial medial.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3- En la </a:t>
            </a:r>
            <a:r>
              <a:rPr lang="es-419" b="1">
                <a:solidFill>
                  <a:schemeClr val="dk1"/>
                </a:solidFill>
              </a:rPr>
              <a:t>fosa del codo </a:t>
            </a:r>
            <a:r>
              <a:rPr lang="es-419">
                <a:solidFill>
                  <a:schemeClr val="dk1"/>
                </a:solidFill>
              </a:rPr>
              <a:t>pasa por  surco bicipital medial, por lo que se relaciona con las estructuras que lo delimitan. En dirección lateral, los vasos humerales.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4- En el</a:t>
            </a:r>
            <a:r>
              <a:rPr lang="es-419" b="1">
                <a:solidFill>
                  <a:schemeClr val="dk1"/>
                </a:solidFill>
              </a:rPr>
              <a:t> antebrazo,</a:t>
            </a:r>
            <a:r>
              <a:rPr lang="es-419">
                <a:solidFill>
                  <a:schemeClr val="dk1"/>
                </a:solidFill>
              </a:rPr>
              <a:t> pasa entre el pronador redondo y cruza la cara anterior de la art cubital. Se ubica entre los músculos FCS y FCP de los dedos. Desciende y se ubica entre el flexor radial del carpo y el palmar largo.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dk1"/>
                </a:solidFill>
              </a:rPr>
              <a:t>5- En el </a:t>
            </a:r>
            <a:r>
              <a:rPr lang="es-419" b="1">
                <a:solidFill>
                  <a:schemeClr val="dk1"/>
                </a:solidFill>
              </a:rPr>
              <a:t>conducto carpiano</a:t>
            </a:r>
            <a:r>
              <a:rPr lang="es-419">
                <a:solidFill>
                  <a:schemeClr val="dk1"/>
                </a:solidFill>
              </a:rPr>
              <a:t> se relaciona hacia anterior con del retináculo flexor, ubicándose entre los tendones del FCS y el flexor largo del pulgar, para pasar a la mano en donde da sus ramos terminales a nivel de los 1º-3º espacios interdigitales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5506500" y="2101050"/>
            <a:ext cx="3514500" cy="2893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Inervación motora: </a:t>
            </a:r>
            <a:endParaRPr sz="1100" b="1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 i="1"/>
              <a:t>Antebrazo:</a:t>
            </a:r>
            <a:r>
              <a:rPr lang="es-419" sz="1100"/>
              <a:t> 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Grupo Anterior (Plano de los Epitrocleares): Pronador Redondo, Palmar Mayor , Palmar Menor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Grupo Anterior (Plano del FCS)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Grupo Anterior (Plano de los Flexores Profundos): Flex Común Profundo (haz Ext) Flex Largo del Pulgar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Grupo Anterior (Plano del Pronador Cuadrado)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 i="1"/>
              <a:t>Mano:</a:t>
            </a:r>
            <a:endParaRPr sz="1100" i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Región media ( 1° y 2° lumbricales)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Región tenar: Abductor o Separador corto del pulgar, Flexor corto del pulgar, Oponente del pulgar</a:t>
            </a:r>
            <a:endParaRPr sz="1100"/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3">
            <a:alphaModFix/>
          </a:blip>
          <a:srcRect l="28190" t="23794" r="19489" b="19267"/>
          <a:stretch/>
        </p:blipFill>
        <p:spPr>
          <a:xfrm>
            <a:off x="5933100" y="116000"/>
            <a:ext cx="3025601" cy="18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875" y="357525"/>
            <a:ext cx="6756750" cy="43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24249A83-C7AD-3E58-58CF-DA8F7390B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8"/>
          <p:cNvPicPr preferRelativeResize="0"/>
          <p:nvPr/>
        </p:nvPicPr>
        <p:blipFill rotWithShape="1">
          <a:blip r:embed="rId3">
            <a:alphaModFix/>
          </a:blip>
          <a:srcRect l="28744" t="22068" r="50838" b="28350"/>
          <a:stretch/>
        </p:blipFill>
        <p:spPr>
          <a:xfrm>
            <a:off x="61150" y="168673"/>
            <a:ext cx="2537424" cy="346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 rotWithShape="1">
          <a:blip r:embed="rId4">
            <a:alphaModFix/>
          </a:blip>
          <a:srcRect l="28987" t="21698" r="50360" b="36900"/>
          <a:stretch/>
        </p:blipFill>
        <p:spPr>
          <a:xfrm>
            <a:off x="2659575" y="168676"/>
            <a:ext cx="2260450" cy="25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 rotWithShape="1">
          <a:blip r:embed="rId5">
            <a:alphaModFix/>
          </a:blip>
          <a:srcRect l="48875" t="22153" r="30064" b="46253"/>
          <a:stretch/>
        </p:blipFill>
        <p:spPr>
          <a:xfrm>
            <a:off x="2683523" y="2828238"/>
            <a:ext cx="2212575" cy="186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 rotWithShape="1">
          <a:blip r:embed="rId6">
            <a:alphaModFix/>
          </a:blip>
          <a:srcRect l="28444" t="21841" r="51447" b="14407"/>
          <a:stretch/>
        </p:blipFill>
        <p:spPr>
          <a:xfrm>
            <a:off x="5095225" y="57975"/>
            <a:ext cx="1740526" cy="310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7">
            <a:alphaModFix/>
          </a:blip>
          <a:srcRect l="29093" t="22141" r="51668" b="20018"/>
          <a:stretch/>
        </p:blipFill>
        <p:spPr>
          <a:xfrm>
            <a:off x="7162725" y="57975"/>
            <a:ext cx="1981274" cy="3349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 rotWithShape="1">
          <a:blip r:embed="rId8">
            <a:alphaModFix/>
          </a:blip>
          <a:srcRect l="49282" t="25427" r="30932" b="33926"/>
          <a:stretch/>
        </p:blipFill>
        <p:spPr>
          <a:xfrm>
            <a:off x="5124863" y="3053949"/>
            <a:ext cx="1809100" cy="208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B6D7A8"/>
                </a:highlight>
              </a:rPr>
              <a:t>Nervio radial </a:t>
            </a:r>
            <a:endParaRPr>
              <a:highlight>
                <a:srgbClr val="B6D7A8"/>
              </a:highlight>
            </a:endParaRPr>
          </a:p>
        </p:txBody>
      </p:sp>
      <p:sp>
        <p:nvSpPr>
          <p:cNvPr id="195" name="Google Shape;19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425800" cy="3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1- F</a:t>
            </a:r>
            <a:r>
              <a:rPr lang="es-419" b="1" dirty="0">
                <a:solidFill>
                  <a:schemeClr val="tx1"/>
                </a:solidFill>
              </a:rPr>
              <a:t>osa axilar,</a:t>
            </a:r>
            <a:r>
              <a:rPr lang="es-419" dirty="0">
                <a:solidFill>
                  <a:schemeClr val="tx1"/>
                </a:solidFill>
              </a:rPr>
              <a:t> se relaciona hacia anterior con la arteria axilar y en dirección posterior con el músculo subescapular. Cruzan por delante de la arteria subescapular. 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2- </a:t>
            </a:r>
            <a:r>
              <a:rPr lang="es-419" b="1" dirty="0">
                <a:solidFill>
                  <a:schemeClr val="tx1"/>
                </a:solidFill>
              </a:rPr>
              <a:t>Brazo,</a:t>
            </a:r>
            <a:r>
              <a:rPr lang="es-419" dirty="0">
                <a:solidFill>
                  <a:schemeClr val="tx1"/>
                </a:solidFill>
              </a:rPr>
              <a:t>  ingresa junto a la arteria braquial profunda en el espacio axilar inferior, para llegar a la región posterior del brazo. Cruza la región posterior del brazo de arriba hacia abajo y de medial a lateral, junto a la arteria braquial profunda, entre la cabeza lateral y medial del tríceps. Pasa a la región anterior del brazo, entre los músculos braquial y braquiorradial. Da</a:t>
            </a:r>
            <a:r>
              <a:rPr lang="es-419" b="1" dirty="0">
                <a:solidFill>
                  <a:schemeClr val="tx1"/>
                </a:solidFill>
              </a:rPr>
              <a:t> colaterales sensitivos: </a:t>
            </a:r>
            <a:r>
              <a:rPr lang="es-419" dirty="0">
                <a:solidFill>
                  <a:schemeClr val="tx1"/>
                </a:solidFill>
              </a:rPr>
              <a:t>el nervio cutáneo braquial posterior, ramo sensitivo para la piel de la cara posteromedial  y el nervio cutáneo braquial inferior lateral, para la piel de la cara posterolateral del brazo.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3- </a:t>
            </a:r>
            <a:r>
              <a:rPr lang="es-419" b="1" dirty="0">
                <a:solidFill>
                  <a:schemeClr val="tx1"/>
                </a:solidFill>
              </a:rPr>
              <a:t>Codo, </a:t>
            </a:r>
            <a:r>
              <a:rPr lang="es-419" dirty="0">
                <a:solidFill>
                  <a:schemeClr val="tx1"/>
                </a:solidFill>
              </a:rPr>
              <a:t> se ubica en el surco bicipital lateral (fosa cubital) relacionándose, en dirección lateral con los músculos braquiorradial y extensor radial del carpo y en dirección medial con los músculos braquial y bíceps.</a:t>
            </a:r>
            <a:endParaRPr>
              <a:solidFill>
                <a:schemeClr val="tx1"/>
              </a:solidFill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s-ES" dirty="0">
                <a:solidFill>
                  <a:schemeClr val="tx1"/>
                </a:solidFill>
              </a:rPr>
              <a:t>4- </a:t>
            </a:r>
            <a:r>
              <a:rPr lang="es-ES" b="1" dirty="0">
                <a:solidFill>
                  <a:schemeClr val="tx1"/>
                </a:solidFill>
              </a:rPr>
              <a:t>Surco bicipital latera</a:t>
            </a:r>
            <a:r>
              <a:rPr lang="es-ES" dirty="0">
                <a:solidFill>
                  <a:schemeClr val="tx1"/>
                </a:solidFill>
              </a:rPr>
              <a:t>l o por encima de éste se bifurca en un ramo superficial (anterior y sensitivo) y un ramo profundo (posterior y motor) emite ramos  para los músculos extensores del antebrazo (salvo el extensor radial largo del carpo) al igual que el abductor largo del pulgar.</a:t>
            </a:r>
            <a:r>
              <a:rPr lang="es-419" dirty="0">
                <a:solidFill>
                  <a:schemeClr val="tx1"/>
                </a:solidFill>
              </a:rPr>
              <a:t>. 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5- Dorso de la</a:t>
            </a:r>
            <a:r>
              <a:rPr lang="es-419" b="1" dirty="0">
                <a:solidFill>
                  <a:schemeClr val="tx1"/>
                </a:solidFill>
              </a:rPr>
              <a:t> mano</a:t>
            </a:r>
            <a:r>
              <a:rPr lang="es-419" dirty="0">
                <a:solidFill>
                  <a:schemeClr val="tx1"/>
                </a:solidFill>
              </a:rPr>
              <a:t> y de los dedos. Sus ramos terminales son los ramos digitales dorsales que se extienden sobre las caras dorsales del 1° y 2° dedo y la mitad radial del 3°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96" name="Google Shape;196;p29"/>
          <p:cNvPicPr preferRelativeResize="0"/>
          <p:nvPr/>
        </p:nvPicPr>
        <p:blipFill rotWithShape="1">
          <a:blip r:embed="rId3">
            <a:alphaModFix/>
          </a:blip>
          <a:srcRect l="27894" t="23750" r="19976" b="20154"/>
          <a:stretch/>
        </p:blipFill>
        <p:spPr>
          <a:xfrm>
            <a:off x="5737500" y="272600"/>
            <a:ext cx="3200500" cy="193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7DFB9B69-5D78-E548-ACB3-D72A0129A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12161064-34E5-74C6-ECFB-4B39F3D6A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7756" y="-9082"/>
            <a:ext cx="938670" cy="5280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l="49314" t="19938" r="29650" b="27607"/>
          <a:stretch/>
        </p:blipFill>
        <p:spPr>
          <a:xfrm>
            <a:off x="306650" y="198000"/>
            <a:ext cx="2452025" cy="34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/>
          <p:cNvPicPr preferRelativeResize="0"/>
          <p:nvPr/>
        </p:nvPicPr>
        <p:blipFill rotWithShape="1">
          <a:blip r:embed="rId4">
            <a:alphaModFix/>
          </a:blip>
          <a:srcRect l="36244" t="21487" r="37764" b="19675"/>
          <a:stretch/>
        </p:blipFill>
        <p:spPr>
          <a:xfrm>
            <a:off x="3074750" y="582464"/>
            <a:ext cx="3126026" cy="397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 rotWithShape="1">
          <a:blip r:embed="rId5">
            <a:alphaModFix/>
          </a:blip>
          <a:srcRect l="49347" t="22654" r="30540" b="45673"/>
          <a:stretch/>
        </p:blipFill>
        <p:spPr>
          <a:xfrm>
            <a:off x="6436700" y="637750"/>
            <a:ext cx="2337076" cy="206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A58A1C1-CC1E-CAD1-A23E-6F33878B3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5046C261-FBFA-336B-E49E-DBDA3BC9FC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FFE599"/>
                </a:highlight>
              </a:rPr>
              <a:t>Nervio circunflejo o axilar </a:t>
            </a:r>
            <a:endParaRPr>
              <a:highlight>
                <a:srgbClr val="FFE599"/>
              </a:highlight>
            </a:endParaRPr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61300" cy="3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1- Inicialmente está por detrás de la arteria axilar y por delante del músculo subescapular. Acompaña en su recorrido a la arteria circunfleja humeral posterior, con la que atraviesa el espacio axilar lateral.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2- Una vez que rodeó el cuello quirúrgico del húmero termina en ramos musculares para el músculo deltoides.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dk1"/>
                </a:solidFill>
              </a:rPr>
              <a:t>Emite ramos musculares para los músculos redondo menor y deltoides y el nervio cutáneo braquial lateral superior (sensitivo), para la piel que cubre la región del músculo deltoides.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0" name="Google Shape;210;p31"/>
          <p:cNvPicPr preferRelativeResize="0"/>
          <p:nvPr/>
        </p:nvPicPr>
        <p:blipFill rotWithShape="1">
          <a:blip r:embed="rId3">
            <a:alphaModFix/>
          </a:blip>
          <a:srcRect l="36220" t="19288" r="34383" b="30377"/>
          <a:stretch/>
        </p:blipFill>
        <p:spPr>
          <a:xfrm>
            <a:off x="6225975" y="137450"/>
            <a:ext cx="2528620" cy="243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 rotWithShape="1">
          <a:blip r:embed="rId4">
            <a:alphaModFix/>
          </a:blip>
          <a:srcRect l="33281" t="33462" r="34173" b="28087"/>
          <a:stretch/>
        </p:blipFill>
        <p:spPr>
          <a:xfrm>
            <a:off x="5086175" y="2568400"/>
            <a:ext cx="3582250" cy="237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8DF30FFB-3C8B-822F-2EDC-E13B7B850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2"/>
          <p:cNvPicPr preferRelativeResize="0"/>
          <p:nvPr/>
        </p:nvPicPr>
        <p:blipFill rotWithShape="1">
          <a:blip r:embed="rId3">
            <a:alphaModFix/>
          </a:blip>
          <a:srcRect l="23648" t="26097" r="23847" b="28499"/>
          <a:stretch/>
        </p:blipFill>
        <p:spPr>
          <a:xfrm>
            <a:off x="1042875" y="836125"/>
            <a:ext cx="6369525" cy="309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5DA5289-AB94-A00C-C5A0-ED95B8958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AED3EF0A-8763-5F06-A68D-26E0D6B81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449" y="-9082"/>
            <a:ext cx="1281977" cy="721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1107</Words>
  <Application>Microsoft Office PowerPoint</Application>
  <PresentationFormat>Presentación en pantalla (16:9)</PresentationFormat>
  <Paragraphs>104</Paragraphs>
  <Slides>21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Comfortaa</vt:lpstr>
      <vt:lpstr>Bungee</vt:lpstr>
      <vt:lpstr>Nunito</vt:lpstr>
      <vt:lpstr>Arial</vt:lpstr>
      <vt:lpstr>Simple Light</vt:lpstr>
      <vt:lpstr>Presentación de PowerPoint</vt:lpstr>
      <vt:lpstr>PLEXO BRAQUIAL </vt:lpstr>
      <vt:lpstr>¿QUÉ ES UN PLEXO NERVIOSO?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RELACIONES</vt:lpstr>
      <vt:lpstr>RELACIONES</vt:lpstr>
      <vt:lpstr>Nervio músculo cutáneo</vt:lpstr>
      <vt:lpstr>Presentación de PowerPoint</vt:lpstr>
      <vt:lpstr>Nervio cubital </vt:lpstr>
      <vt:lpstr>Presentación de PowerPoint</vt:lpstr>
      <vt:lpstr>Nervio mediano</vt:lpstr>
      <vt:lpstr>Presentación de PowerPoint</vt:lpstr>
      <vt:lpstr>Presentación de PowerPoint</vt:lpstr>
      <vt:lpstr>Nervio radial </vt:lpstr>
      <vt:lpstr>Presentación de PowerPoint</vt:lpstr>
      <vt:lpstr>Nervio circunflejo o axilar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PLEXO BRAQUIAL </dc:title>
  <cp:lastModifiedBy>Joyce Marinho</cp:lastModifiedBy>
  <cp:revision>2</cp:revision>
  <dcterms:modified xsi:type="dcterms:W3CDTF">2022-05-18T18:03:04Z</dcterms:modified>
</cp:coreProperties>
</file>
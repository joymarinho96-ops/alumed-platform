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8"/>
  </p:notesMasterIdLst>
  <p:sldIdLst>
    <p:sldId id="291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12a757b808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12a757b808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12a757b808b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12a757b808b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12a757b808b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12a757b808b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2a757b808b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12a757b808b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2a757b808b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12a757b808b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12a757b808b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12a757b808b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12a757b808b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12a757b808b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12a757b808b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12a757b808b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12a757b808b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12a757b808b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12a757b808b_0_2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12a757b808b_0_2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12a757b808b_0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12a757b808b_0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12a757b808b_0_2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12a757b808b_0_2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12a757b808b_0_2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12a757b808b_0_2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12a757b808b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12a757b808b_0_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12a757b808b_0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12a757b808b_0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2a757b808b_0_2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12a757b808b_0_2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12a757b808b_0_2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12a757b808b_0_2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12a757b808b_0_2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12a757b808b_0_2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12a757b808b_0_3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12a757b808b_0_3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12a757b808b_0_3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12a757b808b_0_3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12a757b808b_0_3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12a757b808b_0_3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12a757b808b_0_3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12a757b808b_0_3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12a757b808b_0_3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12a757b808b_0_3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12a757b808b_0_3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12a757b808b_0_3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12a757b808b_0_3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12a757b808b_0_3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12a757b808b_0_2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12a757b808b_0_2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12a757b808b_0_3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12a757b808b_0_3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12a757b808b_0_3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12a757b808b_0_3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12a757b808b_0_5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12a757b808b_0_5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12a757b808b_0_5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12a757b808b_0_5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12a757b808b_0_5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12a757b808b_0_5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12a757b808b_0_5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12a757b808b_0_5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12a757b808b_0_5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12a757b808b_0_5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12a757b808b_0_5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12a757b808b_0_5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7269033" y="4681042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3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3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3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3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E99E77-57A7-C35F-530E-6BC1FD028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pic>
        <p:nvPicPr>
          <p:cNvPr id="4" name="Imagen 3" descr="Imagen que contiene Texto&#10;&#10;Descripción generada automáticamente">
            <a:extLst>
              <a:ext uri="{FF2B5EF4-FFF2-40B4-BE49-F238E27FC236}">
                <a16:creationId xmlns:a16="http://schemas.microsoft.com/office/drawing/2014/main" id="{30553BED-0A94-C490-EABC-F429B491D8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0039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0" y="1400639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 dirty="0">
                <a:latin typeface="Bungee" pitchFamily="2" charset="0"/>
              </a:rPr>
              <a:t>OSTEOLOGÍA DEL MIEMBRO INFERIOR</a:t>
            </a:r>
            <a:endParaRPr b="1" dirty="0">
              <a:latin typeface="Bungee" pitchFamily="2" charset="0"/>
            </a:endParaRPr>
          </a:p>
        </p:txBody>
      </p:sp>
      <p:pic>
        <p:nvPicPr>
          <p:cNvPr id="3" name="Imagen 2" descr="Imagen que contiene Gráfico&#10;&#10;Descripción generada automáticamente">
            <a:extLst>
              <a:ext uri="{FF2B5EF4-FFF2-40B4-BE49-F238E27FC236}">
                <a16:creationId xmlns:a16="http://schemas.microsoft.com/office/drawing/2014/main" id="{7DC6DA73-AEE0-8661-97AA-469914FEB3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n 3" descr="Logotipo&#10;&#10;Descripción generada automáticamente">
            <a:extLst>
              <a:ext uri="{FF2B5EF4-FFF2-40B4-BE49-F238E27FC236}">
                <a16:creationId xmlns:a16="http://schemas.microsoft.com/office/drawing/2014/main" id="{3826FFDC-3219-F03D-5DC2-B32F7CAB5D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2083" y="50035"/>
            <a:ext cx="1404407" cy="78997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/>
              <a:t>¿CÓMO SE COMPONE EL MIEMBRO INFERIOR?</a:t>
            </a:r>
            <a:endParaRPr b="1"/>
          </a:p>
        </p:txBody>
      </p:sp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29502" y="1404900"/>
            <a:ext cx="1588250" cy="3452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1" name="Google Shape;61;p14"/>
          <p:cNvCxnSpPr/>
          <p:nvPr/>
        </p:nvCxnSpPr>
        <p:spPr>
          <a:xfrm rot="10800000">
            <a:off x="2393050" y="1682675"/>
            <a:ext cx="1392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2" name="Google Shape;62;p14"/>
          <p:cNvCxnSpPr/>
          <p:nvPr/>
        </p:nvCxnSpPr>
        <p:spPr>
          <a:xfrm rot="10800000">
            <a:off x="2554575" y="2480975"/>
            <a:ext cx="1415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" name="Google Shape;63;p14"/>
          <p:cNvCxnSpPr/>
          <p:nvPr/>
        </p:nvCxnSpPr>
        <p:spPr>
          <a:xfrm>
            <a:off x="4724325" y="3171375"/>
            <a:ext cx="1139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4" name="Google Shape;64;p14"/>
          <p:cNvCxnSpPr/>
          <p:nvPr/>
        </p:nvCxnSpPr>
        <p:spPr>
          <a:xfrm rot="10800000">
            <a:off x="2554550" y="3873275"/>
            <a:ext cx="13809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5" name="Google Shape;65;p14"/>
          <p:cNvCxnSpPr/>
          <p:nvPr/>
        </p:nvCxnSpPr>
        <p:spPr>
          <a:xfrm flipH="1">
            <a:off x="2497025" y="4667250"/>
            <a:ext cx="1219800" cy="11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6" name="Google Shape;66;p14"/>
          <p:cNvCxnSpPr/>
          <p:nvPr/>
        </p:nvCxnSpPr>
        <p:spPr>
          <a:xfrm>
            <a:off x="4694900" y="4333550"/>
            <a:ext cx="1369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7" name="Google Shape;67;p14"/>
          <p:cNvSpPr txBox="1"/>
          <p:nvPr/>
        </p:nvSpPr>
        <p:spPr>
          <a:xfrm>
            <a:off x="368375" y="1482575"/>
            <a:ext cx="1898700" cy="400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/>
              <a:t>Cintura pélvica </a:t>
            </a:r>
            <a:endParaRPr b="1"/>
          </a:p>
        </p:txBody>
      </p:sp>
      <p:sp>
        <p:nvSpPr>
          <p:cNvPr id="68" name="Google Shape;68;p14"/>
          <p:cNvSpPr txBox="1"/>
          <p:nvPr/>
        </p:nvSpPr>
        <p:spPr>
          <a:xfrm>
            <a:off x="1119125" y="2280875"/>
            <a:ext cx="1219800" cy="400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/>
              <a:t>Muslo </a:t>
            </a:r>
            <a:endParaRPr b="1"/>
          </a:p>
        </p:txBody>
      </p:sp>
      <p:sp>
        <p:nvSpPr>
          <p:cNvPr id="69" name="Google Shape;69;p14"/>
          <p:cNvSpPr txBox="1"/>
          <p:nvPr/>
        </p:nvSpPr>
        <p:spPr>
          <a:xfrm>
            <a:off x="6000775" y="2931150"/>
            <a:ext cx="1271700" cy="400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/>
              <a:t>Rodilla</a:t>
            </a:r>
            <a:endParaRPr b="1"/>
          </a:p>
        </p:txBody>
      </p:sp>
      <p:sp>
        <p:nvSpPr>
          <p:cNvPr id="70" name="Google Shape;70;p14"/>
          <p:cNvSpPr txBox="1"/>
          <p:nvPr/>
        </p:nvSpPr>
        <p:spPr>
          <a:xfrm>
            <a:off x="1277225" y="3617050"/>
            <a:ext cx="1219800" cy="400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/>
              <a:t>Pierna </a:t>
            </a:r>
            <a:endParaRPr b="1"/>
          </a:p>
        </p:txBody>
      </p:sp>
      <p:sp>
        <p:nvSpPr>
          <p:cNvPr id="71" name="Google Shape;71;p14"/>
          <p:cNvSpPr txBox="1"/>
          <p:nvPr/>
        </p:nvSpPr>
        <p:spPr>
          <a:xfrm>
            <a:off x="6213525" y="4133450"/>
            <a:ext cx="1219800" cy="400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/>
              <a:t>Tobillo </a:t>
            </a:r>
            <a:endParaRPr b="1"/>
          </a:p>
        </p:txBody>
      </p:sp>
      <p:sp>
        <p:nvSpPr>
          <p:cNvPr id="72" name="Google Shape;72;p14"/>
          <p:cNvSpPr txBox="1"/>
          <p:nvPr/>
        </p:nvSpPr>
        <p:spPr>
          <a:xfrm>
            <a:off x="1370675" y="4405125"/>
            <a:ext cx="1032900" cy="400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/>
              <a:t>Pie </a:t>
            </a:r>
            <a:endParaRPr b="1"/>
          </a:p>
        </p:txBody>
      </p:sp>
      <p:pic>
        <p:nvPicPr>
          <p:cNvPr id="17" name="Imagen 16" descr="Logotipo&#10;&#10;Descripción generada automáticamente">
            <a:extLst>
              <a:ext uri="{FF2B5EF4-FFF2-40B4-BE49-F238E27FC236}">
                <a16:creationId xmlns:a16="http://schemas.microsoft.com/office/drawing/2014/main" id="{0C8CD83F-531B-906D-264C-393746DCFE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2083" y="50035"/>
            <a:ext cx="1404407" cy="78997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/>
              <a:t>RECUERDEN…. OSTEOLOGÍA</a:t>
            </a:r>
            <a:endParaRPr b="1"/>
          </a:p>
        </p:txBody>
      </p:sp>
      <p:sp>
        <p:nvSpPr>
          <p:cNvPr id="78" name="Google Shape;78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-"/>
            </a:pPr>
            <a:r>
              <a:rPr lang="es-419" sz="2400">
                <a:solidFill>
                  <a:schemeClr val="dk1"/>
                </a:solidFill>
              </a:rPr>
              <a:t>TIPO DE HUESO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-"/>
            </a:pPr>
            <a:r>
              <a:rPr lang="es-419" sz="2400">
                <a:solidFill>
                  <a:schemeClr val="dk1"/>
                </a:solidFill>
              </a:rPr>
              <a:t>REGIÓN DONDE SE UBICA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-"/>
            </a:pPr>
            <a:r>
              <a:rPr lang="es-419" sz="2400">
                <a:solidFill>
                  <a:schemeClr val="dk1"/>
                </a:solidFill>
              </a:rPr>
              <a:t>DESCRIPCIÓN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-"/>
            </a:pPr>
            <a:r>
              <a:rPr lang="es-419" sz="2400">
                <a:solidFill>
                  <a:schemeClr val="dk1"/>
                </a:solidFill>
              </a:rPr>
              <a:t>¿DERECHO O IZQUIERDO?</a:t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4" name="Imagen 3" descr="Imagen que contiene Gráfico&#10;&#10;Descripción generada automáticamente">
            <a:extLst>
              <a:ext uri="{FF2B5EF4-FFF2-40B4-BE49-F238E27FC236}">
                <a16:creationId xmlns:a16="http://schemas.microsoft.com/office/drawing/2014/main" id="{DFCD10DE-F602-D344-56C5-6FA7A627C8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n 4" descr="Logotipo&#10;&#10;Descripción generada automáticamente">
            <a:extLst>
              <a:ext uri="{FF2B5EF4-FFF2-40B4-BE49-F238E27FC236}">
                <a16:creationId xmlns:a16="http://schemas.microsoft.com/office/drawing/2014/main" id="{C3467BDC-8AD6-8BE4-F34A-2BF8F7ADB7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2083" y="50035"/>
            <a:ext cx="1404407" cy="78997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>
                <a:highlight>
                  <a:srgbClr val="F9CB9C"/>
                </a:highlight>
              </a:rPr>
              <a:t>CINTURA PÉLVICA </a:t>
            </a:r>
            <a:endParaRPr b="1">
              <a:highlight>
                <a:srgbClr val="F9CB9C"/>
              </a:highlight>
            </a:endParaRPr>
          </a:p>
        </p:txBody>
      </p:sp>
      <p:pic>
        <p:nvPicPr>
          <p:cNvPr id="84" name="Google Shape;84;p16"/>
          <p:cNvPicPr preferRelativeResize="0"/>
          <p:nvPr/>
        </p:nvPicPr>
        <p:blipFill rotWithShape="1">
          <a:blip r:embed="rId3">
            <a:alphaModFix/>
          </a:blip>
          <a:srcRect l="14518" t="11729" r="11522" b="15595"/>
          <a:stretch/>
        </p:blipFill>
        <p:spPr>
          <a:xfrm>
            <a:off x="2321225" y="1199900"/>
            <a:ext cx="4611875" cy="33989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5" name="Google Shape;85;p16"/>
          <p:cNvCxnSpPr/>
          <p:nvPr/>
        </p:nvCxnSpPr>
        <p:spPr>
          <a:xfrm rot="10800000" flipH="1">
            <a:off x="5894325" y="1161050"/>
            <a:ext cx="1255200" cy="952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6" name="Google Shape;86;p16"/>
          <p:cNvSpPr txBox="1"/>
          <p:nvPr/>
        </p:nvSpPr>
        <p:spPr>
          <a:xfrm>
            <a:off x="7082175" y="799700"/>
            <a:ext cx="2297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/>
              <a:t>HUESO COXAL </a:t>
            </a:r>
            <a:endParaRPr b="1"/>
          </a:p>
        </p:txBody>
      </p:sp>
      <p:cxnSp>
        <p:nvCxnSpPr>
          <p:cNvPr id="87" name="Google Shape;87;p16"/>
          <p:cNvCxnSpPr/>
          <p:nvPr/>
        </p:nvCxnSpPr>
        <p:spPr>
          <a:xfrm flipH="1">
            <a:off x="2140400" y="2460925"/>
            <a:ext cx="2162700" cy="170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8" name="Google Shape;88;p16"/>
          <p:cNvSpPr txBox="1"/>
          <p:nvPr/>
        </p:nvSpPr>
        <p:spPr>
          <a:xfrm>
            <a:off x="4076963" y="4598875"/>
            <a:ext cx="1100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/>
              <a:t>COXIS  </a:t>
            </a:r>
            <a:endParaRPr b="1"/>
          </a:p>
        </p:txBody>
      </p:sp>
      <p:cxnSp>
        <p:nvCxnSpPr>
          <p:cNvPr id="89" name="Google Shape;89;p16"/>
          <p:cNvCxnSpPr/>
          <p:nvPr/>
        </p:nvCxnSpPr>
        <p:spPr>
          <a:xfrm flipH="1">
            <a:off x="4504725" y="3312575"/>
            <a:ext cx="22500" cy="1019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0" name="Google Shape;90;p16"/>
          <p:cNvSpPr txBox="1"/>
          <p:nvPr/>
        </p:nvSpPr>
        <p:spPr>
          <a:xfrm>
            <a:off x="1537525" y="4164325"/>
            <a:ext cx="2297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/>
              <a:t>SACRO </a:t>
            </a:r>
            <a:endParaRPr b="1"/>
          </a:p>
        </p:txBody>
      </p:sp>
      <p:pic>
        <p:nvPicPr>
          <p:cNvPr id="10" name="Imagen 9" descr="Imagen que contiene Gráfico&#10;&#10;Descripción generada automáticamente">
            <a:extLst>
              <a:ext uri="{FF2B5EF4-FFF2-40B4-BE49-F238E27FC236}">
                <a16:creationId xmlns:a16="http://schemas.microsoft.com/office/drawing/2014/main" id="{CE9E0199-E859-C944-7971-07371D6917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1" name="Imagen 10" descr="Logotipo&#10;&#10;Descripción generada automáticamente">
            <a:extLst>
              <a:ext uri="{FF2B5EF4-FFF2-40B4-BE49-F238E27FC236}">
                <a16:creationId xmlns:a16="http://schemas.microsoft.com/office/drawing/2014/main" id="{9C08DED6-2AC0-AC99-8247-84FA8625F0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2083" y="50035"/>
            <a:ext cx="1404407" cy="78997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>
                <a:highlight>
                  <a:srgbClr val="EA9999"/>
                </a:highlight>
              </a:rPr>
              <a:t>HUESO COXAL </a:t>
            </a:r>
            <a:endParaRPr b="1">
              <a:highlight>
                <a:srgbClr val="EA9999"/>
              </a:highlight>
            </a:endParaRPr>
          </a:p>
        </p:txBody>
      </p:sp>
      <p:pic>
        <p:nvPicPr>
          <p:cNvPr id="96" name="Google Shape;9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0350" y="395125"/>
            <a:ext cx="3431750" cy="459925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7"/>
          <p:cNvSpPr txBox="1"/>
          <p:nvPr/>
        </p:nvSpPr>
        <p:spPr>
          <a:xfrm>
            <a:off x="253150" y="1182925"/>
            <a:ext cx="3365700" cy="35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-419" b="1"/>
              <a:t>Tipo de hueso: </a:t>
            </a:r>
            <a:r>
              <a:rPr lang="es-419"/>
              <a:t>plano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-419" b="1"/>
              <a:t>Región</a:t>
            </a:r>
            <a:r>
              <a:rPr lang="es-419"/>
              <a:t>: cintura escapular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-419"/>
              <a:t>Hueso par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-419" b="1"/>
              <a:t>Descripción:</a:t>
            </a:r>
            <a:endParaRPr b="1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-419"/>
              <a:t>3 partes óseas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s-419"/>
              <a:t>2 caras( lateral o externa y medial o interna)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s-419"/>
              <a:t>4 bordes (anterior, posterior, superior, inferior)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-419"/>
              <a:t>4 ángulos</a:t>
            </a:r>
            <a:r>
              <a:rPr lang="es-419" sz="1100"/>
              <a:t>:</a:t>
            </a:r>
            <a:endParaRPr sz="1100"/>
          </a:p>
          <a:p>
            <a:pPr marL="1371600" lvl="2" indent="-304800" algn="l" rtl="0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s-419" sz="1100"/>
              <a:t>ángulo anterosuperior: EIAS</a:t>
            </a:r>
            <a:endParaRPr sz="1100"/>
          </a:p>
          <a:p>
            <a:pPr marL="1371600" lvl="2" indent="-304800" algn="l" rtl="0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s-419" sz="1100"/>
              <a:t>ángulo anteroinferior: ángulo del pubis</a:t>
            </a:r>
            <a:endParaRPr sz="1100"/>
          </a:p>
          <a:p>
            <a:pPr marL="1371600" lvl="2" indent="-304800" algn="l" rtl="0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s-419" sz="1100"/>
              <a:t>ángulo posteroinferior: Tuberosidad isquiática </a:t>
            </a:r>
            <a:endParaRPr sz="1100"/>
          </a:p>
          <a:p>
            <a:pPr marL="1371600" lvl="2" indent="-304800" algn="l" rtl="0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s-419" sz="1100"/>
              <a:t>ángulo posterosuperior: EIPS</a:t>
            </a:r>
            <a:endParaRPr sz="1100"/>
          </a:p>
        </p:txBody>
      </p:sp>
      <p:cxnSp>
        <p:nvCxnSpPr>
          <p:cNvPr id="98" name="Google Shape;98;p17"/>
          <p:cNvCxnSpPr/>
          <p:nvPr/>
        </p:nvCxnSpPr>
        <p:spPr>
          <a:xfrm>
            <a:off x="6529300" y="3210375"/>
            <a:ext cx="953400" cy="999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" name="Google Shape;99;p17"/>
          <p:cNvCxnSpPr/>
          <p:nvPr/>
        </p:nvCxnSpPr>
        <p:spPr>
          <a:xfrm flipH="1">
            <a:off x="7482575" y="3287975"/>
            <a:ext cx="33300" cy="4323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0" name="Google Shape;100;p17"/>
          <p:cNvCxnSpPr/>
          <p:nvPr/>
        </p:nvCxnSpPr>
        <p:spPr>
          <a:xfrm rot="10800000" flipH="1">
            <a:off x="7526950" y="3155050"/>
            <a:ext cx="487800" cy="155100"/>
          </a:xfrm>
          <a:prstGeom prst="straightConnector1">
            <a:avLst/>
          </a:prstGeom>
          <a:noFill/>
          <a:ln w="28575" cap="flat" cmpd="sng">
            <a:solidFill>
              <a:srgbClr val="6AA84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1" name="Google Shape;101;p17"/>
          <p:cNvCxnSpPr/>
          <p:nvPr/>
        </p:nvCxnSpPr>
        <p:spPr>
          <a:xfrm flipH="1">
            <a:off x="7515850" y="3332325"/>
            <a:ext cx="22200" cy="365700"/>
          </a:xfrm>
          <a:prstGeom prst="straightConnector1">
            <a:avLst/>
          </a:prstGeom>
          <a:noFill/>
          <a:ln w="28575" cap="flat" cmpd="sng">
            <a:solidFill>
              <a:srgbClr val="6AA84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2" name="Google Shape;102;p17"/>
          <p:cNvCxnSpPr/>
          <p:nvPr/>
        </p:nvCxnSpPr>
        <p:spPr>
          <a:xfrm flipH="1">
            <a:off x="7427150" y="4485175"/>
            <a:ext cx="33300" cy="2106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3" name="Google Shape;103;p17"/>
          <p:cNvCxnSpPr/>
          <p:nvPr/>
        </p:nvCxnSpPr>
        <p:spPr>
          <a:xfrm flipH="1">
            <a:off x="7460400" y="4496250"/>
            <a:ext cx="33300" cy="288300"/>
          </a:xfrm>
          <a:prstGeom prst="straightConnector1">
            <a:avLst/>
          </a:prstGeom>
          <a:noFill/>
          <a:ln w="28575" cap="flat" cmpd="sng">
            <a:solidFill>
              <a:srgbClr val="6AA84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4" name="Google Shape;104;p17"/>
          <p:cNvCxnSpPr>
            <a:endCxn id="95" idx="2"/>
          </p:cNvCxnSpPr>
          <p:nvPr/>
        </p:nvCxnSpPr>
        <p:spPr>
          <a:xfrm rot="10800000">
            <a:off x="4572000" y="1017725"/>
            <a:ext cx="1768800" cy="529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5" name="Google Shape;105;p17"/>
          <p:cNvCxnSpPr/>
          <p:nvPr/>
        </p:nvCxnSpPr>
        <p:spPr>
          <a:xfrm flipH="1">
            <a:off x="4312400" y="3664875"/>
            <a:ext cx="2582700" cy="321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6" name="Google Shape;106;p17"/>
          <p:cNvCxnSpPr/>
          <p:nvPr/>
        </p:nvCxnSpPr>
        <p:spPr>
          <a:xfrm flipH="1">
            <a:off x="4544950" y="4529500"/>
            <a:ext cx="3425400" cy="343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7" name="Google Shape;107;p17"/>
          <p:cNvSpPr txBox="1"/>
          <p:nvPr/>
        </p:nvSpPr>
        <p:spPr>
          <a:xfrm>
            <a:off x="3924275" y="782725"/>
            <a:ext cx="1019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/>
              <a:t>ILION</a:t>
            </a:r>
            <a:endParaRPr b="1"/>
          </a:p>
        </p:txBody>
      </p:sp>
      <p:sp>
        <p:nvSpPr>
          <p:cNvPr id="108" name="Google Shape;108;p17"/>
          <p:cNvSpPr txBox="1"/>
          <p:nvPr/>
        </p:nvSpPr>
        <p:spPr>
          <a:xfrm>
            <a:off x="3359000" y="3777275"/>
            <a:ext cx="953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>
                <a:solidFill>
                  <a:schemeClr val="dk1"/>
                </a:solidFill>
              </a:rPr>
              <a:t>ISQUION</a:t>
            </a:r>
            <a:endParaRPr/>
          </a:p>
        </p:txBody>
      </p:sp>
      <p:sp>
        <p:nvSpPr>
          <p:cNvPr id="109" name="Google Shape;109;p17"/>
          <p:cNvSpPr txBox="1"/>
          <p:nvPr/>
        </p:nvSpPr>
        <p:spPr>
          <a:xfrm>
            <a:off x="3843000" y="4695775"/>
            <a:ext cx="881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>
                <a:solidFill>
                  <a:schemeClr val="dk1"/>
                </a:solidFill>
              </a:rPr>
              <a:t>PUBIS</a:t>
            </a:r>
            <a:endParaRPr/>
          </a:p>
        </p:txBody>
      </p:sp>
      <p:sp>
        <p:nvSpPr>
          <p:cNvPr id="110" name="Google Shape;110;p17"/>
          <p:cNvSpPr txBox="1"/>
          <p:nvPr/>
        </p:nvSpPr>
        <p:spPr>
          <a:xfrm>
            <a:off x="7596475" y="0"/>
            <a:ext cx="1366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>
                <a:solidFill>
                  <a:schemeClr val="dk1"/>
                </a:solidFill>
              </a:rPr>
              <a:t>Cara externa </a:t>
            </a:r>
            <a:endParaRPr/>
          </a:p>
        </p:txBody>
      </p:sp>
      <p:pic>
        <p:nvPicPr>
          <p:cNvPr id="19" name="Imagen 18" descr="Logotipo&#10;&#10;Descripción generada automáticamente">
            <a:extLst>
              <a:ext uri="{FF2B5EF4-FFF2-40B4-BE49-F238E27FC236}">
                <a16:creationId xmlns:a16="http://schemas.microsoft.com/office/drawing/2014/main" id="{A711E401-C5CB-B7E8-7DF2-6A2C97CD57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0350" y="336385"/>
            <a:ext cx="1404407" cy="78997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CARA INTERNA </a:t>
            </a:r>
            <a:endParaRPr/>
          </a:p>
        </p:txBody>
      </p:sp>
      <p:pic>
        <p:nvPicPr>
          <p:cNvPr id="116" name="Google Shape;11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77775" y="938825"/>
            <a:ext cx="2810162" cy="37006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7" name="Google Shape;117;p18"/>
          <p:cNvCxnSpPr/>
          <p:nvPr/>
        </p:nvCxnSpPr>
        <p:spPr>
          <a:xfrm rot="10800000">
            <a:off x="2077050" y="3008075"/>
            <a:ext cx="2163900" cy="21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8" name="Google Shape;118;p18"/>
          <p:cNvSpPr txBox="1"/>
          <p:nvPr/>
        </p:nvSpPr>
        <p:spPr>
          <a:xfrm>
            <a:off x="609100" y="2742575"/>
            <a:ext cx="1848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/>
              <a:t>Línea arqueada</a:t>
            </a:r>
            <a:r>
              <a:rPr lang="es-419"/>
              <a:t> </a:t>
            </a:r>
            <a:endParaRPr/>
          </a:p>
        </p:txBody>
      </p:sp>
      <p:cxnSp>
        <p:nvCxnSpPr>
          <p:cNvPr id="119" name="Google Shape;119;p18"/>
          <p:cNvCxnSpPr/>
          <p:nvPr/>
        </p:nvCxnSpPr>
        <p:spPr>
          <a:xfrm rot="10800000">
            <a:off x="2229450" y="2093675"/>
            <a:ext cx="2163900" cy="21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0" name="Google Shape;120;p18"/>
          <p:cNvSpPr txBox="1"/>
          <p:nvPr/>
        </p:nvSpPr>
        <p:spPr>
          <a:xfrm>
            <a:off x="1142850" y="1908650"/>
            <a:ext cx="1848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/>
              <a:t>Fosa ilíaca </a:t>
            </a:r>
            <a:endParaRPr/>
          </a:p>
        </p:txBody>
      </p:sp>
      <p:cxnSp>
        <p:nvCxnSpPr>
          <p:cNvPr id="121" name="Google Shape;121;p18"/>
          <p:cNvCxnSpPr/>
          <p:nvPr/>
        </p:nvCxnSpPr>
        <p:spPr>
          <a:xfrm>
            <a:off x="5383950" y="2420075"/>
            <a:ext cx="1978800" cy="22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2" name="Google Shape;122;p18"/>
          <p:cNvSpPr txBox="1"/>
          <p:nvPr/>
        </p:nvSpPr>
        <p:spPr>
          <a:xfrm>
            <a:off x="7362750" y="2231225"/>
            <a:ext cx="1848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/>
              <a:t>Carilla articular</a:t>
            </a:r>
            <a:r>
              <a:rPr lang="es-419"/>
              <a:t> </a:t>
            </a:r>
            <a:endParaRPr/>
          </a:p>
        </p:txBody>
      </p:sp>
      <p:sp>
        <p:nvSpPr>
          <p:cNvPr id="123" name="Google Shape;123;p18"/>
          <p:cNvSpPr txBox="1"/>
          <p:nvPr/>
        </p:nvSpPr>
        <p:spPr>
          <a:xfrm>
            <a:off x="7242700" y="1671200"/>
            <a:ext cx="1848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/>
              <a:t>Tuberosidad ilíaca </a:t>
            </a:r>
            <a:r>
              <a:rPr lang="es-419"/>
              <a:t> </a:t>
            </a:r>
            <a:endParaRPr/>
          </a:p>
        </p:txBody>
      </p:sp>
      <p:cxnSp>
        <p:nvCxnSpPr>
          <p:cNvPr id="124" name="Google Shape;124;p18"/>
          <p:cNvCxnSpPr/>
          <p:nvPr/>
        </p:nvCxnSpPr>
        <p:spPr>
          <a:xfrm rot="10800000" flipH="1">
            <a:off x="5884600" y="1855100"/>
            <a:ext cx="1466700" cy="4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5" name="Google Shape;125;p18"/>
          <p:cNvCxnSpPr/>
          <p:nvPr/>
        </p:nvCxnSpPr>
        <p:spPr>
          <a:xfrm flipH="1">
            <a:off x="2772775" y="3682125"/>
            <a:ext cx="1163700" cy="43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6" name="Google Shape;126;p18"/>
          <p:cNvCxnSpPr/>
          <p:nvPr/>
        </p:nvCxnSpPr>
        <p:spPr>
          <a:xfrm flipH="1">
            <a:off x="4349675" y="4334575"/>
            <a:ext cx="261000" cy="435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7" name="Google Shape;127;p18"/>
          <p:cNvCxnSpPr/>
          <p:nvPr/>
        </p:nvCxnSpPr>
        <p:spPr>
          <a:xfrm rot="10800000" flipH="1">
            <a:off x="4980375" y="3323275"/>
            <a:ext cx="2229300" cy="174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8" name="Google Shape;128;p18"/>
          <p:cNvCxnSpPr/>
          <p:nvPr/>
        </p:nvCxnSpPr>
        <p:spPr>
          <a:xfrm>
            <a:off x="5110875" y="4377975"/>
            <a:ext cx="1815900" cy="467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9" name="Google Shape;129;p18"/>
          <p:cNvSpPr txBox="1"/>
          <p:nvPr/>
        </p:nvSpPr>
        <p:spPr>
          <a:xfrm>
            <a:off x="2772775" y="4693375"/>
            <a:ext cx="2033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rama inferior del pubis</a:t>
            </a:r>
            <a:endParaRPr/>
          </a:p>
        </p:txBody>
      </p:sp>
      <p:sp>
        <p:nvSpPr>
          <p:cNvPr id="130" name="Google Shape;130;p18"/>
          <p:cNvSpPr txBox="1"/>
          <p:nvPr/>
        </p:nvSpPr>
        <p:spPr>
          <a:xfrm>
            <a:off x="815475" y="3500300"/>
            <a:ext cx="2163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rama superior del pubis</a:t>
            </a:r>
            <a:endParaRPr/>
          </a:p>
        </p:txBody>
      </p:sp>
      <p:sp>
        <p:nvSpPr>
          <p:cNvPr id="131" name="Google Shape;131;p18"/>
          <p:cNvSpPr txBox="1"/>
          <p:nvPr/>
        </p:nvSpPr>
        <p:spPr>
          <a:xfrm>
            <a:off x="7209675" y="3097075"/>
            <a:ext cx="1815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rama del isquion</a:t>
            </a:r>
            <a:endParaRPr/>
          </a:p>
        </p:txBody>
      </p:sp>
      <p:sp>
        <p:nvSpPr>
          <p:cNvPr id="132" name="Google Shape;132;p18"/>
          <p:cNvSpPr txBox="1"/>
          <p:nvPr/>
        </p:nvSpPr>
        <p:spPr>
          <a:xfrm>
            <a:off x="6926775" y="4665275"/>
            <a:ext cx="1631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cuerpo del isquion</a:t>
            </a:r>
            <a:endParaRPr/>
          </a:p>
        </p:txBody>
      </p:sp>
      <p:pic>
        <p:nvPicPr>
          <p:cNvPr id="20" name="Imagen 19" descr="Logotipo&#10;&#10;Descripción generada automáticamente">
            <a:extLst>
              <a:ext uri="{FF2B5EF4-FFF2-40B4-BE49-F238E27FC236}">
                <a16:creationId xmlns:a16="http://schemas.microsoft.com/office/drawing/2014/main" id="{13A3136D-47BB-4262-3AAF-812AEC08D7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2083" y="50035"/>
            <a:ext cx="1404407" cy="78997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CARA EXTERNA</a:t>
            </a:r>
            <a:endParaRPr/>
          </a:p>
        </p:txBody>
      </p:sp>
      <p:pic>
        <p:nvPicPr>
          <p:cNvPr id="138" name="Google Shape;138;p19"/>
          <p:cNvPicPr preferRelativeResize="0"/>
          <p:nvPr/>
        </p:nvPicPr>
        <p:blipFill rotWithShape="1">
          <a:blip r:embed="rId3">
            <a:alphaModFix/>
          </a:blip>
          <a:srcRect r="39968"/>
          <a:stretch/>
        </p:blipFill>
        <p:spPr>
          <a:xfrm>
            <a:off x="3267575" y="118163"/>
            <a:ext cx="3387423" cy="4907176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9"/>
          <p:cNvSpPr/>
          <p:nvPr/>
        </p:nvSpPr>
        <p:spPr>
          <a:xfrm>
            <a:off x="4295300" y="887450"/>
            <a:ext cx="1990037" cy="1326591"/>
          </a:xfrm>
          <a:custGeom>
            <a:avLst/>
            <a:gdLst/>
            <a:ahLst/>
            <a:cxnLst/>
            <a:rect l="l" t="t" r="r" b="b"/>
            <a:pathLst>
              <a:path w="74380" h="53154" extrusionOk="0">
                <a:moveTo>
                  <a:pt x="0" y="53154"/>
                </a:moveTo>
                <a:cubicBezTo>
                  <a:pt x="0" y="45470"/>
                  <a:pt x="8742" y="40454"/>
                  <a:pt x="12179" y="33581"/>
                </a:cubicBezTo>
                <a:cubicBezTo>
                  <a:pt x="18356" y="21226"/>
                  <a:pt x="26784" y="9055"/>
                  <a:pt x="38277" y="1393"/>
                </a:cubicBezTo>
                <a:cubicBezTo>
                  <a:pt x="44690" y="-2883"/>
                  <a:pt x="53852" y="3952"/>
                  <a:pt x="60461" y="7918"/>
                </a:cubicBezTo>
                <a:cubicBezTo>
                  <a:pt x="65360" y="10858"/>
                  <a:pt x="68666" y="17922"/>
                  <a:pt x="74380" y="17922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sp>
      <p:cxnSp>
        <p:nvCxnSpPr>
          <p:cNvPr id="140" name="Google Shape;140;p19"/>
          <p:cNvCxnSpPr/>
          <p:nvPr/>
        </p:nvCxnSpPr>
        <p:spPr>
          <a:xfrm rot="10800000" flipH="1">
            <a:off x="5937325" y="724225"/>
            <a:ext cx="1305000" cy="424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1" name="Google Shape;141;p19"/>
          <p:cNvCxnSpPr/>
          <p:nvPr/>
        </p:nvCxnSpPr>
        <p:spPr>
          <a:xfrm flipH="1">
            <a:off x="2163850" y="1713950"/>
            <a:ext cx="1870500" cy="402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2" name="Google Shape;142;p19"/>
          <p:cNvSpPr txBox="1"/>
          <p:nvPr/>
        </p:nvSpPr>
        <p:spPr>
          <a:xfrm>
            <a:off x="7166100" y="445025"/>
            <a:ext cx="2196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/>
              <a:t>Línea glútea anterior</a:t>
            </a:r>
            <a:r>
              <a:rPr lang="es-419"/>
              <a:t> </a:t>
            </a:r>
            <a:endParaRPr/>
          </a:p>
        </p:txBody>
      </p:sp>
      <p:sp>
        <p:nvSpPr>
          <p:cNvPr id="143" name="Google Shape;143;p19"/>
          <p:cNvSpPr txBox="1"/>
          <p:nvPr/>
        </p:nvSpPr>
        <p:spPr>
          <a:xfrm>
            <a:off x="155700" y="1892825"/>
            <a:ext cx="2196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/>
              <a:t>Línea glútea posterior</a:t>
            </a:r>
            <a:r>
              <a:rPr lang="es-419"/>
              <a:t> </a:t>
            </a:r>
            <a:endParaRPr/>
          </a:p>
        </p:txBody>
      </p:sp>
      <p:cxnSp>
        <p:nvCxnSpPr>
          <p:cNvPr id="144" name="Google Shape;144;p19"/>
          <p:cNvCxnSpPr/>
          <p:nvPr/>
        </p:nvCxnSpPr>
        <p:spPr>
          <a:xfrm flipH="1">
            <a:off x="3267575" y="3421350"/>
            <a:ext cx="1870500" cy="402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5" name="Google Shape;145;p19"/>
          <p:cNvCxnSpPr/>
          <p:nvPr/>
        </p:nvCxnSpPr>
        <p:spPr>
          <a:xfrm flipH="1">
            <a:off x="3294875" y="2571750"/>
            <a:ext cx="1848600" cy="262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6" name="Google Shape;146;p19"/>
          <p:cNvCxnSpPr/>
          <p:nvPr/>
        </p:nvCxnSpPr>
        <p:spPr>
          <a:xfrm>
            <a:off x="5252725" y="3747925"/>
            <a:ext cx="1271700" cy="303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7" name="Google Shape;147;p19"/>
          <p:cNvSpPr txBox="1"/>
          <p:nvPr/>
        </p:nvSpPr>
        <p:spPr>
          <a:xfrm>
            <a:off x="1761675" y="3640800"/>
            <a:ext cx="1786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/>
              <a:t>Fosa acetabular</a:t>
            </a:r>
            <a:r>
              <a:rPr lang="es-419"/>
              <a:t> </a:t>
            </a:r>
            <a:endParaRPr/>
          </a:p>
        </p:txBody>
      </p:sp>
      <p:sp>
        <p:nvSpPr>
          <p:cNvPr id="148" name="Google Shape;148;p19"/>
          <p:cNvSpPr txBox="1"/>
          <p:nvPr/>
        </p:nvSpPr>
        <p:spPr>
          <a:xfrm>
            <a:off x="1674775" y="2657088"/>
            <a:ext cx="1786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/>
              <a:t>Borde acetabular</a:t>
            </a:r>
            <a:r>
              <a:rPr lang="es-419"/>
              <a:t> </a:t>
            </a:r>
            <a:endParaRPr/>
          </a:p>
        </p:txBody>
      </p:sp>
      <p:sp>
        <p:nvSpPr>
          <p:cNvPr id="149" name="Google Shape;149;p19"/>
          <p:cNvSpPr txBox="1"/>
          <p:nvPr/>
        </p:nvSpPr>
        <p:spPr>
          <a:xfrm>
            <a:off x="6530775" y="3856125"/>
            <a:ext cx="2249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/>
              <a:t>Escotadura acetabular </a:t>
            </a:r>
            <a:endParaRPr/>
          </a:p>
        </p:txBody>
      </p:sp>
      <p:cxnSp>
        <p:nvCxnSpPr>
          <p:cNvPr id="150" name="Google Shape;150;p19"/>
          <p:cNvCxnSpPr/>
          <p:nvPr/>
        </p:nvCxnSpPr>
        <p:spPr>
          <a:xfrm rot="10800000" flipH="1">
            <a:off x="5219625" y="2888375"/>
            <a:ext cx="1848600" cy="10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1" name="Google Shape;151;p19"/>
          <p:cNvSpPr txBox="1"/>
          <p:nvPr/>
        </p:nvSpPr>
        <p:spPr>
          <a:xfrm>
            <a:off x="6999575" y="2693675"/>
            <a:ext cx="1786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/>
              <a:t>Carilla semilunar</a:t>
            </a:r>
            <a:endParaRPr b="1"/>
          </a:p>
        </p:txBody>
      </p:sp>
      <p:cxnSp>
        <p:nvCxnSpPr>
          <p:cNvPr id="152" name="Google Shape;152;p19"/>
          <p:cNvCxnSpPr/>
          <p:nvPr/>
        </p:nvCxnSpPr>
        <p:spPr>
          <a:xfrm>
            <a:off x="5089125" y="4149725"/>
            <a:ext cx="1631100" cy="326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3" name="Google Shape;153;p19"/>
          <p:cNvSpPr txBox="1"/>
          <p:nvPr/>
        </p:nvSpPr>
        <p:spPr>
          <a:xfrm>
            <a:off x="6720225" y="4269325"/>
            <a:ext cx="1870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/>
              <a:t>agujero obturado</a:t>
            </a:r>
            <a:r>
              <a:rPr lang="es-419"/>
              <a:t> </a:t>
            </a:r>
            <a:endParaRPr/>
          </a:p>
        </p:txBody>
      </p:sp>
      <p:cxnSp>
        <p:nvCxnSpPr>
          <p:cNvPr id="154" name="Google Shape;154;p19"/>
          <p:cNvCxnSpPr/>
          <p:nvPr/>
        </p:nvCxnSpPr>
        <p:spPr>
          <a:xfrm flipH="1">
            <a:off x="2484775" y="3986975"/>
            <a:ext cx="1870500" cy="402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5" name="Google Shape;155;p19"/>
          <p:cNvSpPr txBox="1"/>
          <p:nvPr/>
        </p:nvSpPr>
        <p:spPr>
          <a:xfrm>
            <a:off x="445775" y="4208900"/>
            <a:ext cx="2196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/>
              <a:t>tuberosidad isquiática</a:t>
            </a:r>
            <a:endParaRPr b="1"/>
          </a:p>
        </p:txBody>
      </p:sp>
      <p:pic>
        <p:nvPicPr>
          <p:cNvPr id="21" name="Imagen 20" descr="Logotipo&#10;&#10;Descripción generada automáticamente">
            <a:extLst>
              <a:ext uri="{FF2B5EF4-FFF2-40B4-BE49-F238E27FC236}">
                <a16:creationId xmlns:a16="http://schemas.microsoft.com/office/drawing/2014/main" id="{46ADC691-2451-B939-792C-374ECE963D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9788" y="38482"/>
            <a:ext cx="980773" cy="55168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BORDE ANTERIOR</a:t>
            </a:r>
            <a:endParaRPr/>
          </a:p>
        </p:txBody>
      </p:sp>
      <p:pic>
        <p:nvPicPr>
          <p:cNvPr id="161" name="Google Shape;161;p20"/>
          <p:cNvPicPr preferRelativeResize="0"/>
          <p:nvPr/>
        </p:nvPicPr>
        <p:blipFill rotWithShape="1">
          <a:blip r:embed="rId3">
            <a:alphaModFix/>
          </a:blip>
          <a:srcRect r="39968"/>
          <a:stretch/>
        </p:blipFill>
        <p:spPr>
          <a:xfrm>
            <a:off x="5414950" y="1135796"/>
            <a:ext cx="2409600" cy="349065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2" name="Google Shape;162;p20"/>
          <p:cNvCxnSpPr/>
          <p:nvPr/>
        </p:nvCxnSpPr>
        <p:spPr>
          <a:xfrm rot="10800000" flipH="1">
            <a:off x="7399975" y="1420275"/>
            <a:ext cx="560100" cy="71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3" name="Google Shape;163;p20"/>
          <p:cNvCxnSpPr/>
          <p:nvPr/>
        </p:nvCxnSpPr>
        <p:spPr>
          <a:xfrm>
            <a:off x="7172950" y="2805523"/>
            <a:ext cx="580500" cy="333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64" name="Google Shape;164;p20"/>
          <p:cNvSpPr txBox="1"/>
          <p:nvPr/>
        </p:nvSpPr>
        <p:spPr>
          <a:xfrm>
            <a:off x="6970375" y="1042000"/>
            <a:ext cx="24096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 b="1"/>
              <a:t>Espina ilíaca anterosuperior</a:t>
            </a:r>
            <a:endParaRPr sz="1100" b="1"/>
          </a:p>
        </p:txBody>
      </p:sp>
      <p:sp>
        <p:nvSpPr>
          <p:cNvPr id="165" name="Google Shape;165;p20"/>
          <p:cNvSpPr txBox="1"/>
          <p:nvPr/>
        </p:nvSpPr>
        <p:spPr>
          <a:xfrm>
            <a:off x="7093250" y="3138525"/>
            <a:ext cx="2409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 b="1"/>
              <a:t>Espina ilíaca ant</a:t>
            </a:r>
            <a:r>
              <a:rPr lang="es-419" sz="1200" b="1"/>
              <a:t>eroinferior</a:t>
            </a:r>
            <a:endParaRPr sz="1200" b="1"/>
          </a:p>
        </p:txBody>
      </p:sp>
      <p:sp>
        <p:nvSpPr>
          <p:cNvPr id="166" name="Google Shape;166;p20"/>
          <p:cNvSpPr txBox="1"/>
          <p:nvPr/>
        </p:nvSpPr>
        <p:spPr>
          <a:xfrm>
            <a:off x="7399975" y="2459100"/>
            <a:ext cx="24096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 b="1"/>
              <a:t>Escotadura innominada</a:t>
            </a:r>
            <a:endParaRPr sz="1100" b="1"/>
          </a:p>
        </p:txBody>
      </p:sp>
      <p:pic>
        <p:nvPicPr>
          <p:cNvPr id="167" name="Google Shape;167;p20"/>
          <p:cNvPicPr preferRelativeResize="0"/>
          <p:nvPr/>
        </p:nvPicPr>
        <p:blipFill rotWithShape="1">
          <a:blip r:embed="rId4">
            <a:alphaModFix/>
          </a:blip>
          <a:srcRect l="35103" t="22828" r="34122" b="41557"/>
          <a:stretch/>
        </p:blipFill>
        <p:spPr>
          <a:xfrm>
            <a:off x="456700" y="1135800"/>
            <a:ext cx="2693451" cy="1752524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0"/>
          <p:cNvSpPr/>
          <p:nvPr/>
        </p:nvSpPr>
        <p:spPr>
          <a:xfrm>
            <a:off x="1979100" y="1355050"/>
            <a:ext cx="978675" cy="565450"/>
          </a:xfrm>
          <a:custGeom>
            <a:avLst/>
            <a:gdLst/>
            <a:ahLst/>
            <a:cxnLst/>
            <a:rect l="l" t="t" r="r" b="b"/>
            <a:pathLst>
              <a:path w="39147" h="22618" extrusionOk="0">
                <a:moveTo>
                  <a:pt x="0" y="22618"/>
                </a:moveTo>
                <a:cubicBezTo>
                  <a:pt x="9211" y="22618"/>
                  <a:pt x="16989" y="15096"/>
                  <a:pt x="24358" y="9569"/>
                </a:cubicBezTo>
                <a:cubicBezTo>
                  <a:pt x="29055" y="6046"/>
                  <a:pt x="36521" y="5252"/>
                  <a:pt x="39147" y="0"/>
                </a:cubicBezTo>
              </a:path>
            </a:pathLst>
          </a:cu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sp>
      <p:pic>
        <p:nvPicPr>
          <p:cNvPr id="169" name="Google Shape;169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38375" y="2235850"/>
            <a:ext cx="2060675" cy="271372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0"/>
          <p:cNvSpPr/>
          <p:nvPr/>
        </p:nvSpPr>
        <p:spPr>
          <a:xfrm>
            <a:off x="7302574" y="2235850"/>
            <a:ext cx="331125" cy="478475"/>
          </a:xfrm>
          <a:custGeom>
            <a:avLst/>
            <a:gdLst/>
            <a:ahLst/>
            <a:cxnLst/>
            <a:rect l="l" t="t" r="r" b="b"/>
            <a:pathLst>
              <a:path w="13245" h="19139" extrusionOk="0">
                <a:moveTo>
                  <a:pt x="13245" y="0"/>
                </a:moveTo>
                <a:cubicBezTo>
                  <a:pt x="8005" y="5240"/>
                  <a:pt x="-4692" y="15825"/>
                  <a:pt x="1936" y="19139"/>
                </a:cubicBezTo>
              </a:path>
            </a:pathLst>
          </a:cu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sp>
      <p:cxnSp>
        <p:nvCxnSpPr>
          <p:cNvPr id="171" name="Google Shape;171;p20"/>
          <p:cNvCxnSpPr/>
          <p:nvPr/>
        </p:nvCxnSpPr>
        <p:spPr>
          <a:xfrm flipH="1">
            <a:off x="2392450" y="3921350"/>
            <a:ext cx="1424400" cy="326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2" name="Google Shape;172;p20"/>
          <p:cNvSpPr txBox="1"/>
          <p:nvPr/>
        </p:nvSpPr>
        <p:spPr>
          <a:xfrm>
            <a:off x="922625" y="3507825"/>
            <a:ext cx="17616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 b="1"/>
              <a:t>superficie pectínea</a:t>
            </a:r>
            <a:endParaRPr sz="1100" b="1"/>
          </a:p>
        </p:txBody>
      </p:sp>
      <p:sp>
        <p:nvSpPr>
          <p:cNvPr id="173" name="Google Shape;173;p20"/>
          <p:cNvSpPr txBox="1"/>
          <p:nvPr/>
        </p:nvSpPr>
        <p:spPr>
          <a:xfrm>
            <a:off x="1116450" y="4030100"/>
            <a:ext cx="1881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b="1"/>
              <a:t>línea arqueada </a:t>
            </a:r>
            <a:endParaRPr sz="1200" b="1"/>
          </a:p>
        </p:txBody>
      </p:sp>
      <p:cxnSp>
        <p:nvCxnSpPr>
          <p:cNvPr id="174" name="Google Shape;174;p20"/>
          <p:cNvCxnSpPr/>
          <p:nvPr/>
        </p:nvCxnSpPr>
        <p:spPr>
          <a:xfrm rot="10800000">
            <a:off x="2305225" y="3693075"/>
            <a:ext cx="1435500" cy="141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5" name="Google Shape;175;p20"/>
          <p:cNvCxnSpPr/>
          <p:nvPr/>
        </p:nvCxnSpPr>
        <p:spPr>
          <a:xfrm flipH="1">
            <a:off x="2348975" y="4475950"/>
            <a:ext cx="1076400" cy="152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6" name="Google Shape;176;p20"/>
          <p:cNvSpPr txBox="1"/>
          <p:nvPr/>
        </p:nvSpPr>
        <p:spPr>
          <a:xfrm>
            <a:off x="1116450" y="4481325"/>
            <a:ext cx="1593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 b="1"/>
              <a:t>espina del pubis </a:t>
            </a:r>
            <a:endParaRPr sz="1100" b="1"/>
          </a:p>
        </p:txBody>
      </p:sp>
      <p:pic>
        <p:nvPicPr>
          <p:cNvPr id="19" name="Imagen 18" descr="Logotipo&#10;&#10;Descripción generada automáticamente">
            <a:extLst>
              <a:ext uri="{FF2B5EF4-FFF2-40B4-BE49-F238E27FC236}">
                <a16:creationId xmlns:a16="http://schemas.microsoft.com/office/drawing/2014/main" id="{9E965A75-E8EE-5847-16B4-16AFF2FD4D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2083" y="50035"/>
            <a:ext cx="1404407" cy="78997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BORDE POSTERIOR</a:t>
            </a:r>
            <a:endParaRPr/>
          </a:p>
        </p:txBody>
      </p:sp>
      <p:pic>
        <p:nvPicPr>
          <p:cNvPr id="182" name="Google Shape;182;p21"/>
          <p:cNvPicPr preferRelativeResize="0"/>
          <p:nvPr/>
        </p:nvPicPr>
        <p:blipFill rotWithShape="1">
          <a:blip r:embed="rId3">
            <a:alphaModFix/>
          </a:blip>
          <a:srcRect r="39968"/>
          <a:stretch/>
        </p:blipFill>
        <p:spPr>
          <a:xfrm>
            <a:off x="5045625" y="147725"/>
            <a:ext cx="3061652" cy="44352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3" name="Google Shape;183;p21"/>
          <p:cNvCxnSpPr/>
          <p:nvPr/>
        </p:nvCxnSpPr>
        <p:spPr>
          <a:xfrm flipH="1">
            <a:off x="4415025" y="1561650"/>
            <a:ext cx="761100" cy="65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4" name="Google Shape;184;p21"/>
          <p:cNvCxnSpPr/>
          <p:nvPr/>
        </p:nvCxnSpPr>
        <p:spPr>
          <a:xfrm flipH="1">
            <a:off x="4654100" y="2138000"/>
            <a:ext cx="696000" cy="76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5" name="Google Shape;185;p21"/>
          <p:cNvCxnSpPr/>
          <p:nvPr/>
        </p:nvCxnSpPr>
        <p:spPr>
          <a:xfrm rot="10800000">
            <a:off x="4817350" y="3116675"/>
            <a:ext cx="848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6" name="Google Shape;186;p21"/>
          <p:cNvCxnSpPr/>
          <p:nvPr/>
        </p:nvCxnSpPr>
        <p:spPr>
          <a:xfrm flipH="1">
            <a:off x="4904250" y="2344600"/>
            <a:ext cx="1228800" cy="380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87" name="Google Shape;187;p21"/>
          <p:cNvSpPr txBox="1"/>
          <p:nvPr/>
        </p:nvSpPr>
        <p:spPr>
          <a:xfrm>
            <a:off x="2077150" y="1461600"/>
            <a:ext cx="2892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b="1"/>
              <a:t>Espina ilíaca póstero superior</a:t>
            </a:r>
            <a:endParaRPr sz="1200" b="1"/>
          </a:p>
        </p:txBody>
      </p:sp>
      <p:sp>
        <p:nvSpPr>
          <p:cNvPr id="188" name="Google Shape;188;p21"/>
          <p:cNvSpPr txBox="1"/>
          <p:nvPr/>
        </p:nvSpPr>
        <p:spPr>
          <a:xfrm>
            <a:off x="2403150" y="2034813"/>
            <a:ext cx="2348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b="1"/>
              <a:t>Espina ilíaca póstero inferior </a:t>
            </a:r>
            <a:endParaRPr sz="1200" b="1"/>
          </a:p>
        </p:txBody>
      </p:sp>
      <p:sp>
        <p:nvSpPr>
          <p:cNvPr id="189" name="Google Shape;189;p21"/>
          <p:cNvSpPr txBox="1"/>
          <p:nvPr/>
        </p:nvSpPr>
        <p:spPr>
          <a:xfrm>
            <a:off x="2773125" y="2531850"/>
            <a:ext cx="2348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b="1"/>
              <a:t>Escotadura ciática mayor </a:t>
            </a:r>
            <a:endParaRPr sz="1200" b="1"/>
          </a:p>
        </p:txBody>
      </p:sp>
      <p:sp>
        <p:nvSpPr>
          <p:cNvPr id="190" name="Google Shape;190;p21"/>
          <p:cNvSpPr txBox="1"/>
          <p:nvPr/>
        </p:nvSpPr>
        <p:spPr>
          <a:xfrm>
            <a:off x="3523750" y="2916575"/>
            <a:ext cx="1293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b="1"/>
              <a:t>Espina ciática</a:t>
            </a:r>
            <a:r>
              <a:rPr lang="es-419"/>
              <a:t> </a:t>
            </a:r>
            <a:endParaRPr/>
          </a:p>
        </p:txBody>
      </p:sp>
      <p:sp>
        <p:nvSpPr>
          <p:cNvPr id="191" name="Google Shape;191;p21"/>
          <p:cNvSpPr txBox="1"/>
          <p:nvPr/>
        </p:nvSpPr>
        <p:spPr>
          <a:xfrm>
            <a:off x="2827425" y="3442850"/>
            <a:ext cx="2348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 b="1"/>
              <a:t>Escotadura ciática menor</a:t>
            </a:r>
            <a:r>
              <a:rPr lang="es-419"/>
              <a:t> </a:t>
            </a:r>
            <a:endParaRPr/>
          </a:p>
        </p:txBody>
      </p:sp>
      <p:sp>
        <p:nvSpPr>
          <p:cNvPr id="192" name="Google Shape;192;p21"/>
          <p:cNvSpPr txBox="1"/>
          <p:nvPr/>
        </p:nvSpPr>
        <p:spPr>
          <a:xfrm>
            <a:off x="3099950" y="4019150"/>
            <a:ext cx="23487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 b="1"/>
              <a:t>Tuberosidad isquiática </a:t>
            </a:r>
            <a:endParaRPr sz="1100" b="1"/>
          </a:p>
        </p:txBody>
      </p:sp>
      <p:cxnSp>
        <p:nvCxnSpPr>
          <p:cNvPr id="193" name="Google Shape;193;p21"/>
          <p:cNvCxnSpPr/>
          <p:nvPr/>
        </p:nvCxnSpPr>
        <p:spPr>
          <a:xfrm flipH="1">
            <a:off x="4752100" y="3323275"/>
            <a:ext cx="1065600" cy="304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4" name="Google Shape;194;p21"/>
          <p:cNvCxnSpPr/>
          <p:nvPr/>
        </p:nvCxnSpPr>
        <p:spPr>
          <a:xfrm flipH="1">
            <a:off x="4751875" y="3921350"/>
            <a:ext cx="989700" cy="26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195" name="Google Shape;195;p21"/>
          <p:cNvPicPr preferRelativeResize="0"/>
          <p:nvPr/>
        </p:nvPicPr>
        <p:blipFill rotWithShape="1">
          <a:blip r:embed="rId4">
            <a:alphaModFix/>
          </a:blip>
          <a:srcRect l="40909" t="42618" r="31501" b="23327"/>
          <a:stretch/>
        </p:blipFill>
        <p:spPr>
          <a:xfrm>
            <a:off x="119625" y="2608050"/>
            <a:ext cx="2522801" cy="1750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1"/>
          <p:cNvSpPr/>
          <p:nvPr/>
        </p:nvSpPr>
        <p:spPr>
          <a:xfrm>
            <a:off x="1888448" y="3105800"/>
            <a:ext cx="194500" cy="1130900"/>
          </a:xfrm>
          <a:custGeom>
            <a:avLst/>
            <a:gdLst/>
            <a:ahLst/>
            <a:cxnLst/>
            <a:rect l="l" t="t" r="r" b="b"/>
            <a:pathLst>
              <a:path w="7780" h="45236" extrusionOk="0">
                <a:moveTo>
                  <a:pt x="6236" y="0"/>
                </a:moveTo>
                <a:cubicBezTo>
                  <a:pt x="6930" y="2081"/>
                  <a:pt x="8323" y="4699"/>
                  <a:pt x="7106" y="6524"/>
                </a:cubicBezTo>
                <a:cubicBezTo>
                  <a:pt x="5667" y="8682"/>
                  <a:pt x="1109" y="7596"/>
                  <a:pt x="146" y="10004"/>
                </a:cubicBezTo>
                <a:cubicBezTo>
                  <a:pt x="-1006" y="12885"/>
                  <a:pt x="6932" y="12616"/>
                  <a:pt x="7541" y="15659"/>
                </a:cubicBezTo>
                <a:cubicBezTo>
                  <a:pt x="8497" y="20438"/>
                  <a:pt x="4590" y="25088"/>
                  <a:pt x="1886" y="29143"/>
                </a:cubicBezTo>
                <a:cubicBezTo>
                  <a:pt x="904" y="30615"/>
                  <a:pt x="3869" y="32076"/>
                  <a:pt x="4931" y="33492"/>
                </a:cubicBezTo>
                <a:cubicBezTo>
                  <a:pt x="6760" y="35931"/>
                  <a:pt x="5859" y="39900"/>
                  <a:pt x="4496" y="42627"/>
                </a:cubicBezTo>
                <a:cubicBezTo>
                  <a:pt x="4061" y="43497"/>
                  <a:pt x="4163" y="45236"/>
                  <a:pt x="3191" y="45236"/>
                </a:cubicBezTo>
              </a:path>
            </a:pathLst>
          </a:cu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sp>
      <p:pic>
        <p:nvPicPr>
          <p:cNvPr id="18" name="Imagen 17" descr="Imagen que contiene Gráfico&#10;&#10;Descripción generada automáticamente">
            <a:extLst>
              <a:ext uri="{FF2B5EF4-FFF2-40B4-BE49-F238E27FC236}">
                <a16:creationId xmlns:a16="http://schemas.microsoft.com/office/drawing/2014/main" id="{BE9224BE-BDD5-7286-EB47-9144A733D3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9" name="Imagen 18" descr="Logotipo&#10;&#10;Descripción generada automáticamente">
            <a:extLst>
              <a:ext uri="{FF2B5EF4-FFF2-40B4-BE49-F238E27FC236}">
                <a16:creationId xmlns:a16="http://schemas.microsoft.com/office/drawing/2014/main" id="{12E61C3C-9EA7-1783-1C66-62126A4FEF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2083" y="50035"/>
            <a:ext cx="1404407" cy="78997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BORDE SUPERIOR</a:t>
            </a:r>
            <a:endParaRPr/>
          </a:p>
        </p:txBody>
      </p:sp>
      <p:pic>
        <p:nvPicPr>
          <p:cNvPr id="202" name="Google Shape;202;p22"/>
          <p:cNvPicPr preferRelativeResize="0"/>
          <p:nvPr/>
        </p:nvPicPr>
        <p:blipFill rotWithShape="1">
          <a:blip r:embed="rId3">
            <a:alphaModFix/>
          </a:blip>
          <a:srcRect r="39968"/>
          <a:stretch/>
        </p:blipFill>
        <p:spPr>
          <a:xfrm>
            <a:off x="4175675" y="1084525"/>
            <a:ext cx="2631572" cy="38121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3" name="Google Shape;203;p22"/>
          <p:cNvCxnSpPr/>
          <p:nvPr/>
        </p:nvCxnSpPr>
        <p:spPr>
          <a:xfrm rot="10800000" flipH="1">
            <a:off x="5980825" y="1028725"/>
            <a:ext cx="696000" cy="337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04" name="Google Shape;204;p22"/>
          <p:cNvSpPr txBox="1"/>
          <p:nvPr/>
        </p:nvSpPr>
        <p:spPr>
          <a:xfrm>
            <a:off x="6568075" y="704550"/>
            <a:ext cx="1326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/>
              <a:t>Cresta ilíaca </a:t>
            </a:r>
            <a:endParaRPr b="1"/>
          </a:p>
        </p:txBody>
      </p:sp>
      <p:pic>
        <p:nvPicPr>
          <p:cNvPr id="6" name="Imagen 5" descr="Imagen que contiene Gráfico&#10;&#10;Descripción generada automáticamente">
            <a:extLst>
              <a:ext uri="{FF2B5EF4-FFF2-40B4-BE49-F238E27FC236}">
                <a16:creationId xmlns:a16="http://schemas.microsoft.com/office/drawing/2014/main" id="{67AF8CFB-210F-45CF-D9AF-E1197F45F1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7" name="Imagen 6" descr="Logotipo&#10;&#10;Descripción generada automáticamente">
            <a:extLst>
              <a:ext uri="{FF2B5EF4-FFF2-40B4-BE49-F238E27FC236}">
                <a16:creationId xmlns:a16="http://schemas.microsoft.com/office/drawing/2014/main" id="{BC839DF2-1196-F1E0-1A4C-8580B60C45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2083" y="50035"/>
            <a:ext cx="1404407" cy="78997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highlight>
                  <a:srgbClr val="A4C2F4"/>
                </a:highlight>
              </a:rPr>
              <a:t>HUESO FÉMUR </a:t>
            </a:r>
            <a:endParaRPr>
              <a:highlight>
                <a:srgbClr val="A4C2F4"/>
              </a:highlight>
            </a:endParaRPr>
          </a:p>
        </p:txBody>
      </p:sp>
      <p:pic>
        <p:nvPicPr>
          <p:cNvPr id="210" name="Google Shape;210;p23"/>
          <p:cNvPicPr preferRelativeResize="0"/>
          <p:nvPr/>
        </p:nvPicPr>
        <p:blipFill rotWithShape="1">
          <a:blip r:embed="rId3">
            <a:alphaModFix/>
          </a:blip>
          <a:srcRect l="19497" r="19497"/>
          <a:stretch/>
        </p:blipFill>
        <p:spPr>
          <a:xfrm>
            <a:off x="5817725" y="637125"/>
            <a:ext cx="2451926" cy="4019225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3"/>
          <p:cNvSpPr txBox="1"/>
          <p:nvPr/>
        </p:nvSpPr>
        <p:spPr>
          <a:xfrm>
            <a:off x="304000" y="1224550"/>
            <a:ext cx="5285400" cy="25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s-419" sz="1700" b="1"/>
              <a:t>Tipo de hueso: </a:t>
            </a:r>
            <a:r>
              <a:rPr lang="es-419" sz="1700"/>
              <a:t>largo</a:t>
            </a:r>
            <a:endParaRPr sz="17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s-419" sz="1700" b="1"/>
              <a:t>Región: </a:t>
            </a:r>
            <a:r>
              <a:rPr lang="es-419" sz="1700"/>
              <a:t>muslo</a:t>
            </a:r>
            <a:endParaRPr sz="17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s-419" sz="1700"/>
              <a:t>Hueso par </a:t>
            </a:r>
            <a:endParaRPr sz="17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s-419" sz="1700" b="1"/>
              <a:t>Descripción: </a:t>
            </a:r>
            <a:endParaRPr sz="1700" b="1"/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s-419" sz="1700"/>
              <a:t>1 cuerpo o diáfisis</a:t>
            </a:r>
            <a:endParaRPr sz="1700"/>
          </a:p>
          <a:p>
            <a:pPr marL="1371600" lvl="2" indent="-336550" algn="l" rtl="0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s-419" sz="1700"/>
              <a:t>cara anterior</a:t>
            </a:r>
            <a:endParaRPr sz="1700"/>
          </a:p>
          <a:p>
            <a:pPr marL="1371600" lvl="2" indent="-336550" algn="l" rtl="0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s-419" sz="1700"/>
              <a:t>cara interna</a:t>
            </a:r>
            <a:endParaRPr sz="1700"/>
          </a:p>
          <a:p>
            <a:pPr marL="1371600" lvl="2" indent="-336550" algn="l" rtl="0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s-419" sz="1700"/>
              <a:t>cara externa </a:t>
            </a:r>
            <a:endParaRPr sz="170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-419" sz="1700"/>
              <a:t>2 extremidades o epífisis</a:t>
            </a:r>
            <a:r>
              <a:rPr lang="es-419"/>
              <a:t> </a:t>
            </a:r>
            <a:endParaRPr/>
          </a:p>
        </p:txBody>
      </p:sp>
      <p:pic>
        <p:nvPicPr>
          <p:cNvPr id="5" name="Imagen 4" descr="Imagen que contiene Gráfico&#10;&#10;Descripción generada automáticamente">
            <a:extLst>
              <a:ext uri="{FF2B5EF4-FFF2-40B4-BE49-F238E27FC236}">
                <a16:creationId xmlns:a16="http://schemas.microsoft.com/office/drawing/2014/main" id="{412E31FD-28BC-8FB1-5F5C-18103312D1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6" name="Imagen 5" descr="Logotipo&#10;&#10;Descripción generada automáticamente">
            <a:extLst>
              <a:ext uri="{FF2B5EF4-FFF2-40B4-BE49-F238E27FC236}">
                <a16:creationId xmlns:a16="http://schemas.microsoft.com/office/drawing/2014/main" id="{701B3161-F23C-4227-215C-AC957738BA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2083" y="50035"/>
            <a:ext cx="1404407" cy="78997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EPÍFISIS PROXIMAL (vista anterior) </a:t>
            </a:r>
            <a:endParaRPr/>
          </a:p>
        </p:txBody>
      </p:sp>
      <p:pic>
        <p:nvPicPr>
          <p:cNvPr id="217" name="Google Shape;217;p24"/>
          <p:cNvPicPr preferRelativeResize="0"/>
          <p:nvPr/>
        </p:nvPicPr>
        <p:blipFill rotWithShape="1">
          <a:blip r:embed="rId3">
            <a:alphaModFix/>
          </a:blip>
          <a:srcRect l="37920" t="30455" r="8796" b="23725"/>
          <a:stretch/>
        </p:blipFill>
        <p:spPr>
          <a:xfrm>
            <a:off x="875050" y="1637775"/>
            <a:ext cx="6432525" cy="3110026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4"/>
          <p:cNvSpPr/>
          <p:nvPr/>
        </p:nvSpPr>
        <p:spPr>
          <a:xfrm>
            <a:off x="674200" y="1300675"/>
            <a:ext cx="1141800" cy="1207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" name="Imagen 4" descr="Imagen que contiene Gráfico&#10;&#10;Descripción generada automáticamente">
            <a:extLst>
              <a:ext uri="{FF2B5EF4-FFF2-40B4-BE49-F238E27FC236}">
                <a16:creationId xmlns:a16="http://schemas.microsoft.com/office/drawing/2014/main" id="{0F9896A9-6251-62C8-1400-89600F694D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6" name="Imagen 5" descr="Logotipo&#10;&#10;Descripción generada automáticamente">
            <a:extLst>
              <a:ext uri="{FF2B5EF4-FFF2-40B4-BE49-F238E27FC236}">
                <a16:creationId xmlns:a16="http://schemas.microsoft.com/office/drawing/2014/main" id="{6C9A0D10-8D88-B744-90DC-627289C4C0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2083" y="50035"/>
            <a:ext cx="1404407" cy="78997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EPÍFISIS DISTAL (vista anterior)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4" name="Google Shape;224;p25"/>
          <p:cNvPicPr preferRelativeResize="0"/>
          <p:nvPr/>
        </p:nvPicPr>
        <p:blipFill rotWithShape="1">
          <a:blip r:embed="rId3">
            <a:alphaModFix/>
          </a:blip>
          <a:srcRect l="36318" t="31592" r="10877" b="27425"/>
          <a:stretch/>
        </p:blipFill>
        <p:spPr>
          <a:xfrm>
            <a:off x="1478275" y="1384050"/>
            <a:ext cx="6612126" cy="2885274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5"/>
          <p:cNvSpPr/>
          <p:nvPr/>
        </p:nvSpPr>
        <p:spPr>
          <a:xfrm>
            <a:off x="1304900" y="1094075"/>
            <a:ext cx="1544100" cy="177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" name="Imagen 4" descr="Imagen que contiene Gráfico&#10;&#10;Descripción generada automáticamente">
            <a:extLst>
              <a:ext uri="{FF2B5EF4-FFF2-40B4-BE49-F238E27FC236}">
                <a16:creationId xmlns:a16="http://schemas.microsoft.com/office/drawing/2014/main" id="{965013C9-5412-BEAF-2560-B4DC4AEB57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6" name="Imagen 5" descr="Logotipo&#10;&#10;Descripción generada automáticamente">
            <a:extLst>
              <a:ext uri="{FF2B5EF4-FFF2-40B4-BE49-F238E27FC236}">
                <a16:creationId xmlns:a16="http://schemas.microsoft.com/office/drawing/2014/main" id="{31B9BF18-3202-37DF-A591-AE3771EA79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2083" y="50035"/>
            <a:ext cx="1404407" cy="78997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6"/>
          <p:cNvSpPr txBox="1">
            <a:spLocks noGrp="1"/>
          </p:cNvSpPr>
          <p:nvPr>
            <p:ph type="title"/>
          </p:nvPr>
        </p:nvSpPr>
        <p:spPr>
          <a:xfrm>
            <a:off x="404738" y="4776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EPÍFISIS PROXIMAL (vista posterior)</a:t>
            </a:r>
            <a:endParaRPr/>
          </a:p>
        </p:txBody>
      </p:sp>
      <p:pic>
        <p:nvPicPr>
          <p:cNvPr id="231" name="Google Shape;231;p26"/>
          <p:cNvPicPr preferRelativeResize="0"/>
          <p:nvPr/>
        </p:nvPicPr>
        <p:blipFill rotWithShape="1">
          <a:blip r:embed="rId3">
            <a:alphaModFix/>
          </a:blip>
          <a:srcRect l="39518" t="31597" r="9278" b="27421"/>
          <a:stretch/>
        </p:blipFill>
        <p:spPr>
          <a:xfrm>
            <a:off x="1533275" y="1407275"/>
            <a:ext cx="6263527" cy="281855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6"/>
          <p:cNvSpPr/>
          <p:nvPr/>
        </p:nvSpPr>
        <p:spPr>
          <a:xfrm>
            <a:off x="1326650" y="1170200"/>
            <a:ext cx="1305000" cy="1533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33" name="Google Shape;233;p26"/>
          <p:cNvCxnSpPr/>
          <p:nvPr/>
        </p:nvCxnSpPr>
        <p:spPr>
          <a:xfrm rot="10800000" flipH="1">
            <a:off x="6687625" y="1213700"/>
            <a:ext cx="565500" cy="793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34" name="Google Shape;234;p26"/>
          <p:cNvSpPr txBox="1"/>
          <p:nvPr/>
        </p:nvSpPr>
        <p:spPr>
          <a:xfrm>
            <a:off x="7372700" y="322000"/>
            <a:ext cx="728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26"/>
          <p:cNvSpPr txBox="1"/>
          <p:nvPr/>
        </p:nvSpPr>
        <p:spPr>
          <a:xfrm>
            <a:off x="1674625" y="3693000"/>
            <a:ext cx="97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26"/>
          <p:cNvSpPr txBox="1"/>
          <p:nvPr/>
        </p:nvSpPr>
        <p:spPr>
          <a:xfrm>
            <a:off x="543700" y="1376800"/>
            <a:ext cx="271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26"/>
          <p:cNvSpPr txBox="1"/>
          <p:nvPr/>
        </p:nvSpPr>
        <p:spPr>
          <a:xfrm>
            <a:off x="6687625" y="940850"/>
            <a:ext cx="2237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b="1"/>
              <a:t>cuello anatómico del fémur</a:t>
            </a:r>
            <a:endParaRPr sz="1200" b="1"/>
          </a:p>
        </p:txBody>
      </p:sp>
      <p:cxnSp>
        <p:nvCxnSpPr>
          <p:cNvPr id="238" name="Google Shape;238;p26"/>
          <p:cNvCxnSpPr>
            <a:endCxn id="239" idx="1"/>
          </p:cNvCxnSpPr>
          <p:nvPr/>
        </p:nvCxnSpPr>
        <p:spPr>
          <a:xfrm rot="10800000" flipH="1">
            <a:off x="7100800" y="3253450"/>
            <a:ext cx="619800" cy="15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39" name="Google Shape;239;p26"/>
          <p:cNvSpPr txBox="1"/>
          <p:nvPr/>
        </p:nvSpPr>
        <p:spPr>
          <a:xfrm>
            <a:off x="7720600" y="3068800"/>
            <a:ext cx="1631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b="1"/>
              <a:t>cuello quirúrgico </a:t>
            </a:r>
            <a:endParaRPr sz="1200" b="1"/>
          </a:p>
        </p:txBody>
      </p:sp>
      <p:cxnSp>
        <p:nvCxnSpPr>
          <p:cNvPr id="240" name="Google Shape;240;p26"/>
          <p:cNvCxnSpPr>
            <a:endCxn id="232" idx="3"/>
          </p:cNvCxnSpPr>
          <p:nvPr/>
        </p:nvCxnSpPr>
        <p:spPr>
          <a:xfrm flipH="1">
            <a:off x="2631650" y="1844450"/>
            <a:ext cx="663300" cy="92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1" name="Google Shape;241;p26"/>
          <p:cNvSpPr txBox="1"/>
          <p:nvPr/>
        </p:nvSpPr>
        <p:spPr>
          <a:xfrm>
            <a:off x="369875" y="1736750"/>
            <a:ext cx="2424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b="1"/>
              <a:t>fosita del ligamento redondo</a:t>
            </a:r>
            <a:r>
              <a:rPr lang="es-419"/>
              <a:t> </a:t>
            </a:r>
            <a:endParaRPr/>
          </a:p>
        </p:txBody>
      </p:sp>
      <p:pic>
        <p:nvPicPr>
          <p:cNvPr id="14" name="Imagen 13" descr="Imagen que contiene Gráfico&#10;&#10;Descripción generada automáticamente">
            <a:extLst>
              <a:ext uri="{FF2B5EF4-FFF2-40B4-BE49-F238E27FC236}">
                <a16:creationId xmlns:a16="http://schemas.microsoft.com/office/drawing/2014/main" id="{69C313F8-6D2F-0FF6-FDDA-3FED2EACF5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5" name="Imagen 14" descr="Logotipo&#10;&#10;Descripción generada automáticamente">
            <a:extLst>
              <a:ext uri="{FF2B5EF4-FFF2-40B4-BE49-F238E27FC236}">
                <a16:creationId xmlns:a16="http://schemas.microsoft.com/office/drawing/2014/main" id="{30A3A4C0-4CF5-4763-8AEB-B78047172F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2083" y="50035"/>
            <a:ext cx="1404407" cy="78997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EPÍFISIS DISTAL (vista posterior)</a:t>
            </a:r>
            <a:endParaRPr/>
          </a:p>
        </p:txBody>
      </p:sp>
      <p:pic>
        <p:nvPicPr>
          <p:cNvPr id="247" name="Google Shape;247;p27"/>
          <p:cNvPicPr preferRelativeResize="0"/>
          <p:nvPr/>
        </p:nvPicPr>
        <p:blipFill rotWithShape="1">
          <a:blip r:embed="rId3">
            <a:alphaModFix/>
          </a:blip>
          <a:srcRect l="34719" t="34438" r="9755" b="27996"/>
          <a:stretch/>
        </p:blipFill>
        <p:spPr>
          <a:xfrm>
            <a:off x="1478900" y="1605175"/>
            <a:ext cx="6546224" cy="2490175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7"/>
          <p:cNvSpPr/>
          <p:nvPr/>
        </p:nvSpPr>
        <p:spPr>
          <a:xfrm>
            <a:off x="1130925" y="1442050"/>
            <a:ext cx="1631100" cy="804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49" name="Google Shape;249;p27"/>
          <p:cNvCxnSpPr/>
          <p:nvPr/>
        </p:nvCxnSpPr>
        <p:spPr>
          <a:xfrm flipH="1">
            <a:off x="2772800" y="3258025"/>
            <a:ext cx="772200" cy="598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0" name="Google Shape;250;p27"/>
          <p:cNvCxnSpPr/>
          <p:nvPr/>
        </p:nvCxnSpPr>
        <p:spPr>
          <a:xfrm>
            <a:off x="4860775" y="3258025"/>
            <a:ext cx="815700" cy="717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51" name="Google Shape;251;p27"/>
          <p:cNvSpPr txBox="1"/>
          <p:nvPr/>
        </p:nvSpPr>
        <p:spPr>
          <a:xfrm>
            <a:off x="1413650" y="3790875"/>
            <a:ext cx="1957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/>
              <a:t>cóndilo externo</a:t>
            </a:r>
            <a:r>
              <a:rPr lang="es-419"/>
              <a:t> </a:t>
            </a:r>
            <a:endParaRPr/>
          </a:p>
        </p:txBody>
      </p:sp>
      <p:sp>
        <p:nvSpPr>
          <p:cNvPr id="252" name="Google Shape;252;p27"/>
          <p:cNvSpPr txBox="1"/>
          <p:nvPr/>
        </p:nvSpPr>
        <p:spPr>
          <a:xfrm>
            <a:off x="1413650" y="3790875"/>
            <a:ext cx="1957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/>
              <a:t>cóndilo externo</a:t>
            </a:r>
            <a:r>
              <a:rPr lang="es-419"/>
              <a:t> </a:t>
            </a:r>
            <a:endParaRPr/>
          </a:p>
        </p:txBody>
      </p:sp>
      <p:sp>
        <p:nvSpPr>
          <p:cNvPr id="253" name="Google Shape;253;p27"/>
          <p:cNvSpPr txBox="1"/>
          <p:nvPr/>
        </p:nvSpPr>
        <p:spPr>
          <a:xfrm>
            <a:off x="4991425" y="3856225"/>
            <a:ext cx="1957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/>
              <a:t>cóndilo interno</a:t>
            </a:r>
            <a:endParaRPr/>
          </a:p>
        </p:txBody>
      </p:sp>
      <p:pic>
        <p:nvPicPr>
          <p:cNvPr id="10" name="Imagen 9" descr="Imagen que contiene Gráfico&#10;&#10;Descripción generada automáticamente">
            <a:extLst>
              <a:ext uri="{FF2B5EF4-FFF2-40B4-BE49-F238E27FC236}">
                <a16:creationId xmlns:a16="http://schemas.microsoft.com/office/drawing/2014/main" id="{72F6AE7E-2B52-04CB-BD52-9C86FDA8AE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1" name="Imagen 10" descr="Logotipo&#10;&#10;Descripción generada automáticamente">
            <a:extLst>
              <a:ext uri="{FF2B5EF4-FFF2-40B4-BE49-F238E27FC236}">
                <a16:creationId xmlns:a16="http://schemas.microsoft.com/office/drawing/2014/main" id="{3F697A9B-1F3F-5484-23D4-9A2FB9DD3F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2083" y="50035"/>
            <a:ext cx="1404407" cy="78997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DIÁFISIS (cara posterior) </a:t>
            </a:r>
            <a:endParaRPr/>
          </a:p>
        </p:txBody>
      </p:sp>
      <p:pic>
        <p:nvPicPr>
          <p:cNvPr id="259" name="Google Shape;259;p28"/>
          <p:cNvPicPr preferRelativeResize="0"/>
          <p:nvPr/>
        </p:nvPicPr>
        <p:blipFill rotWithShape="1">
          <a:blip r:embed="rId3">
            <a:alphaModFix/>
          </a:blip>
          <a:srcRect l="44638" t="25051" r="8960" b="20877"/>
          <a:stretch/>
        </p:blipFill>
        <p:spPr>
          <a:xfrm>
            <a:off x="1869975" y="1017725"/>
            <a:ext cx="5494134" cy="3599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Imagen 3" descr="Imagen que contiene Gráfico&#10;&#10;Descripción generada automáticamente">
            <a:extLst>
              <a:ext uri="{FF2B5EF4-FFF2-40B4-BE49-F238E27FC236}">
                <a16:creationId xmlns:a16="http://schemas.microsoft.com/office/drawing/2014/main" id="{7300C410-277D-832C-6692-52363F2001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n 4" descr="Logotipo&#10;&#10;Descripción generada automáticamente">
            <a:extLst>
              <a:ext uri="{FF2B5EF4-FFF2-40B4-BE49-F238E27FC236}">
                <a16:creationId xmlns:a16="http://schemas.microsoft.com/office/drawing/2014/main" id="{31FB17EF-0680-880A-2F17-857E053E9B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2083" y="50035"/>
            <a:ext cx="1404407" cy="78997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s-419"/>
              <a:t>DIÁFISIS (cara posterior)</a:t>
            </a:r>
            <a:endParaRPr/>
          </a:p>
        </p:txBody>
      </p:sp>
      <p:pic>
        <p:nvPicPr>
          <p:cNvPr id="265" name="Google Shape;26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2700000">
            <a:off x="4100375" y="746025"/>
            <a:ext cx="3820975" cy="38209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6" name="Google Shape;266;p29"/>
          <p:cNvCxnSpPr/>
          <p:nvPr/>
        </p:nvCxnSpPr>
        <p:spPr>
          <a:xfrm flipH="1">
            <a:off x="3860275" y="2554900"/>
            <a:ext cx="1968300" cy="358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67" name="Google Shape;267;p29"/>
          <p:cNvSpPr txBox="1"/>
          <p:nvPr/>
        </p:nvSpPr>
        <p:spPr>
          <a:xfrm>
            <a:off x="2653150" y="2685400"/>
            <a:ext cx="1283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/>
              <a:t>línea áspera </a:t>
            </a:r>
            <a:endParaRPr b="1"/>
          </a:p>
        </p:txBody>
      </p:sp>
      <p:cxnSp>
        <p:nvCxnSpPr>
          <p:cNvPr id="268" name="Google Shape;268;p29"/>
          <p:cNvCxnSpPr>
            <a:endCxn id="265" idx="1"/>
          </p:cNvCxnSpPr>
          <p:nvPr/>
        </p:nvCxnSpPr>
        <p:spPr>
          <a:xfrm flipH="1">
            <a:off x="4659944" y="3903332"/>
            <a:ext cx="1168500" cy="104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9" name="Google Shape;269;p29"/>
          <p:cNvCxnSpPr/>
          <p:nvPr/>
        </p:nvCxnSpPr>
        <p:spPr>
          <a:xfrm rot="10800000" flipH="1">
            <a:off x="6122175" y="3305200"/>
            <a:ext cx="1228800" cy="522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70" name="Google Shape;270;p29"/>
          <p:cNvSpPr txBox="1"/>
          <p:nvPr/>
        </p:nvSpPr>
        <p:spPr>
          <a:xfrm>
            <a:off x="1375850" y="3827200"/>
            <a:ext cx="3284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/>
              <a:t>línea supracondílea interna o medial</a:t>
            </a:r>
            <a:r>
              <a:rPr lang="es-419"/>
              <a:t> </a:t>
            </a:r>
            <a:endParaRPr/>
          </a:p>
        </p:txBody>
      </p:sp>
      <p:sp>
        <p:nvSpPr>
          <p:cNvPr id="271" name="Google Shape;271;p29"/>
          <p:cNvSpPr txBox="1"/>
          <p:nvPr/>
        </p:nvSpPr>
        <p:spPr>
          <a:xfrm>
            <a:off x="6443400" y="2809300"/>
            <a:ext cx="2604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/>
              <a:t>línea supracondílea externa o lateral </a:t>
            </a:r>
            <a:endParaRPr/>
          </a:p>
        </p:txBody>
      </p:sp>
      <p:pic>
        <p:nvPicPr>
          <p:cNvPr id="10" name="Imagen 9" descr="Imagen que contiene Gráfico&#10;&#10;Descripción generada automáticamente">
            <a:extLst>
              <a:ext uri="{FF2B5EF4-FFF2-40B4-BE49-F238E27FC236}">
                <a16:creationId xmlns:a16="http://schemas.microsoft.com/office/drawing/2014/main" id="{BA522CE6-7928-8A2D-AF11-E3626CE2E3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1" name="Imagen 10" descr="Logotipo&#10;&#10;Descripción generada automáticamente">
            <a:extLst>
              <a:ext uri="{FF2B5EF4-FFF2-40B4-BE49-F238E27FC236}">
                <a16:creationId xmlns:a16="http://schemas.microsoft.com/office/drawing/2014/main" id="{CD107F69-6C6A-BFF8-E445-82F602ECF4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2083" y="50035"/>
            <a:ext cx="1404407" cy="78997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highlight>
                  <a:srgbClr val="DD7E6B"/>
                </a:highlight>
              </a:rPr>
              <a:t>HUESOS TIBIA Y PERÓNE </a:t>
            </a:r>
            <a:endParaRPr>
              <a:highlight>
                <a:srgbClr val="DD7E6B"/>
              </a:highlight>
            </a:endParaRPr>
          </a:p>
        </p:txBody>
      </p:sp>
      <p:sp>
        <p:nvSpPr>
          <p:cNvPr id="277" name="Google Shape;277;p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929600" cy="363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s-419" b="1">
                <a:solidFill>
                  <a:schemeClr val="dk1"/>
                </a:solidFill>
              </a:rPr>
              <a:t>Tipo de hueso:</a:t>
            </a:r>
            <a:r>
              <a:rPr lang="es-419">
                <a:solidFill>
                  <a:schemeClr val="dk1"/>
                </a:solidFill>
              </a:rPr>
              <a:t> largo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s-419" b="1">
                <a:solidFill>
                  <a:schemeClr val="dk1"/>
                </a:solidFill>
              </a:rPr>
              <a:t>Región:</a:t>
            </a:r>
            <a:r>
              <a:rPr lang="es-419">
                <a:solidFill>
                  <a:schemeClr val="dk1"/>
                </a:solidFill>
              </a:rPr>
              <a:t> pierna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s-419">
                <a:solidFill>
                  <a:schemeClr val="dk1"/>
                </a:solidFill>
              </a:rPr>
              <a:t>Huesos pares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s-419" b="1">
                <a:solidFill>
                  <a:schemeClr val="dk1"/>
                </a:solidFill>
              </a:rPr>
              <a:t>Descripción: </a:t>
            </a:r>
            <a:endParaRPr b="1"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s-419">
                <a:solidFill>
                  <a:schemeClr val="dk1"/>
                </a:solidFill>
              </a:rPr>
              <a:t>huesos de forma triangular. La tibia está hacia medial y el peroné hacia lateral.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s-419">
                <a:solidFill>
                  <a:schemeClr val="dk1"/>
                </a:solidFill>
              </a:rPr>
              <a:t>3 caras: medial, lateral y posterior 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s-419">
                <a:solidFill>
                  <a:schemeClr val="dk1"/>
                </a:solidFill>
              </a:rPr>
              <a:t>1 diáfisis o cuerpo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s-419">
                <a:solidFill>
                  <a:schemeClr val="dk1"/>
                </a:solidFill>
              </a:rPr>
              <a:t>2 epífisis o diáfisis (superior e inferior) 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78" name="Google Shape;278;p30"/>
          <p:cNvPicPr preferRelativeResize="0"/>
          <p:nvPr/>
        </p:nvPicPr>
        <p:blipFill rotWithShape="1">
          <a:blip r:embed="rId3">
            <a:alphaModFix/>
          </a:blip>
          <a:srcRect l="24914" t="36500" r="57881" b="44713"/>
          <a:stretch/>
        </p:blipFill>
        <p:spPr>
          <a:xfrm>
            <a:off x="6633275" y="365500"/>
            <a:ext cx="1877424" cy="1152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93700" y="1561750"/>
            <a:ext cx="2827197" cy="2827197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agen 5" descr="Imagen que contiene Gráfico&#10;&#10;Descripción generada automáticamente">
            <a:extLst>
              <a:ext uri="{FF2B5EF4-FFF2-40B4-BE49-F238E27FC236}">
                <a16:creationId xmlns:a16="http://schemas.microsoft.com/office/drawing/2014/main" id="{8FF7B95E-55C6-F1A9-E4E9-72F464A982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7" name="Imagen 6" descr="Logotipo&#10;&#10;Descripción generada automáticamente">
            <a:extLst>
              <a:ext uri="{FF2B5EF4-FFF2-40B4-BE49-F238E27FC236}">
                <a16:creationId xmlns:a16="http://schemas.microsoft.com/office/drawing/2014/main" id="{805B9C5C-4BC6-40E5-AFDC-1A1161F5C7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2083" y="50035"/>
            <a:ext cx="1404407" cy="78997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EPÍFISIS SUPERIOR  (vista anterior) </a:t>
            </a:r>
            <a:endParaRPr/>
          </a:p>
        </p:txBody>
      </p:sp>
      <p:pic>
        <p:nvPicPr>
          <p:cNvPr id="285" name="Google Shape;285;p31"/>
          <p:cNvPicPr preferRelativeResize="0"/>
          <p:nvPr/>
        </p:nvPicPr>
        <p:blipFill rotWithShape="1">
          <a:blip r:embed="rId3">
            <a:alphaModFix/>
          </a:blip>
          <a:srcRect l="34881" t="33017" r="6235" b="23726"/>
          <a:stretch/>
        </p:blipFill>
        <p:spPr>
          <a:xfrm>
            <a:off x="1294288" y="1355050"/>
            <a:ext cx="6555424" cy="2707674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31"/>
          <p:cNvSpPr/>
          <p:nvPr/>
        </p:nvSpPr>
        <p:spPr>
          <a:xfrm>
            <a:off x="717700" y="1507275"/>
            <a:ext cx="1794300" cy="946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87" name="Google Shape;287;p31"/>
          <p:cNvCxnSpPr>
            <a:endCxn id="288" idx="3"/>
          </p:cNvCxnSpPr>
          <p:nvPr/>
        </p:nvCxnSpPr>
        <p:spPr>
          <a:xfrm rot="10800000">
            <a:off x="2457575" y="1460525"/>
            <a:ext cx="750300" cy="257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9" name="Google Shape;289;p31"/>
          <p:cNvCxnSpPr/>
          <p:nvPr/>
        </p:nvCxnSpPr>
        <p:spPr>
          <a:xfrm rot="10800000" flipH="1">
            <a:off x="4730275" y="1268075"/>
            <a:ext cx="989700" cy="793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88" name="Google Shape;288;p31"/>
          <p:cNvSpPr txBox="1"/>
          <p:nvPr/>
        </p:nvSpPr>
        <p:spPr>
          <a:xfrm>
            <a:off x="1044275" y="1268075"/>
            <a:ext cx="14133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 b="1"/>
              <a:t>cóndilo lateral </a:t>
            </a:r>
            <a:endParaRPr sz="1300" b="1"/>
          </a:p>
        </p:txBody>
      </p:sp>
      <p:sp>
        <p:nvSpPr>
          <p:cNvPr id="290" name="Google Shape;290;p31"/>
          <p:cNvSpPr txBox="1"/>
          <p:nvPr/>
        </p:nvSpPr>
        <p:spPr>
          <a:xfrm>
            <a:off x="5719975" y="1017725"/>
            <a:ext cx="18702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 b="1"/>
              <a:t>cóndilo medial </a:t>
            </a:r>
            <a:endParaRPr sz="1300" b="1"/>
          </a:p>
        </p:txBody>
      </p:sp>
      <p:cxnSp>
        <p:nvCxnSpPr>
          <p:cNvPr id="291" name="Google Shape;291;p31"/>
          <p:cNvCxnSpPr/>
          <p:nvPr/>
        </p:nvCxnSpPr>
        <p:spPr>
          <a:xfrm rot="10800000">
            <a:off x="2990325" y="1191875"/>
            <a:ext cx="65400" cy="946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92" name="Google Shape;292;p31"/>
          <p:cNvSpPr txBox="1"/>
          <p:nvPr/>
        </p:nvSpPr>
        <p:spPr>
          <a:xfrm>
            <a:off x="2207475" y="861350"/>
            <a:ext cx="18702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 b="1"/>
              <a:t>carillas articulares  </a:t>
            </a:r>
            <a:endParaRPr sz="1300" b="1"/>
          </a:p>
        </p:txBody>
      </p:sp>
      <p:cxnSp>
        <p:nvCxnSpPr>
          <p:cNvPr id="293" name="Google Shape;293;p31"/>
          <p:cNvCxnSpPr/>
          <p:nvPr/>
        </p:nvCxnSpPr>
        <p:spPr>
          <a:xfrm rot="10800000">
            <a:off x="1663725" y="2007575"/>
            <a:ext cx="1489800" cy="54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94" name="Google Shape;294;p31"/>
          <p:cNvSpPr txBox="1"/>
          <p:nvPr/>
        </p:nvSpPr>
        <p:spPr>
          <a:xfrm>
            <a:off x="359175" y="1718225"/>
            <a:ext cx="15546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b="1"/>
              <a:t>surco para el músculo semimembranoso</a:t>
            </a:r>
            <a:endParaRPr sz="1200" b="1"/>
          </a:p>
        </p:txBody>
      </p:sp>
      <p:pic>
        <p:nvPicPr>
          <p:cNvPr id="13" name="Imagen 12" descr="Imagen que contiene Gráfico&#10;&#10;Descripción generada automáticamente">
            <a:extLst>
              <a:ext uri="{FF2B5EF4-FFF2-40B4-BE49-F238E27FC236}">
                <a16:creationId xmlns:a16="http://schemas.microsoft.com/office/drawing/2014/main" id="{270A77E3-601D-108C-3292-B134578F35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4" name="Imagen 13" descr="Logotipo&#10;&#10;Descripción generada automáticamente">
            <a:extLst>
              <a:ext uri="{FF2B5EF4-FFF2-40B4-BE49-F238E27FC236}">
                <a16:creationId xmlns:a16="http://schemas.microsoft.com/office/drawing/2014/main" id="{0D49C5E6-F478-0825-8E1B-C132518A51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2083" y="50035"/>
            <a:ext cx="1404407" cy="78997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EPÍFISIS PROXIMAL (vista superior)</a:t>
            </a:r>
            <a:endParaRPr/>
          </a:p>
        </p:txBody>
      </p:sp>
      <p:pic>
        <p:nvPicPr>
          <p:cNvPr id="300" name="Google Shape;300;p32"/>
          <p:cNvPicPr preferRelativeResize="0"/>
          <p:nvPr/>
        </p:nvPicPr>
        <p:blipFill rotWithShape="1">
          <a:blip r:embed="rId3">
            <a:alphaModFix/>
          </a:blip>
          <a:srcRect l="42241" t="38418" r="25757" b="23445"/>
          <a:stretch/>
        </p:blipFill>
        <p:spPr>
          <a:xfrm>
            <a:off x="413223" y="1473476"/>
            <a:ext cx="4708523" cy="315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32"/>
          <p:cNvPicPr preferRelativeResize="0"/>
          <p:nvPr/>
        </p:nvPicPr>
        <p:blipFill rotWithShape="1">
          <a:blip r:embed="rId4">
            <a:alphaModFix/>
          </a:blip>
          <a:srcRect l="69321" t="35384" r="5172" b="26633"/>
          <a:stretch/>
        </p:blipFill>
        <p:spPr>
          <a:xfrm>
            <a:off x="5861200" y="1713900"/>
            <a:ext cx="2261826" cy="18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Imagen 4" descr="Imagen que contiene Gráfico&#10;&#10;Descripción generada automáticamente">
            <a:extLst>
              <a:ext uri="{FF2B5EF4-FFF2-40B4-BE49-F238E27FC236}">
                <a16:creationId xmlns:a16="http://schemas.microsoft.com/office/drawing/2014/main" id="{6DA493D1-9AF0-294A-8434-DF2104792C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6" name="Imagen 5" descr="Logotipo&#10;&#10;Descripción generada automáticamente">
            <a:extLst>
              <a:ext uri="{FF2B5EF4-FFF2-40B4-BE49-F238E27FC236}">
                <a16:creationId xmlns:a16="http://schemas.microsoft.com/office/drawing/2014/main" id="{8D53C8FD-894B-883F-69E2-BB1F07987B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2083" y="50035"/>
            <a:ext cx="1404407" cy="78997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EPÍFISIS PROXIMAL (vista anterior)</a:t>
            </a:r>
            <a:endParaRPr/>
          </a:p>
        </p:txBody>
      </p:sp>
      <p:pic>
        <p:nvPicPr>
          <p:cNvPr id="307" name="Google Shape;307;p33"/>
          <p:cNvPicPr preferRelativeResize="0"/>
          <p:nvPr/>
        </p:nvPicPr>
        <p:blipFill rotWithShape="1">
          <a:blip r:embed="rId3">
            <a:alphaModFix/>
          </a:blip>
          <a:srcRect l="44799" t="27039" r="7200" b="24581"/>
          <a:stretch/>
        </p:blipFill>
        <p:spPr>
          <a:xfrm>
            <a:off x="1620275" y="1348124"/>
            <a:ext cx="5730701" cy="324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33"/>
          <p:cNvPicPr preferRelativeResize="0"/>
          <p:nvPr/>
        </p:nvPicPr>
        <p:blipFill rotWithShape="1">
          <a:blip r:embed="rId4">
            <a:alphaModFix/>
          </a:blip>
          <a:srcRect l="66474" t="63131" r="16875" b="25728"/>
          <a:stretch/>
        </p:blipFill>
        <p:spPr>
          <a:xfrm>
            <a:off x="7079100" y="1017723"/>
            <a:ext cx="1522400" cy="572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9" name="Google Shape;309;p33"/>
          <p:cNvCxnSpPr/>
          <p:nvPr/>
        </p:nvCxnSpPr>
        <p:spPr>
          <a:xfrm rot="10800000" flipH="1">
            <a:off x="6872500" y="1670275"/>
            <a:ext cx="500100" cy="685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6" name="Imagen 5" descr="Imagen que contiene Gráfico&#10;&#10;Descripción generada automáticamente">
            <a:extLst>
              <a:ext uri="{FF2B5EF4-FFF2-40B4-BE49-F238E27FC236}">
                <a16:creationId xmlns:a16="http://schemas.microsoft.com/office/drawing/2014/main" id="{B6639F8D-2C6D-B433-9788-3B07EF35CF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7" name="Imagen 6" descr="Logotipo&#10;&#10;Descripción generada automáticamente">
            <a:extLst>
              <a:ext uri="{FF2B5EF4-FFF2-40B4-BE49-F238E27FC236}">
                <a16:creationId xmlns:a16="http://schemas.microsoft.com/office/drawing/2014/main" id="{F68AA396-3263-47C7-73E1-C3B2B02A74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2083" y="50035"/>
            <a:ext cx="1404407" cy="78997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EPÍFISIS DISTAL (vista anterior)</a:t>
            </a:r>
            <a:endParaRPr/>
          </a:p>
        </p:txBody>
      </p:sp>
      <p:pic>
        <p:nvPicPr>
          <p:cNvPr id="315" name="Google Shape;315;p34"/>
          <p:cNvPicPr preferRelativeResize="0"/>
          <p:nvPr/>
        </p:nvPicPr>
        <p:blipFill rotWithShape="1">
          <a:blip r:embed="rId3">
            <a:alphaModFix/>
          </a:blip>
          <a:srcRect l="26718" t="32443" r="5759" b="19789"/>
          <a:stretch/>
        </p:blipFill>
        <p:spPr>
          <a:xfrm>
            <a:off x="311700" y="2042677"/>
            <a:ext cx="6308099" cy="2508975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34"/>
          <p:cNvSpPr/>
          <p:nvPr/>
        </p:nvSpPr>
        <p:spPr>
          <a:xfrm>
            <a:off x="214500" y="2042675"/>
            <a:ext cx="1902600" cy="988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17" name="Google Shape;317;p34"/>
          <p:cNvPicPr preferRelativeResize="0"/>
          <p:nvPr/>
        </p:nvPicPr>
        <p:blipFill rotWithShape="1">
          <a:blip r:embed="rId4">
            <a:alphaModFix/>
          </a:blip>
          <a:srcRect l="46954" t="28895" r="6297" b="21294"/>
          <a:stretch/>
        </p:blipFill>
        <p:spPr>
          <a:xfrm>
            <a:off x="6221175" y="399325"/>
            <a:ext cx="2611126" cy="1564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agen 5" descr="Imagen que contiene Gráfico&#10;&#10;Descripción generada automáticamente">
            <a:extLst>
              <a:ext uri="{FF2B5EF4-FFF2-40B4-BE49-F238E27FC236}">
                <a16:creationId xmlns:a16="http://schemas.microsoft.com/office/drawing/2014/main" id="{F69A6A03-887E-B4CE-A0C8-E167BECCB2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7" name="Imagen 6" descr="Logotipo&#10;&#10;Descripción generada automáticamente">
            <a:extLst>
              <a:ext uri="{FF2B5EF4-FFF2-40B4-BE49-F238E27FC236}">
                <a16:creationId xmlns:a16="http://schemas.microsoft.com/office/drawing/2014/main" id="{15B4369C-32EA-3833-BE18-000F448F65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2083" y="50035"/>
            <a:ext cx="1404407" cy="78997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EPÍFISIS DISTAL (vista anterior)</a:t>
            </a:r>
            <a:endParaRPr/>
          </a:p>
        </p:txBody>
      </p:sp>
      <p:pic>
        <p:nvPicPr>
          <p:cNvPr id="323" name="Google Shape;323;p35"/>
          <p:cNvPicPr preferRelativeResize="0"/>
          <p:nvPr/>
        </p:nvPicPr>
        <p:blipFill rotWithShape="1">
          <a:blip r:embed="rId3">
            <a:alphaModFix/>
          </a:blip>
          <a:srcRect l="44931" t="28379" r="7896" b="22281"/>
          <a:stretch/>
        </p:blipFill>
        <p:spPr>
          <a:xfrm>
            <a:off x="1855050" y="1324700"/>
            <a:ext cx="4960124" cy="2916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Imagen 3" descr="Imagen que contiene Gráfico&#10;&#10;Descripción generada automáticamente">
            <a:extLst>
              <a:ext uri="{FF2B5EF4-FFF2-40B4-BE49-F238E27FC236}">
                <a16:creationId xmlns:a16="http://schemas.microsoft.com/office/drawing/2014/main" id="{41800B01-BA34-F81F-D7BD-C9CA1F0782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n 4" descr="Logotipo&#10;&#10;Descripción generada automáticamente">
            <a:extLst>
              <a:ext uri="{FF2B5EF4-FFF2-40B4-BE49-F238E27FC236}">
                <a16:creationId xmlns:a16="http://schemas.microsoft.com/office/drawing/2014/main" id="{B792F93B-7AE3-4680-819C-1A7016A0C1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2083" y="50035"/>
            <a:ext cx="1404407" cy="789979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EPÍFISIS DISTAL (vista interna)</a:t>
            </a:r>
            <a:endParaRPr/>
          </a:p>
        </p:txBody>
      </p:sp>
      <p:pic>
        <p:nvPicPr>
          <p:cNvPr id="329" name="Google Shape;329;p36"/>
          <p:cNvPicPr preferRelativeResize="0"/>
          <p:nvPr/>
        </p:nvPicPr>
        <p:blipFill rotWithShape="1">
          <a:blip r:embed="rId3">
            <a:alphaModFix/>
          </a:blip>
          <a:srcRect l="37893" t="34009" r="5429" b="19807"/>
          <a:stretch/>
        </p:blipFill>
        <p:spPr>
          <a:xfrm>
            <a:off x="1389475" y="1461625"/>
            <a:ext cx="6131424" cy="2809025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36"/>
          <p:cNvSpPr/>
          <p:nvPr/>
        </p:nvSpPr>
        <p:spPr>
          <a:xfrm>
            <a:off x="1018275" y="1387300"/>
            <a:ext cx="998100" cy="1184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" name="Imagen 4" descr="Imagen que contiene Gráfico&#10;&#10;Descripción generada automáticamente">
            <a:extLst>
              <a:ext uri="{FF2B5EF4-FFF2-40B4-BE49-F238E27FC236}">
                <a16:creationId xmlns:a16="http://schemas.microsoft.com/office/drawing/2014/main" id="{D9032B18-17F4-121F-D98E-3CD1FA9288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6" name="Imagen 5" descr="Logotipo&#10;&#10;Descripción generada automáticamente">
            <a:extLst>
              <a:ext uri="{FF2B5EF4-FFF2-40B4-BE49-F238E27FC236}">
                <a16:creationId xmlns:a16="http://schemas.microsoft.com/office/drawing/2014/main" id="{FA564B7F-1DE4-EB61-16C8-B61915A341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2083" y="50035"/>
            <a:ext cx="1404407" cy="789979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EPÍFISIS DISTAL (vista posterior)</a:t>
            </a:r>
            <a:endParaRPr/>
          </a:p>
        </p:txBody>
      </p:sp>
      <p:pic>
        <p:nvPicPr>
          <p:cNvPr id="336" name="Google Shape;336;p37"/>
          <p:cNvPicPr preferRelativeResize="0"/>
          <p:nvPr/>
        </p:nvPicPr>
        <p:blipFill rotWithShape="1">
          <a:blip r:embed="rId3">
            <a:alphaModFix/>
          </a:blip>
          <a:srcRect l="48787" t="29424" r="6563" b="23345"/>
          <a:stretch/>
        </p:blipFill>
        <p:spPr>
          <a:xfrm>
            <a:off x="1996175" y="1239525"/>
            <a:ext cx="5351332" cy="3182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Imagen 3" descr="Imagen que contiene Gráfico&#10;&#10;Descripción generada automáticamente">
            <a:extLst>
              <a:ext uri="{FF2B5EF4-FFF2-40B4-BE49-F238E27FC236}">
                <a16:creationId xmlns:a16="http://schemas.microsoft.com/office/drawing/2014/main" id="{60754AAC-B758-F2C1-2147-87A94F7EE5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n 4" descr="Logotipo&#10;&#10;Descripción generada automáticamente">
            <a:extLst>
              <a:ext uri="{FF2B5EF4-FFF2-40B4-BE49-F238E27FC236}">
                <a16:creationId xmlns:a16="http://schemas.microsoft.com/office/drawing/2014/main" id="{291793C4-CD79-B549-3137-2F69DEBA91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2083" y="50035"/>
            <a:ext cx="1404407" cy="789979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DIÁFISIS (vista posterior)</a:t>
            </a:r>
            <a:endParaRPr/>
          </a:p>
        </p:txBody>
      </p:sp>
      <p:pic>
        <p:nvPicPr>
          <p:cNvPr id="342" name="Google Shape;342;p38"/>
          <p:cNvPicPr preferRelativeResize="0"/>
          <p:nvPr/>
        </p:nvPicPr>
        <p:blipFill rotWithShape="1">
          <a:blip r:embed="rId3">
            <a:alphaModFix/>
          </a:blip>
          <a:srcRect l="34183" r="47438"/>
          <a:stretch/>
        </p:blipFill>
        <p:spPr>
          <a:xfrm>
            <a:off x="2832975" y="1116150"/>
            <a:ext cx="977900" cy="3729124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8"/>
          <p:cNvSpPr/>
          <p:nvPr/>
        </p:nvSpPr>
        <p:spPr>
          <a:xfrm>
            <a:off x="3216050" y="1478050"/>
            <a:ext cx="362950" cy="806525"/>
          </a:xfrm>
          <a:custGeom>
            <a:avLst/>
            <a:gdLst/>
            <a:ahLst/>
            <a:cxnLst/>
            <a:rect l="l" t="t" r="r" b="b"/>
            <a:pathLst>
              <a:path w="14518" h="32261" extrusionOk="0">
                <a:moveTo>
                  <a:pt x="0" y="32261"/>
                </a:moveTo>
                <a:cubicBezTo>
                  <a:pt x="3735" y="21076"/>
                  <a:pt x="3968" y="5268"/>
                  <a:pt x="14518" y="0"/>
                </a:cubicBezTo>
              </a:path>
            </a:pathLst>
          </a:custGeom>
          <a:noFill/>
          <a:ln w="9525" cap="flat" cmpd="sng">
            <a:solidFill>
              <a:srgbClr val="9900FF"/>
            </a:solidFill>
            <a:prstDash val="solid"/>
            <a:round/>
            <a:headEnd type="none" w="med" len="med"/>
            <a:tailEnd type="none" w="med" len="med"/>
          </a:ln>
        </p:spPr>
      </p:sp>
      <p:cxnSp>
        <p:nvCxnSpPr>
          <p:cNvPr id="344" name="Google Shape;344;p38"/>
          <p:cNvCxnSpPr/>
          <p:nvPr/>
        </p:nvCxnSpPr>
        <p:spPr>
          <a:xfrm>
            <a:off x="4425850" y="2385375"/>
            <a:ext cx="1784400" cy="102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345" name="Google Shape;345;p38"/>
          <p:cNvPicPr preferRelativeResize="0"/>
          <p:nvPr/>
        </p:nvPicPr>
        <p:blipFill rotWithShape="1">
          <a:blip r:embed="rId3">
            <a:alphaModFix/>
          </a:blip>
          <a:srcRect l="36394" t="5615" r="46085" b="63994"/>
          <a:stretch/>
        </p:blipFill>
        <p:spPr>
          <a:xfrm>
            <a:off x="6542975" y="1204200"/>
            <a:ext cx="2099449" cy="25522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6" name="Google Shape;346;p38"/>
          <p:cNvCxnSpPr/>
          <p:nvPr/>
        </p:nvCxnSpPr>
        <p:spPr>
          <a:xfrm flipH="1">
            <a:off x="2117050" y="1992200"/>
            <a:ext cx="1109100" cy="10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47" name="Google Shape;347;p38"/>
          <p:cNvSpPr txBox="1"/>
          <p:nvPr/>
        </p:nvSpPr>
        <p:spPr>
          <a:xfrm>
            <a:off x="711400" y="1816350"/>
            <a:ext cx="178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/>
              <a:t>línea del sóleo</a:t>
            </a:r>
            <a:endParaRPr b="1"/>
          </a:p>
        </p:txBody>
      </p:sp>
      <p:pic>
        <p:nvPicPr>
          <p:cNvPr id="9" name="Imagen 8" descr="Imagen que contiene Gráfico&#10;&#10;Descripción generada automáticamente">
            <a:extLst>
              <a:ext uri="{FF2B5EF4-FFF2-40B4-BE49-F238E27FC236}">
                <a16:creationId xmlns:a16="http://schemas.microsoft.com/office/drawing/2014/main" id="{05D4CC48-FD88-C5E2-A82B-A1EFAD63C3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0" name="Imagen 9" descr="Logotipo&#10;&#10;Descripción generada automáticamente">
            <a:extLst>
              <a:ext uri="{FF2B5EF4-FFF2-40B4-BE49-F238E27FC236}">
                <a16:creationId xmlns:a16="http://schemas.microsoft.com/office/drawing/2014/main" id="{7C3D5226-3EA8-3A6D-023B-0774991EF0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2083" y="50035"/>
            <a:ext cx="1404407" cy="789979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9"/>
          <p:cNvSpPr txBox="1"/>
          <p:nvPr/>
        </p:nvSpPr>
        <p:spPr>
          <a:xfrm>
            <a:off x="398100" y="1310600"/>
            <a:ext cx="4173900" cy="2401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 b="1"/>
              <a:t>Posición:</a:t>
            </a:r>
            <a:endParaRPr sz="1800" b="1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-419" sz="1800"/>
              <a:t>Colocar hacia arriba la extremidad más abultada.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-419" sz="1800"/>
              <a:t>Medialmente y hacia adelante, la superficie articular que esta extremidad presenta para la tibia.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-419" sz="1800"/>
              <a:t>Hacia delante y medial, el borde más neto y cortante de la diáfisis</a:t>
            </a:r>
            <a:endParaRPr sz="1800"/>
          </a:p>
        </p:txBody>
      </p:sp>
      <p:pic>
        <p:nvPicPr>
          <p:cNvPr id="353" name="Google Shape;353;p39"/>
          <p:cNvPicPr preferRelativeResize="0"/>
          <p:nvPr/>
        </p:nvPicPr>
        <p:blipFill rotWithShape="1">
          <a:blip r:embed="rId3">
            <a:alphaModFix/>
          </a:blip>
          <a:srcRect l="57542"/>
          <a:stretch/>
        </p:blipFill>
        <p:spPr>
          <a:xfrm>
            <a:off x="5514675" y="308325"/>
            <a:ext cx="2491975" cy="4113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Imagen 3" descr="Imagen que contiene Gráfico&#10;&#10;Descripción generada automáticamente">
            <a:extLst>
              <a:ext uri="{FF2B5EF4-FFF2-40B4-BE49-F238E27FC236}">
                <a16:creationId xmlns:a16="http://schemas.microsoft.com/office/drawing/2014/main" id="{CD318482-0213-BD3C-BC92-518EDE5787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n 4" descr="Logotipo&#10;&#10;Descripción generada automáticamente">
            <a:extLst>
              <a:ext uri="{FF2B5EF4-FFF2-40B4-BE49-F238E27FC236}">
                <a16:creationId xmlns:a16="http://schemas.microsoft.com/office/drawing/2014/main" id="{37BEE13B-B140-DD30-0E99-5B0CC4D31D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2083" y="50035"/>
            <a:ext cx="1404407" cy="789979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highlight>
                  <a:srgbClr val="76A5AF"/>
                </a:highlight>
              </a:rPr>
              <a:t>HUESOS DEL PIE </a:t>
            </a:r>
            <a:endParaRPr>
              <a:highlight>
                <a:srgbClr val="76A5AF"/>
              </a:highlight>
            </a:endParaRPr>
          </a:p>
        </p:txBody>
      </p:sp>
      <p:sp>
        <p:nvSpPr>
          <p:cNvPr id="359" name="Google Shape;359;p4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62817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Son 26 y se reparten en 3 grupos yendo de posterior hacia anterior, son: 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s-419">
                <a:solidFill>
                  <a:schemeClr val="dk1"/>
                </a:solidFill>
              </a:rPr>
              <a:t>HUESOS DEL TARSO 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s-419">
                <a:solidFill>
                  <a:schemeClr val="dk1"/>
                </a:solidFill>
              </a:rPr>
              <a:t>METATARSO 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s-419">
                <a:solidFill>
                  <a:schemeClr val="dk1"/>
                </a:solidFill>
              </a:rPr>
              <a:t>DEDOS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360" name="Google Shape;360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4175" y="1715425"/>
            <a:ext cx="4635750" cy="250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Imagen 4" descr="Imagen que contiene Gráfico&#10;&#10;Descripción generada automáticamente">
            <a:extLst>
              <a:ext uri="{FF2B5EF4-FFF2-40B4-BE49-F238E27FC236}">
                <a16:creationId xmlns:a16="http://schemas.microsoft.com/office/drawing/2014/main" id="{380A59C3-586B-1C64-D13F-6267712740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6" name="Imagen 5" descr="Logotipo&#10;&#10;Descripción generada automáticamente">
            <a:extLst>
              <a:ext uri="{FF2B5EF4-FFF2-40B4-BE49-F238E27FC236}">
                <a16:creationId xmlns:a16="http://schemas.microsoft.com/office/drawing/2014/main" id="{69F24E60-9586-C0A6-BB35-9FCE862E7A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2083" y="50035"/>
            <a:ext cx="1404407" cy="789979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4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HUESOS DEL TARSO: </a:t>
            </a:r>
            <a:r>
              <a:rPr lang="es-419" b="1"/>
              <a:t>ASTRÁGALO </a:t>
            </a:r>
            <a:endParaRPr b="1"/>
          </a:p>
        </p:txBody>
      </p:sp>
      <p:pic>
        <p:nvPicPr>
          <p:cNvPr id="366" name="Google Shape;366;p41"/>
          <p:cNvPicPr preferRelativeResize="0"/>
          <p:nvPr/>
        </p:nvPicPr>
        <p:blipFill rotWithShape="1">
          <a:blip r:embed="rId3">
            <a:alphaModFix/>
          </a:blip>
          <a:srcRect l="53383" t="36683" r="23031" b="28087"/>
          <a:stretch/>
        </p:blipFill>
        <p:spPr>
          <a:xfrm>
            <a:off x="907351" y="1406624"/>
            <a:ext cx="3831002" cy="3216900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41"/>
          <p:cNvSpPr/>
          <p:nvPr/>
        </p:nvSpPr>
        <p:spPr>
          <a:xfrm>
            <a:off x="423450" y="1406625"/>
            <a:ext cx="1411500" cy="96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41"/>
          <p:cNvSpPr txBox="1"/>
          <p:nvPr/>
        </p:nvSpPr>
        <p:spPr>
          <a:xfrm>
            <a:off x="311700" y="1064700"/>
            <a:ext cx="2137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VISTA SUPERIOR </a:t>
            </a:r>
            <a:endParaRPr/>
          </a:p>
        </p:txBody>
      </p:sp>
      <p:pic>
        <p:nvPicPr>
          <p:cNvPr id="369" name="Google Shape;369;p41"/>
          <p:cNvPicPr preferRelativeResize="0"/>
          <p:nvPr/>
        </p:nvPicPr>
        <p:blipFill rotWithShape="1">
          <a:blip r:embed="rId4">
            <a:alphaModFix/>
          </a:blip>
          <a:srcRect l="52334" t="52232" r="17671" b="13742"/>
          <a:stretch/>
        </p:blipFill>
        <p:spPr>
          <a:xfrm>
            <a:off x="4965375" y="1553800"/>
            <a:ext cx="3785449" cy="24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41"/>
          <p:cNvSpPr/>
          <p:nvPr/>
        </p:nvSpPr>
        <p:spPr>
          <a:xfrm>
            <a:off x="4788800" y="1407475"/>
            <a:ext cx="907200" cy="400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41"/>
          <p:cNvSpPr/>
          <p:nvPr/>
        </p:nvSpPr>
        <p:spPr>
          <a:xfrm>
            <a:off x="6705475" y="3767725"/>
            <a:ext cx="1934400" cy="400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41"/>
          <p:cNvSpPr txBox="1"/>
          <p:nvPr/>
        </p:nvSpPr>
        <p:spPr>
          <a:xfrm>
            <a:off x="5628200" y="1017725"/>
            <a:ext cx="2137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VISTA INFERIOR </a:t>
            </a:r>
            <a:endParaRPr/>
          </a:p>
        </p:txBody>
      </p:sp>
      <p:pic>
        <p:nvPicPr>
          <p:cNvPr id="10" name="Imagen 9" descr="Imagen que contiene Gráfico&#10;&#10;Descripción generada automáticamente">
            <a:extLst>
              <a:ext uri="{FF2B5EF4-FFF2-40B4-BE49-F238E27FC236}">
                <a16:creationId xmlns:a16="http://schemas.microsoft.com/office/drawing/2014/main" id="{A8891CA1-BC6A-07C5-BD3D-39C90C6E88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1" name="Imagen 10" descr="Logotipo&#10;&#10;Descripción generada automáticamente">
            <a:extLst>
              <a:ext uri="{FF2B5EF4-FFF2-40B4-BE49-F238E27FC236}">
                <a16:creationId xmlns:a16="http://schemas.microsoft.com/office/drawing/2014/main" id="{6CBF0DFF-0B49-B623-0BD3-C12D123C4D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2083" y="50035"/>
            <a:ext cx="1404407" cy="789979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4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s-419"/>
              <a:t>HUESOS DEL TARSO: </a:t>
            </a:r>
            <a:r>
              <a:rPr lang="es-419" b="1"/>
              <a:t>ASTRÁGALO </a:t>
            </a:r>
            <a:endParaRPr/>
          </a:p>
        </p:txBody>
      </p:sp>
      <p:pic>
        <p:nvPicPr>
          <p:cNvPr id="378" name="Google Shape;378;p42"/>
          <p:cNvPicPr preferRelativeResize="0"/>
          <p:nvPr/>
        </p:nvPicPr>
        <p:blipFill rotWithShape="1">
          <a:blip r:embed="rId3">
            <a:alphaModFix/>
          </a:blip>
          <a:srcRect l="55463" t="19665" r="16944" b="41089"/>
          <a:stretch/>
        </p:blipFill>
        <p:spPr>
          <a:xfrm>
            <a:off x="766225" y="1465175"/>
            <a:ext cx="3609201" cy="2886125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42"/>
          <p:cNvSpPr/>
          <p:nvPr/>
        </p:nvSpPr>
        <p:spPr>
          <a:xfrm>
            <a:off x="574675" y="1316725"/>
            <a:ext cx="1895400" cy="73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42"/>
          <p:cNvSpPr/>
          <p:nvPr/>
        </p:nvSpPr>
        <p:spPr>
          <a:xfrm>
            <a:off x="3672075" y="1248500"/>
            <a:ext cx="1126800" cy="73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42"/>
          <p:cNvSpPr txBox="1"/>
          <p:nvPr/>
        </p:nvSpPr>
        <p:spPr>
          <a:xfrm>
            <a:off x="211750" y="1145350"/>
            <a:ext cx="1824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VISTA EXTERNA </a:t>
            </a:r>
            <a:endParaRPr/>
          </a:p>
        </p:txBody>
      </p:sp>
      <p:pic>
        <p:nvPicPr>
          <p:cNvPr id="382" name="Google Shape;382;p42"/>
          <p:cNvPicPr preferRelativeResize="0"/>
          <p:nvPr/>
        </p:nvPicPr>
        <p:blipFill rotWithShape="1">
          <a:blip r:embed="rId4">
            <a:alphaModFix/>
          </a:blip>
          <a:srcRect l="51468" t="41641" r="21880" b="25417"/>
          <a:stretch/>
        </p:blipFill>
        <p:spPr>
          <a:xfrm>
            <a:off x="4868499" y="1588926"/>
            <a:ext cx="3307701" cy="2298601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42"/>
          <p:cNvSpPr/>
          <p:nvPr/>
        </p:nvSpPr>
        <p:spPr>
          <a:xfrm>
            <a:off x="4617400" y="1377225"/>
            <a:ext cx="2480100" cy="73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42"/>
          <p:cNvSpPr txBox="1"/>
          <p:nvPr/>
        </p:nvSpPr>
        <p:spPr>
          <a:xfrm>
            <a:off x="4572000" y="1188725"/>
            <a:ext cx="1976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VISTA INTERNA</a:t>
            </a:r>
            <a:endParaRPr/>
          </a:p>
        </p:txBody>
      </p:sp>
      <p:pic>
        <p:nvPicPr>
          <p:cNvPr id="10" name="Imagen 9" descr="Imagen que contiene Gráfico&#10;&#10;Descripción generada automáticamente">
            <a:extLst>
              <a:ext uri="{FF2B5EF4-FFF2-40B4-BE49-F238E27FC236}">
                <a16:creationId xmlns:a16="http://schemas.microsoft.com/office/drawing/2014/main" id="{AFD6D2C8-4AFC-04ED-F05E-BF5D749072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1" name="Imagen 10" descr="Logotipo&#10;&#10;Descripción generada automáticamente">
            <a:extLst>
              <a:ext uri="{FF2B5EF4-FFF2-40B4-BE49-F238E27FC236}">
                <a16:creationId xmlns:a16="http://schemas.microsoft.com/office/drawing/2014/main" id="{8E46EE64-3ACC-AD28-E3DC-9856C15829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2083" y="50035"/>
            <a:ext cx="1404407" cy="789979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4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s-419"/>
              <a:t>HUESOS DEL TARSO: </a:t>
            </a:r>
            <a:r>
              <a:rPr lang="es-419" b="1"/>
              <a:t>CALCÁNEO </a:t>
            </a:r>
            <a:endParaRPr/>
          </a:p>
        </p:txBody>
      </p:sp>
      <p:pic>
        <p:nvPicPr>
          <p:cNvPr id="390" name="Google Shape;390;p43"/>
          <p:cNvPicPr preferRelativeResize="0"/>
          <p:nvPr/>
        </p:nvPicPr>
        <p:blipFill rotWithShape="1">
          <a:blip r:embed="rId3">
            <a:alphaModFix/>
          </a:blip>
          <a:srcRect l="55899" t="43630" r="22049" b="17542"/>
          <a:stretch/>
        </p:blipFill>
        <p:spPr>
          <a:xfrm>
            <a:off x="887200" y="1609400"/>
            <a:ext cx="3054724" cy="3024175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43"/>
          <p:cNvSpPr txBox="1"/>
          <p:nvPr/>
        </p:nvSpPr>
        <p:spPr>
          <a:xfrm>
            <a:off x="433550" y="1113463"/>
            <a:ext cx="1804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VISTA SUPERIOR</a:t>
            </a:r>
            <a:endParaRPr/>
          </a:p>
        </p:txBody>
      </p:sp>
      <p:pic>
        <p:nvPicPr>
          <p:cNvPr id="392" name="Google Shape;392;p43"/>
          <p:cNvPicPr preferRelativeResize="0"/>
          <p:nvPr/>
        </p:nvPicPr>
        <p:blipFill rotWithShape="1">
          <a:blip r:embed="rId4">
            <a:alphaModFix/>
          </a:blip>
          <a:srcRect l="56588" t="35348" r="16855" b="26571"/>
          <a:stretch/>
        </p:blipFill>
        <p:spPr>
          <a:xfrm>
            <a:off x="5059100" y="1513675"/>
            <a:ext cx="3338900" cy="2691800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43"/>
          <p:cNvSpPr/>
          <p:nvPr/>
        </p:nvSpPr>
        <p:spPr>
          <a:xfrm>
            <a:off x="7490625" y="641600"/>
            <a:ext cx="1411500" cy="96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43"/>
          <p:cNvSpPr/>
          <p:nvPr/>
        </p:nvSpPr>
        <p:spPr>
          <a:xfrm>
            <a:off x="1836025" y="4453600"/>
            <a:ext cx="865800" cy="643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43"/>
          <p:cNvSpPr/>
          <p:nvPr/>
        </p:nvSpPr>
        <p:spPr>
          <a:xfrm>
            <a:off x="6041225" y="4053400"/>
            <a:ext cx="865800" cy="400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43"/>
          <p:cNvSpPr/>
          <p:nvPr/>
        </p:nvSpPr>
        <p:spPr>
          <a:xfrm>
            <a:off x="7763475" y="4115075"/>
            <a:ext cx="865800" cy="400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43"/>
          <p:cNvSpPr/>
          <p:nvPr/>
        </p:nvSpPr>
        <p:spPr>
          <a:xfrm>
            <a:off x="568100" y="4453600"/>
            <a:ext cx="865800" cy="400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p43"/>
          <p:cNvSpPr txBox="1"/>
          <p:nvPr/>
        </p:nvSpPr>
        <p:spPr>
          <a:xfrm>
            <a:off x="5727575" y="925388"/>
            <a:ext cx="1804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VISTA INFERIOR</a:t>
            </a:r>
            <a:endParaRPr/>
          </a:p>
        </p:txBody>
      </p:sp>
      <p:pic>
        <p:nvPicPr>
          <p:cNvPr id="12" name="Imagen 11" descr="Imagen que contiene Gráfico&#10;&#10;Descripción generada automáticamente">
            <a:extLst>
              <a:ext uri="{FF2B5EF4-FFF2-40B4-BE49-F238E27FC236}">
                <a16:creationId xmlns:a16="http://schemas.microsoft.com/office/drawing/2014/main" id="{01A39937-B7C7-C302-4538-5C9AA68E16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3" name="Imagen 12" descr="Logotipo&#10;&#10;Descripción generada automáticamente">
            <a:extLst>
              <a:ext uri="{FF2B5EF4-FFF2-40B4-BE49-F238E27FC236}">
                <a16:creationId xmlns:a16="http://schemas.microsoft.com/office/drawing/2014/main" id="{D7E4CABC-B8EF-83AB-2526-356689374D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2083" y="50035"/>
            <a:ext cx="1404407" cy="789979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s-419"/>
              <a:t>HUESOS DEL TARSO: </a:t>
            </a:r>
            <a:r>
              <a:rPr lang="es-419" b="1"/>
              <a:t>CALCÁNEO </a:t>
            </a:r>
            <a:endParaRPr/>
          </a:p>
        </p:txBody>
      </p:sp>
      <p:pic>
        <p:nvPicPr>
          <p:cNvPr id="404" name="Google Shape;404;p44"/>
          <p:cNvPicPr preferRelativeResize="0"/>
          <p:nvPr/>
        </p:nvPicPr>
        <p:blipFill rotWithShape="1">
          <a:blip r:embed="rId3">
            <a:alphaModFix/>
          </a:blip>
          <a:srcRect l="57772" t="33544" r="17200" b="27153"/>
          <a:stretch/>
        </p:blipFill>
        <p:spPr>
          <a:xfrm>
            <a:off x="766225" y="1379275"/>
            <a:ext cx="3720123" cy="328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44"/>
          <p:cNvPicPr preferRelativeResize="0"/>
          <p:nvPr/>
        </p:nvPicPr>
        <p:blipFill rotWithShape="1">
          <a:blip r:embed="rId4">
            <a:alphaModFix/>
          </a:blip>
          <a:srcRect l="56458" t="40026" r="16791" b="25434"/>
          <a:stretch/>
        </p:blipFill>
        <p:spPr>
          <a:xfrm>
            <a:off x="5015600" y="1437700"/>
            <a:ext cx="3886475" cy="2821375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44"/>
          <p:cNvSpPr/>
          <p:nvPr/>
        </p:nvSpPr>
        <p:spPr>
          <a:xfrm>
            <a:off x="494025" y="1346975"/>
            <a:ext cx="1734000" cy="32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44"/>
          <p:cNvSpPr/>
          <p:nvPr/>
        </p:nvSpPr>
        <p:spPr>
          <a:xfrm>
            <a:off x="3992350" y="1195750"/>
            <a:ext cx="579600" cy="524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44"/>
          <p:cNvSpPr txBox="1"/>
          <p:nvPr/>
        </p:nvSpPr>
        <p:spPr>
          <a:xfrm>
            <a:off x="5706225" y="1037500"/>
            <a:ext cx="1774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VISTA INTERNA</a:t>
            </a:r>
            <a:endParaRPr/>
          </a:p>
        </p:txBody>
      </p:sp>
      <p:sp>
        <p:nvSpPr>
          <p:cNvPr id="409" name="Google Shape;409;p44"/>
          <p:cNvSpPr txBox="1"/>
          <p:nvPr/>
        </p:nvSpPr>
        <p:spPr>
          <a:xfrm>
            <a:off x="494025" y="1257850"/>
            <a:ext cx="1774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VISTA EXTERNA</a:t>
            </a:r>
            <a:endParaRPr/>
          </a:p>
        </p:txBody>
      </p:sp>
      <p:pic>
        <p:nvPicPr>
          <p:cNvPr id="9" name="Imagen 8" descr="Imagen que contiene Gráfico&#10;&#10;Descripción generada automáticamente">
            <a:extLst>
              <a:ext uri="{FF2B5EF4-FFF2-40B4-BE49-F238E27FC236}">
                <a16:creationId xmlns:a16="http://schemas.microsoft.com/office/drawing/2014/main" id="{1B8F3C1E-5D8A-102B-3533-5B01C16378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0" name="Imagen 9" descr="Logotipo&#10;&#10;Descripción generada automáticamente">
            <a:extLst>
              <a:ext uri="{FF2B5EF4-FFF2-40B4-BE49-F238E27FC236}">
                <a16:creationId xmlns:a16="http://schemas.microsoft.com/office/drawing/2014/main" id="{05C84890-1A68-01E2-A509-3B06CEDD8B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2083" y="50035"/>
            <a:ext cx="1404407" cy="789979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4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HUESOS DEL TARSO</a:t>
            </a:r>
            <a:endParaRPr/>
          </a:p>
        </p:txBody>
      </p:sp>
      <p:pic>
        <p:nvPicPr>
          <p:cNvPr id="415" name="Google Shape;415;p45"/>
          <p:cNvPicPr preferRelativeResize="0"/>
          <p:nvPr/>
        </p:nvPicPr>
        <p:blipFill rotWithShape="1">
          <a:blip r:embed="rId3">
            <a:alphaModFix/>
          </a:blip>
          <a:srcRect l="56058" t="41302" r="21393" b="20177"/>
          <a:stretch/>
        </p:blipFill>
        <p:spPr>
          <a:xfrm>
            <a:off x="2994275" y="1017725"/>
            <a:ext cx="3931826" cy="3776575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45"/>
          <p:cNvSpPr/>
          <p:nvPr/>
        </p:nvSpPr>
        <p:spPr>
          <a:xfrm>
            <a:off x="2490200" y="4481700"/>
            <a:ext cx="1552500" cy="312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45"/>
          <p:cNvSpPr/>
          <p:nvPr/>
        </p:nvSpPr>
        <p:spPr>
          <a:xfrm>
            <a:off x="5642450" y="4357425"/>
            <a:ext cx="1552500" cy="312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" name="Imagen 5" descr="Imagen que contiene Gráfico&#10;&#10;Descripción generada automáticamente">
            <a:extLst>
              <a:ext uri="{FF2B5EF4-FFF2-40B4-BE49-F238E27FC236}">
                <a16:creationId xmlns:a16="http://schemas.microsoft.com/office/drawing/2014/main" id="{652FFA8C-C4D6-0FFA-777C-0E3B9358BE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7" name="Imagen 6" descr="Logotipo&#10;&#10;Descripción generada automáticamente">
            <a:extLst>
              <a:ext uri="{FF2B5EF4-FFF2-40B4-BE49-F238E27FC236}">
                <a16:creationId xmlns:a16="http://schemas.microsoft.com/office/drawing/2014/main" id="{4F943A1A-2504-4EE7-C6C8-F3916AE984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2083" y="50035"/>
            <a:ext cx="1404407" cy="789979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2" name="Google Shape;422;p46"/>
          <p:cNvPicPr preferRelativeResize="0"/>
          <p:nvPr/>
        </p:nvPicPr>
        <p:blipFill rotWithShape="1">
          <a:blip r:embed="rId3">
            <a:alphaModFix/>
          </a:blip>
          <a:srcRect l="56448" t="21561" r="19303" b="40517"/>
          <a:stretch/>
        </p:blipFill>
        <p:spPr>
          <a:xfrm>
            <a:off x="2399473" y="490050"/>
            <a:ext cx="4637526" cy="407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46"/>
          <p:cNvSpPr/>
          <p:nvPr/>
        </p:nvSpPr>
        <p:spPr>
          <a:xfrm>
            <a:off x="6704300" y="4240400"/>
            <a:ext cx="443700" cy="453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46"/>
          <p:cNvSpPr/>
          <p:nvPr/>
        </p:nvSpPr>
        <p:spPr>
          <a:xfrm>
            <a:off x="6846625" y="168625"/>
            <a:ext cx="443700" cy="453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46"/>
          <p:cNvSpPr/>
          <p:nvPr/>
        </p:nvSpPr>
        <p:spPr>
          <a:xfrm>
            <a:off x="4350150" y="4424225"/>
            <a:ext cx="443700" cy="453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" name="Imagen 5" descr="Imagen que contiene Gráfico&#10;&#10;Descripción generada automáticamente">
            <a:extLst>
              <a:ext uri="{FF2B5EF4-FFF2-40B4-BE49-F238E27FC236}">
                <a16:creationId xmlns:a16="http://schemas.microsoft.com/office/drawing/2014/main" id="{94B54ADB-110F-E3DA-7C39-085509AFC2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7" name="Imagen 6" descr="Logotipo&#10;&#10;Descripción generada automáticamente">
            <a:extLst>
              <a:ext uri="{FF2B5EF4-FFF2-40B4-BE49-F238E27FC236}">
                <a16:creationId xmlns:a16="http://schemas.microsoft.com/office/drawing/2014/main" id="{D208BDC2-1DD4-4424-E49A-C896C295C6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2083" y="50035"/>
            <a:ext cx="1404407" cy="789979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4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HUESOS DEL METATARSO </a:t>
            </a:r>
            <a:endParaRPr/>
          </a:p>
        </p:txBody>
      </p:sp>
      <p:pic>
        <p:nvPicPr>
          <p:cNvPr id="431" name="Google Shape;431;p47"/>
          <p:cNvPicPr preferRelativeResize="0"/>
          <p:nvPr/>
        </p:nvPicPr>
        <p:blipFill rotWithShape="1">
          <a:blip r:embed="rId3">
            <a:alphaModFix/>
          </a:blip>
          <a:srcRect l="57986" t="43677" r="18129" b="17535"/>
          <a:stretch/>
        </p:blipFill>
        <p:spPr>
          <a:xfrm>
            <a:off x="2601100" y="1276400"/>
            <a:ext cx="3568876" cy="3258524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47"/>
          <p:cNvSpPr/>
          <p:nvPr/>
        </p:nvSpPr>
        <p:spPr>
          <a:xfrm>
            <a:off x="4567000" y="4502525"/>
            <a:ext cx="1834800" cy="242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47"/>
          <p:cNvSpPr/>
          <p:nvPr/>
        </p:nvSpPr>
        <p:spPr>
          <a:xfrm>
            <a:off x="4850450" y="4342400"/>
            <a:ext cx="1834800" cy="242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47"/>
          <p:cNvSpPr/>
          <p:nvPr/>
        </p:nvSpPr>
        <p:spPr>
          <a:xfrm>
            <a:off x="5738825" y="1228350"/>
            <a:ext cx="1834800" cy="242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47"/>
          <p:cNvSpPr/>
          <p:nvPr/>
        </p:nvSpPr>
        <p:spPr>
          <a:xfrm>
            <a:off x="921000" y="4415300"/>
            <a:ext cx="1834800" cy="242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47"/>
          <p:cNvSpPr/>
          <p:nvPr/>
        </p:nvSpPr>
        <p:spPr>
          <a:xfrm rot="-5400000">
            <a:off x="3853350" y="4389425"/>
            <a:ext cx="307800" cy="70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" name="Imagen 8" descr="Imagen que contiene Gráfico&#10;&#10;Descripción generada automáticamente">
            <a:extLst>
              <a:ext uri="{FF2B5EF4-FFF2-40B4-BE49-F238E27FC236}">
                <a16:creationId xmlns:a16="http://schemas.microsoft.com/office/drawing/2014/main" id="{B7F0D370-DDAD-347A-C473-986FD7CA80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0" name="Imagen 9" descr="Logotipo&#10;&#10;Descripción generada automáticamente">
            <a:extLst>
              <a:ext uri="{FF2B5EF4-FFF2-40B4-BE49-F238E27FC236}">
                <a16:creationId xmlns:a16="http://schemas.microsoft.com/office/drawing/2014/main" id="{3DD0FFB4-6565-D880-F519-CE2E1138A7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2083" y="50035"/>
            <a:ext cx="1404407" cy="78997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503</Words>
  <Application>Microsoft Office PowerPoint</Application>
  <PresentationFormat>Presentación en pantalla (16:9)</PresentationFormat>
  <Paragraphs>138</Paragraphs>
  <Slides>36</Slides>
  <Notes>35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36</vt:i4>
      </vt:variant>
    </vt:vector>
  </HeadingPairs>
  <TitlesOfParts>
    <vt:vector size="39" baseType="lpstr">
      <vt:lpstr>Arial</vt:lpstr>
      <vt:lpstr>Bungee</vt:lpstr>
      <vt:lpstr>Simple Light</vt:lpstr>
      <vt:lpstr>Presentación de PowerPoint</vt:lpstr>
      <vt:lpstr>OSTEOLOGÍA DEL MIEMBRO INFERIOR</vt:lpstr>
      <vt:lpstr>¿CÓMO SE COMPONE EL MIEMBRO INFERIOR?</vt:lpstr>
      <vt:lpstr>RECUERDEN…. OSTEOLOGÍA</vt:lpstr>
      <vt:lpstr>CINTURA PÉLVICA </vt:lpstr>
      <vt:lpstr>HUESO COXAL </vt:lpstr>
      <vt:lpstr>CARA INTERNA </vt:lpstr>
      <vt:lpstr>CARA EXTERNA</vt:lpstr>
      <vt:lpstr>BORDE ANTERIOR</vt:lpstr>
      <vt:lpstr>BORDE POSTERIOR</vt:lpstr>
      <vt:lpstr>BORDE SUPERIOR</vt:lpstr>
      <vt:lpstr>HUESO FÉMUR </vt:lpstr>
      <vt:lpstr>EPÍFISIS PROXIMAL (vista anterior) </vt:lpstr>
      <vt:lpstr>EPÍFISIS DISTAL (vista anterior) </vt:lpstr>
      <vt:lpstr>EPÍFISIS PROXIMAL (vista posterior)</vt:lpstr>
      <vt:lpstr>EPÍFISIS DISTAL (vista posterior)</vt:lpstr>
      <vt:lpstr>DIÁFISIS (cara posterior) </vt:lpstr>
      <vt:lpstr>DIÁFISIS (cara posterior)</vt:lpstr>
      <vt:lpstr>HUESOS TIBIA Y PERÓNE </vt:lpstr>
      <vt:lpstr>EPÍFISIS SUPERIOR  (vista anterior) </vt:lpstr>
      <vt:lpstr>EPÍFISIS PROXIMAL (vista superior)</vt:lpstr>
      <vt:lpstr>EPÍFISIS PROXIMAL (vista anterior)</vt:lpstr>
      <vt:lpstr>EPÍFISIS DISTAL (vista anterior)</vt:lpstr>
      <vt:lpstr>EPÍFISIS DISTAL (vista anterior)</vt:lpstr>
      <vt:lpstr>EPÍFISIS DISTAL (vista interna)</vt:lpstr>
      <vt:lpstr>EPÍFISIS DISTAL (vista posterior)</vt:lpstr>
      <vt:lpstr>DIÁFISIS (vista posterior)</vt:lpstr>
      <vt:lpstr>Presentación de PowerPoint</vt:lpstr>
      <vt:lpstr>HUESOS DEL PIE </vt:lpstr>
      <vt:lpstr>HUESOS DEL TARSO: ASTRÁGALO </vt:lpstr>
      <vt:lpstr>HUESOS DEL TARSO: ASTRÁGALO </vt:lpstr>
      <vt:lpstr>HUESOS DEL TARSO: CALCÁNEO </vt:lpstr>
      <vt:lpstr>HUESOS DEL TARSO: CALCÁNEO </vt:lpstr>
      <vt:lpstr>HUESOS DEL TARSO</vt:lpstr>
      <vt:lpstr>Presentación de PowerPoint</vt:lpstr>
      <vt:lpstr>HUESOS DEL METATARSO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Joyce Marinho</dc:creator>
  <cp:lastModifiedBy>Joyce Marinho</cp:lastModifiedBy>
  <cp:revision>1</cp:revision>
  <dcterms:modified xsi:type="dcterms:W3CDTF">2022-05-18T18:13:34Z</dcterms:modified>
</cp:coreProperties>
</file>
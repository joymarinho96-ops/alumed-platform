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embeddedFontLst>
    <p:embeddedFont>
      <p:font typeface="Nunito" charset="0"/>
      <p:regular r:id="rId23"/>
      <p:bold r:id="rId24"/>
      <p:italic r:id="rId25"/>
      <p:boldItalic r:id="rId26"/>
    </p:embeddedFont>
    <p:embeddedFont>
      <p:font typeface="Comfortaa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A7A1C43E-43A1-47AC-98A9-6271C98BFDB1}">
  <a:tblStyle styleId="{A7A1C43E-43A1-47AC-98A9-6271C98BFDB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-906" y="-9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264e529a2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264e529a2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264e529a2e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264e529a2e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264e529a2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264e529a2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264e529a2e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264e529a2e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264e529a2e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264e529a2e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264e529a2e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264e529a2e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264e529a2e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264e529a2e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2afc42dff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2afc42dff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2afc42dff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2afc42dffe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2afc42dffe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2afc42dffe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2afc42dff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2afc42dff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2afc42dffe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2afc42dffe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2afc42dff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2afc42dff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2a502cf4f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2a502cf4f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2a502cf4f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2a502cf4f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2a502cf4f2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2a502cf4f2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2a502cf4f2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2a502cf4f2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2a502cf4f2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2a502cf4f2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2afc42dffe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2afc42dffe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11250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PLEXO BRAQUIAL</a:t>
            </a:r>
            <a:r>
              <a:rPr lang="es-419"/>
              <a:t> 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2450" y="2236375"/>
            <a:ext cx="3070025" cy="271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395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¿QUÉ ES UN PLEXO NERVIOSO?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unito"/>
              <a:buChar char="-"/>
            </a:pPr>
            <a:r>
              <a:rPr lang="es-419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Agrupación o red de fibras nerviosas de nervios espinales (ramas anteriores) que parten desde la médula espinal </a:t>
            </a:r>
            <a:endParaRPr sz="1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unito"/>
              <a:buChar char="-"/>
            </a:pPr>
            <a:r>
              <a:rPr lang="es-419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 denominan según la zona del cuerpo en la que se distribuye la inervación: braquial, cervical, lumbar, sacro, coccígeo, etc.</a:t>
            </a:r>
            <a:endParaRPr sz="1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l="35405" t="26546" r="37253" b="39359"/>
          <a:stretch/>
        </p:blipFill>
        <p:spPr>
          <a:xfrm>
            <a:off x="2576700" y="2571750"/>
            <a:ext cx="3476876" cy="2437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l="41722" t="22720" r="41287" b="19392"/>
          <a:stretch/>
        </p:blipFill>
        <p:spPr>
          <a:xfrm>
            <a:off x="718850" y="435075"/>
            <a:ext cx="2230924" cy="42733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5019550" y="818000"/>
            <a:ext cx="3532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3011725" y="331625"/>
            <a:ext cx="6003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latin typeface="Comfortaa"/>
                <a:ea typeface="Comfortaa"/>
                <a:cs typeface="Comfortaa"/>
                <a:sym typeface="Comfortaa"/>
              </a:rPr>
              <a:t>¿CÓMO ESTÁ FORMADO EL PLEXO BRAQUIAL?</a:t>
            </a:r>
            <a:endParaRPr sz="1800"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1411013" y="1586425"/>
            <a:ext cx="69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C4</a:t>
            </a:r>
            <a:endParaRPr b="1"/>
          </a:p>
        </p:txBody>
      </p:sp>
      <p:sp>
        <p:nvSpPr>
          <p:cNvPr id="71" name="Google Shape;71;p15"/>
          <p:cNvSpPr txBox="1"/>
          <p:nvPr/>
        </p:nvSpPr>
        <p:spPr>
          <a:xfrm>
            <a:off x="1411013" y="1910425"/>
            <a:ext cx="69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C5</a:t>
            </a:r>
            <a:endParaRPr b="1"/>
          </a:p>
        </p:txBody>
      </p:sp>
      <p:sp>
        <p:nvSpPr>
          <p:cNvPr id="72" name="Google Shape;72;p15"/>
          <p:cNvSpPr txBox="1"/>
          <p:nvPr/>
        </p:nvSpPr>
        <p:spPr>
          <a:xfrm>
            <a:off x="1411013" y="2247750"/>
            <a:ext cx="69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C6</a:t>
            </a:r>
            <a:endParaRPr b="1"/>
          </a:p>
        </p:txBody>
      </p:sp>
      <p:sp>
        <p:nvSpPr>
          <p:cNvPr id="73" name="Google Shape;73;p15"/>
          <p:cNvSpPr txBox="1"/>
          <p:nvPr/>
        </p:nvSpPr>
        <p:spPr>
          <a:xfrm>
            <a:off x="1560213" y="2571750"/>
            <a:ext cx="69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C7</a:t>
            </a:r>
            <a:endParaRPr b="1"/>
          </a:p>
        </p:txBody>
      </p:sp>
      <p:sp>
        <p:nvSpPr>
          <p:cNvPr id="74" name="Google Shape;74;p15"/>
          <p:cNvSpPr txBox="1"/>
          <p:nvPr/>
        </p:nvSpPr>
        <p:spPr>
          <a:xfrm>
            <a:off x="1563400" y="2909075"/>
            <a:ext cx="69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T1</a:t>
            </a:r>
            <a:endParaRPr b="1"/>
          </a:p>
        </p:txBody>
      </p:sp>
      <p:sp>
        <p:nvSpPr>
          <p:cNvPr id="75" name="Google Shape;75;p15"/>
          <p:cNvSpPr txBox="1"/>
          <p:nvPr/>
        </p:nvSpPr>
        <p:spPr>
          <a:xfrm>
            <a:off x="1563400" y="3309275"/>
            <a:ext cx="69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T2</a:t>
            </a:r>
            <a:endParaRPr b="1"/>
          </a:p>
        </p:txBody>
      </p:sp>
      <p:sp>
        <p:nvSpPr>
          <p:cNvPr id="76" name="Google Shape;76;p15"/>
          <p:cNvSpPr txBox="1"/>
          <p:nvPr/>
        </p:nvSpPr>
        <p:spPr>
          <a:xfrm>
            <a:off x="3482775" y="867600"/>
            <a:ext cx="5354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Nunito"/>
                <a:ea typeface="Nunito"/>
                <a:cs typeface="Nunito"/>
                <a:sym typeface="Nunito"/>
              </a:rPr>
              <a:t>Ramas anteriores de los nervios ESPINALES desde C4 hasta T1: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-"/>
            </a:pPr>
            <a:r>
              <a:rPr lang="es-419" sz="1800">
                <a:latin typeface="Nunito"/>
                <a:ea typeface="Nunito"/>
                <a:cs typeface="Nunito"/>
                <a:sym typeface="Nunito"/>
              </a:rPr>
              <a:t>Nervios raquídeos: C5, C6, C7, C8, T1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1869738" y="1892875"/>
            <a:ext cx="2084100" cy="368400"/>
          </a:xfrm>
          <a:prstGeom prst="curvedConnector3">
            <a:avLst>
              <a:gd name="adj1" fmla="val 50000"/>
            </a:avLst>
          </a:prstGeom>
          <a:noFill/>
          <a:ln w="7620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" name="Google Shape;78;p15"/>
          <p:cNvCxnSpPr>
            <a:stCxn id="72" idx="0"/>
          </p:cNvCxnSpPr>
          <p:nvPr/>
        </p:nvCxnSpPr>
        <p:spPr>
          <a:xfrm rot="-5400000" flipH="1">
            <a:off x="2554463" y="1451400"/>
            <a:ext cx="417000" cy="2009700"/>
          </a:xfrm>
          <a:prstGeom prst="curvedConnector4">
            <a:avLst>
              <a:gd name="adj1" fmla="val 19742"/>
              <a:gd name="adj2" fmla="val 58636"/>
            </a:avLst>
          </a:prstGeom>
          <a:noFill/>
          <a:ln w="7620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" name="Google Shape;79;p15"/>
          <p:cNvCxnSpPr/>
          <p:nvPr/>
        </p:nvCxnSpPr>
        <p:spPr>
          <a:xfrm>
            <a:off x="1869738" y="2601075"/>
            <a:ext cx="2084100" cy="368400"/>
          </a:xfrm>
          <a:prstGeom prst="curvedConnector3">
            <a:avLst>
              <a:gd name="adj1" fmla="val 50000"/>
            </a:avLst>
          </a:prstGeom>
          <a:noFill/>
          <a:ln w="7620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" name="Google Shape;80;p15"/>
          <p:cNvCxnSpPr/>
          <p:nvPr/>
        </p:nvCxnSpPr>
        <p:spPr>
          <a:xfrm>
            <a:off x="1848613" y="2925875"/>
            <a:ext cx="2084100" cy="368400"/>
          </a:xfrm>
          <a:prstGeom prst="curvedConnector3">
            <a:avLst>
              <a:gd name="adj1" fmla="val 50000"/>
            </a:avLst>
          </a:prstGeom>
          <a:noFill/>
          <a:ln w="7620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" name="Google Shape;81;p15"/>
          <p:cNvCxnSpPr/>
          <p:nvPr/>
        </p:nvCxnSpPr>
        <p:spPr>
          <a:xfrm>
            <a:off x="1869738" y="3264475"/>
            <a:ext cx="2084100" cy="368400"/>
          </a:xfrm>
          <a:prstGeom prst="curvedConnector3">
            <a:avLst>
              <a:gd name="adj1" fmla="val 50000"/>
            </a:avLst>
          </a:prstGeom>
          <a:noFill/>
          <a:ln w="7620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15"/>
          <p:cNvSpPr txBox="1"/>
          <p:nvPr/>
        </p:nvSpPr>
        <p:spPr>
          <a:xfrm>
            <a:off x="3953850" y="2072138"/>
            <a:ext cx="69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C5</a:t>
            </a:r>
            <a:endParaRPr b="1"/>
          </a:p>
        </p:txBody>
      </p:sp>
      <p:sp>
        <p:nvSpPr>
          <p:cNvPr id="83" name="Google Shape;83;p15"/>
          <p:cNvSpPr txBox="1"/>
          <p:nvPr/>
        </p:nvSpPr>
        <p:spPr>
          <a:xfrm>
            <a:off x="3767825" y="2472350"/>
            <a:ext cx="69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C6</a:t>
            </a:r>
            <a:endParaRPr b="1"/>
          </a:p>
        </p:txBody>
      </p:sp>
      <p:sp>
        <p:nvSpPr>
          <p:cNvPr id="84" name="Google Shape;84;p15"/>
          <p:cNvSpPr txBox="1"/>
          <p:nvPr/>
        </p:nvSpPr>
        <p:spPr>
          <a:xfrm>
            <a:off x="3953850" y="2753500"/>
            <a:ext cx="69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C7</a:t>
            </a:r>
            <a:endParaRPr b="1"/>
          </a:p>
        </p:txBody>
      </p:sp>
      <p:sp>
        <p:nvSpPr>
          <p:cNvPr id="85" name="Google Shape;85;p15"/>
          <p:cNvSpPr txBox="1"/>
          <p:nvPr/>
        </p:nvSpPr>
        <p:spPr>
          <a:xfrm>
            <a:off x="3920225" y="3083625"/>
            <a:ext cx="69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C8</a:t>
            </a:r>
            <a:endParaRPr b="1"/>
          </a:p>
        </p:txBody>
      </p:sp>
      <p:sp>
        <p:nvSpPr>
          <p:cNvPr id="86" name="Google Shape;86;p15"/>
          <p:cNvSpPr txBox="1"/>
          <p:nvPr/>
        </p:nvSpPr>
        <p:spPr>
          <a:xfrm>
            <a:off x="3920225" y="3434850"/>
            <a:ext cx="69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T1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6"/>
          <p:cNvPicPr preferRelativeResize="0"/>
          <p:nvPr/>
        </p:nvPicPr>
        <p:blipFill rotWithShape="1">
          <a:blip r:embed="rId3">
            <a:alphaModFix/>
          </a:blip>
          <a:srcRect l="28190" t="23794" r="19489" b="19267"/>
          <a:stretch/>
        </p:blipFill>
        <p:spPr>
          <a:xfrm>
            <a:off x="718825" y="258425"/>
            <a:ext cx="7498350" cy="458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7"/>
          <p:cNvPicPr preferRelativeResize="0"/>
          <p:nvPr/>
        </p:nvPicPr>
        <p:blipFill rotWithShape="1">
          <a:blip r:embed="rId3">
            <a:alphaModFix/>
          </a:blip>
          <a:srcRect l="27894" t="23750" r="19976" b="20154"/>
          <a:stretch/>
        </p:blipFill>
        <p:spPr>
          <a:xfrm>
            <a:off x="941950" y="231450"/>
            <a:ext cx="7411574" cy="4483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18"/>
          <p:cNvGraphicFramePr/>
          <p:nvPr/>
        </p:nvGraphicFramePr>
        <p:xfrm>
          <a:off x="1163200" y="1254995"/>
          <a:ext cx="7239000" cy="2763100"/>
        </p:xfrm>
        <a:graphic>
          <a:graphicData uri="http://schemas.openxmlformats.org/drawingml/2006/table">
            <a:tbl>
              <a:tblPr>
                <a:noFill/>
                <a:tableStyleId>{A7A1C43E-43A1-47AC-98A9-6271C98BFDB1}</a:tableStyleId>
              </a:tblPr>
              <a:tblGrid>
                <a:gridCol w="3619500"/>
                <a:gridCol w="3619500"/>
              </a:tblGrid>
              <a:tr h="1381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b="1">
                          <a:highlight>
                            <a:srgbClr val="C27BA0"/>
                          </a:highlight>
                        </a:rPr>
                        <a:t>RAMAS TERMINALES ANTERIORES </a:t>
                      </a:r>
                      <a:endParaRPr b="1">
                        <a:highlight>
                          <a:srgbClr val="C27BA0"/>
                        </a:highlight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s-419"/>
                        <a:t>Nervio músculo cutáneo</a:t>
                      </a:r>
                      <a:endParaRPr/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s-419"/>
                        <a:t>Nervio mediano</a:t>
                      </a:r>
                      <a:endParaRPr/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s-419"/>
                        <a:t>Nervio cubital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381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b="1">
                          <a:highlight>
                            <a:srgbClr val="6AA84F"/>
                          </a:highlight>
                        </a:rPr>
                        <a:t>RAMAS TERMINALES POSTERIORES</a:t>
                      </a:r>
                      <a:endParaRPr b="1">
                        <a:highlight>
                          <a:srgbClr val="6AA84F"/>
                        </a:highlight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s-419"/>
                        <a:t>Nervio circunflejo</a:t>
                      </a:r>
                      <a:endParaRPr/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s-419"/>
                        <a:t>Nervio radial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9"/>
          <p:cNvPicPr preferRelativeResize="0"/>
          <p:nvPr/>
        </p:nvPicPr>
        <p:blipFill rotWithShape="1">
          <a:blip r:embed="rId3">
            <a:alphaModFix/>
          </a:blip>
          <a:srcRect l="47767" t="25283" r="19255" b="19136"/>
          <a:stretch/>
        </p:blipFill>
        <p:spPr>
          <a:xfrm>
            <a:off x="4665297" y="827975"/>
            <a:ext cx="4537002" cy="42992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7" name="Google Shape;107;p19"/>
          <p:cNvGraphicFramePr/>
          <p:nvPr/>
        </p:nvGraphicFramePr>
        <p:xfrm>
          <a:off x="208850" y="827975"/>
          <a:ext cx="4347550" cy="4299270"/>
        </p:xfrm>
        <a:graphic>
          <a:graphicData uri="http://schemas.openxmlformats.org/drawingml/2006/table">
            <a:tbl>
              <a:tblPr>
                <a:noFill/>
                <a:tableStyleId>{A7A1C43E-43A1-47AC-98A9-6271C98BFDB1}</a:tableStyleId>
              </a:tblPr>
              <a:tblGrid>
                <a:gridCol w="2297725"/>
                <a:gridCol w="2049825"/>
              </a:tblGrid>
              <a:tr h="512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>
                          <a:highlight>
                            <a:srgbClr val="C27BA0"/>
                          </a:highlight>
                        </a:rPr>
                        <a:t>N de los pectorales (1)</a:t>
                      </a:r>
                      <a:endParaRPr sz="1300">
                        <a:highlight>
                          <a:srgbClr val="C27BA0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/>
                        <a:t>Pectoral mayor</a:t>
                      </a: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/>
                        <a:t>Pectoral menor </a:t>
                      </a:r>
                      <a:endParaRPr sz="1300"/>
                    </a:p>
                  </a:txBody>
                  <a:tcPr marL="91425" marR="91425" marT="91425" marB="91425"/>
                </a:tc>
              </a:tr>
              <a:tr h="512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>
                          <a:highlight>
                            <a:srgbClr val="C27BA0"/>
                          </a:highlight>
                        </a:rPr>
                        <a:t>N. del subclavio (2)</a:t>
                      </a:r>
                      <a:endParaRPr sz="1300">
                        <a:highlight>
                          <a:srgbClr val="C27BA0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/>
                        <a:t>Subclavio </a:t>
                      </a:r>
                      <a:endParaRPr sz="1300"/>
                    </a:p>
                  </a:txBody>
                  <a:tcPr marL="91425" marR="91425" marT="91425" marB="91425"/>
                </a:tc>
              </a:tr>
              <a:tr h="512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>
                          <a:highlight>
                            <a:srgbClr val="C27BA0"/>
                          </a:highlight>
                        </a:rPr>
                        <a:t>N. supraescapular (3)</a:t>
                      </a:r>
                      <a:endParaRPr sz="1300">
                        <a:highlight>
                          <a:srgbClr val="C27BA0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/>
                        <a:t>Supraespinoso</a:t>
                      </a: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/>
                        <a:t>Infraespinoso</a:t>
                      </a:r>
                      <a:endParaRPr sz="1300"/>
                    </a:p>
                  </a:txBody>
                  <a:tcPr marL="91425" marR="91425" marT="91425" marB="91425"/>
                </a:tc>
              </a:tr>
              <a:tr h="512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>
                          <a:highlight>
                            <a:srgbClr val="6AA84F"/>
                          </a:highlight>
                        </a:rPr>
                        <a:t>N. subescapular (4)</a:t>
                      </a:r>
                      <a:endParaRPr sz="1300">
                        <a:highlight>
                          <a:srgbClr val="6AA84F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/>
                        <a:t>Subescapular </a:t>
                      </a:r>
                      <a:endParaRPr sz="1300"/>
                    </a:p>
                  </a:txBody>
                  <a:tcPr marL="91425" marR="91425" marT="91425" marB="91425"/>
                </a:tc>
              </a:tr>
              <a:tr h="512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>
                          <a:highlight>
                            <a:srgbClr val="6AA84F"/>
                          </a:highlight>
                        </a:rPr>
                        <a:t>N. dorsal ancho (5)</a:t>
                      </a:r>
                      <a:endParaRPr sz="1300">
                        <a:highlight>
                          <a:srgbClr val="6AA84F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/>
                        <a:t>Dorsal ancho </a:t>
                      </a:r>
                      <a:endParaRPr sz="1300"/>
                    </a:p>
                  </a:txBody>
                  <a:tcPr marL="91425" marR="91425" marT="91425" marB="91425"/>
                </a:tc>
              </a:tr>
              <a:tr h="512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>
                          <a:highlight>
                            <a:srgbClr val="6AA84F"/>
                          </a:highlight>
                        </a:rPr>
                        <a:t>N. redondo mayor (6)</a:t>
                      </a:r>
                      <a:endParaRPr sz="1300">
                        <a:highlight>
                          <a:srgbClr val="6AA84F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/>
                        <a:t>Redondo mayor</a:t>
                      </a:r>
                      <a:endParaRPr sz="1300"/>
                    </a:p>
                  </a:txBody>
                  <a:tcPr marL="91425" marR="91425" marT="91425" marB="91425"/>
                </a:tc>
              </a:tr>
              <a:tr h="512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>
                          <a:highlight>
                            <a:srgbClr val="6AA84F"/>
                          </a:highlight>
                        </a:rPr>
                        <a:t>N. del serrato mayor (7)</a:t>
                      </a:r>
                      <a:endParaRPr sz="1300">
                        <a:highlight>
                          <a:srgbClr val="6AA84F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/>
                        <a:t>Serrato mayor</a:t>
                      </a:r>
                      <a:endParaRPr sz="1300"/>
                    </a:p>
                  </a:txBody>
                  <a:tcPr marL="91425" marR="91425" marT="91425" marB="91425"/>
                </a:tc>
              </a:tr>
              <a:tr h="53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>
                          <a:highlight>
                            <a:srgbClr val="6AA84F"/>
                          </a:highlight>
                        </a:rPr>
                        <a:t>N. del angular y del romboides (8) </a:t>
                      </a:r>
                      <a:endParaRPr sz="1300">
                        <a:highlight>
                          <a:srgbClr val="6AA84F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/>
                        <a:t>Angular del omóplato</a:t>
                      </a: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/>
                        <a:t>Romboides </a:t>
                      </a:r>
                      <a:endParaRPr sz="1300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108" name="Google Shape;108;p19"/>
          <p:cNvSpPr txBox="1"/>
          <p:nvPr/>
        </p:nvSpPr>
        <p:spPr>
          <a:xfrm>
            <a:off x="208850" y="247875"/>
            <a:ext cx="4734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>
                <a:latin typeface="Comfortaa"/>
                <a:ea typeface="Comfortaa"/>
                <a:cs typeface="Comfortaa"/>
                <a:sym typeface="Comfortaa"/>
              </a:rPr>
              <a:t>RAMAS COLATERALES MOTORAS</a:t>
            </a:r>
            <a:endParaRPr sz="2000" b="1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09" name="Google Shape;109;p19"/>
          <p:cNvCxnSpPr/>
          <p:nvPr/>
        </p:nvCxnSpPr>
        <p:spPr>
          <a:xfrm rot="-5400000" flipH="1">
            <a:off x="6448625" y="3394025"/>
            <a:ext cx="557700" cy="458700"/>
          </a:xfrm>
          <a:prstGeom prst="curvedConnector3">
            <a:avLst>
              <a:gd name="adj1" fmla="val 15559"/>
            </a:avLst>
          </a:prstGeom>
          <a:noFill/>
          <a:ln w="76200" cap="flat" cmpd="sng">
            <a:solidFill>
              <a:srgbClr val="C27BA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" name="Google Shape;110;p19"/>
          <p:cNvSpPr txBox="1"/>
          <p:nvPr/>
        </p:nvSpPr>
        <p:spPr>
          <a:xfrm>
            <a:off x="6721325" y="3344525"/>
            <a:ext cx="23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1</a:t>
            </a:r>
            <a:endParaRPr b="1"/>
          </a:p>
        </p:txBody>
      </p:sp>
      <p:cxnSp>
        <p:nvCxnSpPr>
          <p:cNvPr id="111" name="Google Shape;111;p19"/>
          <p:cNvCxnSpPr/>
          <p:nvPr/>
        </p:nvCxnSpPr>
        <p:spPr>
          <a:xfrm rot="5400000">
            <a:off x="7720600" y="2527500"/>
            <a:ext cx="435600" cy="21060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C27BA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9"/>
          <p:cNvCxnSpPr/>
          <p:nvPr/>
        </p:nvCxnSpPr>
        <p:spPr>
          <a:xfrm flipH="1">
            <a:off x="7795750" y="2577950"/>
            <a:ext cx="309900" cy="27270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C27BA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" name="Google Shape;113;p19"/>
          <p:cNvSpPr txBox="1"/>
          <p:nvPr/>
        </p:nvSpPr>
        <p:spPr>
          <a:xfrm>
            <a:off x="7795750" y="2432700"/>
            <a:ext cx="30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2</a:t>
            </a:r>
            <a:endParaRPr b="1"/>
          </a:p>
        </p:txBody>
      </p:sp>
      <p:cxnSp>
        <p:nvCxnSpPr>
          <p:cNvPr id="114" name="Google Shape;114;p19"/>
          <p:cNvCxnSpPr/>
          <p:nvPr/>
        </p:nvCxnSpPr>
        <p:spPr>
          <a:xfrm rot="10800000">
            <a:off x="7236250" y="2181300"/>
            <a:ext cx="483300" cy="451500"/>
          </a:xfrm>
          <a:prstGeom prst="curvedConnector3">
            <a:avLst>
              <a:gd name="adj1" fmla="val 32945"/>
            </a:avLst>
          </a:prstGeom>
          <a:noFill/>
          <a:ln w="76200" cap="flat" cmpd="sng">
            <a:solidFill>
              <a:srgbClr val="C27BA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" name="Google Shape;115;p19"/>
          <p:cNvSpPr txBox="1"/>
          <p:nvPr/>
        </p:nvSpPr>
        <p:spPr>
          <a:xfrm>
            <a:off x="7399150" y="2014800"/>
            <a:ext cx="30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3</a:t>
            </a:r>
            <a:endParaRPr b="1"/>
          </a:p>
        </p:txBody>
      </p:sp>
      <p:cxnSp>
        <p:nvCxnSpPr>
          <p:cNvPr id="116" name="Google Shape;116;p19"/>
          <p:cNvCxnSpPr/>
          <p:nvPr/>
        </p:nvCxnSpPr>
        <p:spPr>
          <a:xfrm>
            <a:off x="6292475" y="3856375"/>
            <a:ext cx="198300" cy="173400"/>
          </a:xfrm>
          <a:prstGeom prst="curvedConnector3">
            <a:avLst>
              <a:gd name="adj1" fmla="val 75000"/>
            </a:avLst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9"/>
          <p:cNvCxnSpPr/>
          <p:nvPr/>
        </p:nvCxnSpPr>
        <p:spPr>
          <a:xfrm>
            <a:off x="6368675" y="3780175"/>
            <a:ext cx="198300" cy="173400"/>
          </a:xfrm>
          <a:prstGeom prst="curvedConnector3">
            <a:avLst>
              <a:gd name="adj1" fmla="val 75000"/>
            </a:avLst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" name="Google Shape;118;p19"/>
          <p:cNvCxnSpPr/>
          <p:nvPr/>
        </p:nvCxnSpPr>
        <p:spPr>
          <a:xfrm>
            <a:off x="6444875" y="3703975"/>
            <a:ext cx="198300" cy="173400"/>
          </a:xfrm>
          <a:prstGeom prst="curvedConnector3">
            <a:avLst>
              <a:gd name="adj1" fmla="val 75000"/>
            </a:avLst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" name="Google Shape;119;p19"/>
          <p:cNvSpPr txBox="1"/>
          <p:nvPr/>
        </p:nvSpPr>
        <p:spPr>
          <a:xfrm rot="-2167965">
            <a:off x="5929833" y="3423327"/>
            <a:ext cx="923416" cy="399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4 5 6</a:t>
            </a:r>
            <a:endParaRPr b="1"/>
          </a:p>
        </p:txBody>
      </p:sp>
      <p:cxnSp>
        <p:nvCxnSpPr>
          <p:cNvPr id="120" name="Google Shape;120;p19"/>
          <p:cNvCxnSpPr/>
          <p:nvPr/>
        </p:nvCxnSpPr>
        <p:spPr>
          <a:xfrm rot="5400000">
            <a:off x="7578900" y="2894075"/>
            <a:ext cx="1611300" cy="483300"/>
          </a:xfrm>
          <a:prstGeom prst="curvedConnector3">
            <a:avLst>
              <a:gd name="adj1" fmla="val 19230"/>
            </a:avLst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" name="Google Shape;121;p19"/>
          <p:cNvCxnSpPr/>
          <p:nvPr/>
        </p:nvCxnSpPr>
        <p:spPr>
          <a:xfrm rot="5400000">
            <a:off x="8099400" y="2646200"/>
            <a:ext cx="731400" cy="594900"/>
          </a:xfrm>
          <a:prstGeom prst="curvedConnector3">
            <a:avLst>
              <a:gd name="adj1" fmla="val 13556"/>
            </a:avLst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9"/>
          <p:cNvCxnSpPr/>
          <p:nvPr/>
        </p:nvCxnSpPr>
        <p:spPr>
          <a:xfrm rot="5400000">
            <a:off x="8062250" y="2943625"/>
            <a:ext cx="780900" cy="594900"/>
          </a:xfrm>
          <a:prstGeom prst="curvedConnector3">
            <a:avLst>
              <a:gd name="adj1" fmla="val 25394"/>
            </a:avLst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" name="Google Shape;123;p19"/>
          <p:cNvSpPr txBox="1"/>
          <p:nvPr/>
        </p:nvSpPr>
        <p:spPr>
          <a:xfrm>
            <a:off x="8385850" y="2577950"/>
            <a:ext cx="23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7</a:t>
            </a:r>
            <a:endParaRPr b="1"/>
          </a:p>
        </p:txBody>
      </p:sp>
      <p:cxnSp>
        <p:nvCxnSpPr>
          <p:cNvPr id="124" name="Google Shape;124;p19"/>
          <p:cNvCxnSpPr/>
          <p:nvPr/>
        </p:nvCxnSpPr>
        <p:spPr>
          <a:xfrm rot="5400000" flipH="1">
            <a:off x="8241950" y="1821875"/>
            <a:ext cx="458700" cy="359400"/>
          </a:xfrm>
          <a:prstGeom prst="curvedConnector3">
            <a:avLst>
              <a:gd name="adj1" fmla="val 21615"/>
            </a:avLst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5" name="Google Shape;125;p19"/>
          <p:cNvSpPr txBox="1"/>
          <p:nvPr/>
        </p:nvSpPr>
        <p:spPr>
          <a:xfrm>
            <a:off x="8241950" y="1614600"/>
            <a:ext cx="45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8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RELACIONES</a:t>
            </a:r>
            <a:endParaRPr b="1"/>
          </a:p>
        </p:txBody>
      </p:sp>
      <p:pic>
        <p:nvPicPr>
          <p:cNvPr id="131" name="Google Shape;131;p20"/>
          <p:cNvPicPr preferRelativeResize="0"/>
          <p:nvPr/>
        </p:nvPicPr>
        <p:blipFill rotWithShape="1">
          <a:blip r:embed="rId3">
            <a:alphaModFix/>
          </a:blip>
          <a:srcRect l="18292" t="26180" r="20365" b="18412"/>
          <a:stretch/>
        </p:blipFill>
        <p:spPr>
          <a:xfrm>
            <a:off x="2311100" y="1585600"/>
            <a:ext cx="6790775" cy="344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0"/>
          <p:cNvPicPr preferRelativeResize="0"/>
          <p:nvPr/>
        </p:nvPicPr>
        <p:blipFill rotWithShape="1">
          <a:blip r:embed="rId4">
            <a:alphaModFix/>
          </a:blip>
          <a:srcRect l="34465" t="19771" r="35157" b="28551"/>
          <a:stretch/>
        </p:blipFill>
        <p:spPr>
          <a:xfrm>
            <a:off x="311700" y="1017725"/>
            <a:ext cx="3146175" cy="3009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RELACIONES</a:t>
            </a:r>
            <a:endParaRPr b="1"/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3">
            <a:alphaModFix/>
          </a:blip>
          <a:srcRect l="28657" t="35957" r="20887" b="8207"/>
          <a:stretch/>
        </p:blipFill>
        <p:spPr>
          <a:xfrm>
            <a:off x="3319075" y="1370625"/>
            <a:ext cx="5804701" cy="36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1"/>
          <p:cNvPicPr preferRelativeResize="0"/>
          <p:nvPr/>
        </p:nvPicPr>
        <p:blipFill rotWithShape="1">
          <a:blip r:embed="rId4">
            <a:alphaModFix/>
          </a:blip>
          <a:srcRect l="32471" t="26357" r="35265" b="24642"/>
          <a:stretch/>
        </p:blipFill>
        <p:spPr>
          <a:xfrm>
            <a:off x="354525" y="877450"/>
            <a:ext cx="3314077" cy="282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highlight>
                  <a:schemeClr val="accent4"/>
                </a:highlight>
              </a:rPr>
              <a:t>Nervio músculo cutáneo</a:t>
            </a:r>
            <a:endParaRPr>
              <a:highlight>
                <a:schemeClr val="accent4"/>
              </a:highlight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524300" cy="3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dk1"/>
                </a:solidFill>
              </a:rPr>
              <a:t>1 . Perfora al músculo Coracobraquial 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dk1"/>
                </a:solidFill>
              </a:rPr>
              <a:t>2 . Discurre entre los planos superficial y profundo del brazo  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dk1"/>
                </a:solidFill>
              </a:rPr>
              <a:t>3 . Se cruza al canal bicipital externo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200">
                <a:solidFill>
                  <a:schemeClr val="dk1"/>
                </a:solidFill>
              </a:rPr>
              <a:t> 4 . Termina como ramos sensitivos en la cara externa del antebrazo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634525" y="3428475"/>
            <a:ext cx="3028500" cy="98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 b="1"/>
              <a:t>Territorio de inervación motora: </a:t>
            </a:r>
            <a:endParaRPr sz="1300" b="1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-419" sz="1300"/>
              <a:t>coracobraquial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-419" sz="1300"/>
              <a:t>braquial anterior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-419" sz="1300"/>
              <a:t>biceps braquial </a:t>
            </a:r>
            <a:endParaRPr sz="1300"/>
          </a:p>
        </p:txBody>
      </p:sp>
      <p:pic>
        <p:nvPicPr>
          <p:cNvPr id="147" name="Google Shape;147;p22"/>
          <p:cNvPicPr preferRelativeResize="0"/>
          <p:nvPr/>
        </p:nvPicPr>
        <p:blipFill rotWithShape="1">
          <a:blip r:embed="rId3">
            <a:alphaModFix/>
          </a:blip>
          <a:srcRect l="28190" t="23794" r="19489" b="19267"/>
          <a:stretch/>
        </p:blipFill>
        <p:spPr>
          <a:xfrm>
            <a:off x="4667800" y="1302450"/>
            <a:ext cx="4001851" cy="244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3"/>
          <p:cNvPicPr preferRelativeResize="0"/>
          <p:nvPr/>
        </p:nvPicPr>
        <p:blipFill rotWithShape="1">
          <a:blip r:embed="rId3">
            <a:alphaModFix/>
          </a:blip>
          <a:srcRect l="32213" t="14055" r="34163" b="11617"/>
          <a:stretch/>
        </p:blipFill>
        <p:spPr>
          <a:xfrm>
            <a:off x="2921350" y="159725"/>
            <a:ext cx="3651123" cy="4537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highlight>
                  <a:srgbClr val="93C47D"/>
                </a:highlight>
              </a:rPr>
              <a:t>Nervio cubital </a:t>
            </a:r>
            <a:endParaRPr>
              <a:highlight>
                <a:srgbClr val="93C47D"/>
              </a:highlight>
            </a:endParaRPr>
          </a:p>
        </p:txBody>
      </p:sp>
      <p:sp>
        <p:nvSpPr>
          <p:cNvPr id="158" name="Google Shape;158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91700" cy="34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-419" sz="1065">
                <a:solidFill>
                  <a:schemeClr val="dk1"/>
                </a:solidFill>
              </a:rPr>
              <a:t>1- En la axila camina entre la vena y arteria axilar </a:t>
            </a:r>
            <a:endParaRPr sz="106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s-419" sz="1065">
                <a:solidFill>
                  <a:schemeClr val="dk1"/>
                </a:solidFill>
              </a:rPr>
              <a:t>2- En El Brazo se ubica muy por detrás de la arteria humeral, luego se dirige hacia adentro hasta volverse posterior perforando el tabique intermuscular interno y colocándose en el compartimento del tríceps</a:t>
            </a:r>
            <a:endParaRPr sz="106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s-419" sz="1065">
                <a:solidFill>
                  <a:schemeClr val="dk1"/>
                </a:solidFill>
              </a:rPr>
              <a:t>3 - A nivel del codo el nervio se encuentra en el canal epitrocleoolecraneano</a:t>
            </a:r>
            <a:endParaRPr sz="106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s-419" sz="1065">
                <a:solidFill>
                  <a:schemeClr val="dk1"/>
                </a:solidFill>
              </a:rPr>
              <a:t>4 - Luego penetra en el antebrazo entre los dos fascículos del cubital anterior. </a:t>
            </a:r>
            <a:endParaRPr sz="106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s-419" sz="1065">
                <a:solidFill>
                  <a:schemeClr val="dk1"/>
                </a:solidFill>
              </a:rPr>
              <a:t> 5- En el antebrazo descansa sobre el flexor común profundo de los dedos. En el antebrazo es acompañado por la arteria cubital la cual se ubica externamente al nervio</a:t>
            </a:r>
            <a:endParaRPr sz="106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es-419" sz="1065">
                <a:solidFill>
                  <a:schemeClr val="dk1"/>
                </a:solidFill>
              </a:rPr>
              <a:t>6 - En la muñeca,  pasa por un canal propio (de Guyón) formado por el ligamento anular, el hueso ganchoso y el pisiforme</a:t>
            </a:r>
            <a:endParaRPr sz="1065">
              <a:solidFill>
                <a:schemeClr val="dk1"/>
              </a:solidFill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6054600" y="2438725"/>
            <a:ext cx="2777700" cy="2401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/>
              <a:t>Territorio de inervación motora</a:t>
            </a:r>
            <a:r>
              <a:rPr lang="es-419" sz="1200"/>
              <a:t>: 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-419" sz="1200" i="1"/>
              <a:t>Antebrazo:</a:t>
            </a:r>
            <a:r>
              <a:rPr lang="es-419" sz="1200"/>
              <a:t> </a:t>
            </a:r>
            <a:endParaRPr sz="12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-419" sz="1200"/>
              <a:t>Cubital Anterior</a:t>
            </a:r>
            <a:endParaRPr sz="12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-419" sz="1200"/>
              <a:t>2 Haces internos del Flexor común profundo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-419" sz="1200" i="1"/>
              <a:t>Mano:</a:t>
            </a:r>
            <a:endParaRPr sz="1200" i="1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-419" sz="1200"/>
              <a:t>interóseos</a:t>
            </a:r>
            <a:endParaRPr sz="12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-419" sz="1200"/>
              <a:t>3° y 4° lumbricales</a:t>
            </a:r>
            <a:endParaRPr sz="12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-419" sz="1200"/>
              <a:t>aproximador del meñique </a:t>
            </a:r>
            <a:endParaRPr sz="12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-419" sz="1200"/>
              <a:t>flexor corto del meñique</a:t>
            </a:r>
            <a:endParaRPr sz="12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-419" sz="1200"/>
              <a:t>oponente del meñique </a:t>
            </a:r>
            <a:endParaRPr sz="1200"/>
          </a:p>
        </p:txBody>
      </p:sp>
      <p:pic>
        <p:nvPicPr>
          <p:cNvPr id="160" name="Google Shape;160;p24"/>
          <p:cNvPicPr preferRelativeResize="0"/>
          <p:nvPr/>
        </p:nvPicPr>
        <p:blipFill rotWithShape="1">
          <a:blip r:embed="rId3">
            <a:alphaModFix/>
          </a:blip>
          <a:srcRect l="28190" t="23794" r="19489" b="19267"/>
          <a:stretch/>
        </p:blipFill>
        <p:spPr>
          <a:xfrm>
            <a:off x="5373825" y="86025"/>
            <a:ext cx="3563525" cy="218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5"/>
          <p:cNvPicPr preferRelativeResize="0"/>
          <p:nvPr/>
        </p:nvPicPr>
        <p:blipFill rotWithShape="1">
          <a:blip r:embed="rId3">
            <a:alphaModFix/>
          </a:blip>
          <a:srcRect l="29243" t="22498" r="51273" b="19018"/>
          <a:stretch/>
        </p:blipFill>
        <p:spPr>
          <a:xfrm>
            <a:off x="1235725" y="353925"/>
            <a:ext cx="2727550" cy="460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5"/>
          <p:cNvPicPr preferRelativeResize="0"/>
          <p:nvPr/>
        </p:nvPicPr>
        <p:blipFill rotWithShape="1">
          <a:blip r:embed="rId4">
            <a:alphaModFix/>
          </a:blip>
          <a:srcRect l="32999" t="23190" r="33795" b="32093"/>
          <a:stretch/>
        </p:blipFill>
        <p:spPr>
          <a:xfrm>
            <a:off x="4741350" y="1146400"/>
            <a:ext cx="3765300" cy="2850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highlight>
                  <a:srgbClr val="76A5AF"/>
                </a:highlight>
              </a:rPr>
              <a:t>Nervio mediano</a:t>
            </a:r>
            <a:endParaRPr>
              <a:highlight>
                <a:srgbClr val="76A5AF"/>
              </a:highlight>
            </a:endParaRPr>
          </a:p>
        </p:txBody>
      </p:sp>
      <p:sp>
        <p:nvSpPr>
          <p:cNvPr id="172" name="Google Shape;172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194800" cy="38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1- En la </a:t>
            </a:r>
            <a:r>
              <a:rPr lang="es-419" b="1">
                <a:solidFill>
                  <a:schemeClr val="dk1"/>
                </a:solidFill>
              </a:rPr>
              <a:t>fosa axilar </a:t>
            </a:r>
            <a:r>
              <a:rPr lang="es-419">
                <a:solidFill>
                  <a:schemeClr val="dk1"/>
                </a:solidFill>
              </a:rPr>
              <a:t>está ubicado por delante de la arteria axilar y entre el nervio musculocutáneo (en dirección lateral) y los nervios cubital, cutáneo antebraquial medial y cutáneo braquial medial (en dirección medial). Hacia anterior lo cubren los músculos pectorales menor y mayor.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2- En el</a:t>
            </a:r>
            <a:r>
              <a:rPr lang="es-419" b="1">
                <a:solidFill>
                  <a:schemeClr val="dk1"/>
                </a:solidFill>
              </a:rPr>
              <a:t> brazo</a:t>
            </a:r>
            <a:r>
              <a:rPr lang="es-419">
                <a:solidFill>
                  <a:schemeClr val="dk1"/>
                </a:solidFill>
              </a:rPr>
              <a:t>, está ubicado a nivel del conducto braquial. Hacia lateral se relaciona con el músculo bíceps. Acompaña a la arteria braquial a la que cruza por delante, de lateral a medial. Hacia posterior se relaciona con el nervio cubital y hacia medial, con el nervio braquial medial.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3- En la </a:t>
            </a:r>
            <a:r>
              <a:rPr lang="es-419" b="1">
                <a:solidFill>
                  <a:schemeClr val="dk1"/>
                </a:solidFill>
              </a:rPr>
              <a:t>fosa del codo </a:t>
            </a:r>
            <a:r>
              <a:rPr lang="es-419">
                <a:solidFill>
                  <a:schemeClr val="dk1"/>
                </a:solidFill>
              </a:rPr>
              <a:t>pasa por  surco bicipital medial, por lo que se relaciona con las estructuras que lo delimitan. En dirección lateral, los vasos humerales.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4- En el</a:t>
            </a:r>
            <a:r>
              <a:rPr lang="es-419" b="1">
                <a:solidFill>
                  <a:schemeClr val="dk1"/>
                </a:solidFill>
              </a:rPr>
              <a:t> antebrazo,</a:t>
            </a:r>
            <a:r>
              <a:rPr lang="es-419">
                <a:solidFill>
                  <a:schemeClr val="dk1"/>
                </a:solidFill>
              </a:rPr>
              <a:t> pasa entre el pronador redondo y cruza la cara anterior de la art cubital. Se ubica entre los músculos FCS y FCP de los dedos. Desciende y se ubica entre el flexor radial del carpo y el palmar largo.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>
                <a:solidFill>
                  <a:schemeClr val="dk1"/>
                </a:solidFill>
              </a:rPr>
              <a:t>5- En el </a:t>
            </a:r>
            <a:r>
              <a:rPr lang="es-419" b="1">
                <a:solidFill>
                  <a:schemeClr val="dk1"/>
                </a:solidFill>
              </a:rPr>
              <a:t>conducto carpiano</a:t>
            </a:r>
            <a:r>
              <a:rPr lang="es-419">
                <a:solidFill>
                  <a:schemeClr val="dk1"/>
                </a:solidFill>
              </a:rPr>
              <a:t> se relaciona hacia anterior con del retináculo flexor, ubicándose entre los tendones del FCS y el flexor largo del pulgar, para pasar a la mano en donde da sus ramos terminales a nivel de los 1º-3º espacios interdigitales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5506500" y="2101050"/>
            <a:ext cx="3514500" cy="2893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1"/>
              <a:t>Inervación motora: </a:t>
            </a:r>
            <a:endParaRPr sz="1100" b="1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 sz="1100" i="1"/>
              <a:t>Antebrazo:</a:t>
            </a:r>
            <a:r>
              <a:rPr lang="es-419" sz="1100"/>
              <a:t> </a:t>
            </a:r>
            <a:endParaRPr sz="110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 sz="1100"/>
              <a:t>Grupo Anterior (Plano de los Epitrocleares): Pronador Redondo, Palmar Mayor , Palmar Menor</a:t>
            </a:r>
            <a:endParaRPr sz="110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 sz="1100"/>
              <a:t>Grupo Anterior (Plano del FCS)</a:t>
            </a:r>
            <a:endParaRPr sz="110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 sz="1100"/>
              <a:t>Grupo Anterior (Plano de los Flexores Profundos): Flex Común Profundo (haz Ext) Flex Largo del Pulgar</a:t>
            </a:r>
            <a:endParaRPr sz="110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 sz="1100"/>
              <a:t>Grupo Anterior (Plano del Pronador Cuadrado)</a:t>
            </a:r>
            <a:endParaRPr sz="110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 sz="1100" i="1"/>
              <a:t>Mano:</a:t>
            </a:r>
            <a:endParaRPr sz="1100" i="1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 sz="1100"/>
              <a:t>Región media ( 1° y 2° lumbricales)</a:t>
            </a:r>
            <a:endParaRPr sz="110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 sz="1100"/>
              <a:t>Región tenar: Abductor o Separador corto del pulgar, Flexor corto del pulgar, Oponente del pulgar</a:t>
            </a:r>
            <a:endParaRPr sz="1100"/>
          </a:p>
        </p:txBody>
      </p:sp>
      <p:pic>
        <p:nvPicPr>
          <p:cNvPr id="174" name="Google Shape;174;p26"/>
          <p:cNvPicPr preferRelativeResize="0"/>
          <p:nvPr/>
        </p:nvPicPr>
        <p:blipFill rotWithShape="1">
          <a:blip r:embed="rId3">
            <a:alphaModFix/>
          </a:blip>
          <a:srcRect l="28190" t="23794" r="19489" b="19267"/>
          <a:stretch/>
        </p:blipFill>
        <p:spPr>
          <a:xfrm>
            <a:off x="5933100" y="116000"/>
            <a:ext cx="3025601" cy="185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875" y="357525"/>
            <a:ext cx="6756750" cy="437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8"/>
          <p:cNvPicPr preferRelativeResize="0"/>
          <p:nvPr/>
        </p:nvPicPr>
        <p:blipFill rotWithShape="1">
          <a:blip r:embed="rId3">
            <a:alphaModFix/>
          </a:blip>
          <a:srcRect l="28744" t="22068" r="50838" b="28350"/>
          <a:stretch/>
        </p:blipFill>
        <p:spPr>
          <a:xfrm>
            <a:off x="61150" y="168673"/>
            <a:ext cx="2537424" cy="3464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8"/>
          <p:cNvPicPr preferRelativeResize="0"/>
          <p:nvPr/>
        </p:nvPicPr>
        <p:blipFill rotWithShape="1">
          <a:blip r:embed="rId4">
            <a:alphaModFix/>
          </a:blip>
          <a:srcRect l="28987" t="21698" r="50360" b="36900"/>
          <a:stretch/>
        </p:blipFill>
        <p:spPr>
          <a:xfrm>
            <a:off x="2659575" y="168676"/>
            <a:ext cx="2260450" cy="25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8"/>
          <p:cNvPicPr preferRelativeResize="0"/>
          <p:nvPr/>
        </p:nvPicPr>
        <p:blipFill rotWithShape="1">
          <a:blip r:embed="rId5">
            <a:alphaModFix/>
          </a:blip>
          <a:srcRect l="48875" t="22153" r="30064" b="46253"/>
          <a:stretch/>
        </p:blipFill>
        <p:spPr>
          <a:xfrm>
            <a:off x="2683523" y="2828238"/>
            <a:ext cx="2212575" cy="186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8"/>
          <p:cNvPicPr preferRelativeResize="0"/>
          <p:nvPr/>
        </p:nvPicPr>
        <p:blipFill rotWithShape="1">
          <a:blip r:embed="rId6">
            <a:alphaModFix/>
          </a:blip>
          <a:srcRect l="28444" t="21841" r="51447" b="14407"/>
          <a:stretch/>
        </p:blipFill>
        <p:spPr>
          <a:xfrm>
            <a:off x="5095225" y="57975"/>
            <a:ext cx="1740526" cy="3102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8"/>
          <p:cNvPicPr preferRelativeResize="0"/>
          <p:nvPr/>
        </p:nvPicPr>
        <p:blipFill rotWithShape="1">
          <a:blip r:embed="rId7">
            <a:alphaModFix/>
          </a:blip>
          <a:srcRect l="29093" t="22141" r="51668" b="20018"/>
          <a:stretch/>
        </p:blipFill>
        <p:spPr>
          <a:xfrm>
            <a:off x="7162725" y="57975"/>
            <a:ext cx="1981274" cy="3349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8"/>
          <p:cNvPicPr preferRelativeResize="0"/>
          <p:nvPr/>
        </p:nvPicPr>
        <p:blipFill rotWithShape="1">
          <a:blip r:embed="rId8">
            <a:alphaModFix/>
          </a:blip>
          <a:srcRect l="49282" t="25427" r="30932" b="33926"/>
          <a:stretch/>
        </p:blipFill>
        <p:spPr>
          <a:xfrm>
            <a:off x="5124863" y="3053949"/>
            <a:ext cx="1809100" cy="2089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highlight>
                  <a:srgbClr val="B6D7A8"/>
                </a:highlight>
              </a:rPr>
              <a:t>Nervio radial </a:t>
            </a:r>
            <a:endParaRPr>
              <a:highlight>
                <a:srgbClr val="B6D7A8"/>
              </a:highlight>
            </a:endParaRPr>
          </a:p>
        </p:txBody>
      </p:sp>
      <p:sp>
        <p:nvSpPr>
          <p:cNvPr id="195" name="Google Shape;195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425800" cy="37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tx1"/>
                </a:solidFill>
              </a:rPr>
              <a:t>1- </a:t>
            </a:r>
            <a:r>
              <a:rPr lang="es-419" dirty="0" smtClean="0">
                <a:solidFill>
                  <a:schemeClr val="tx1"/>
                </a:solidFill>
              </a:rPr>
              <a:t>F</a:t>
            </a:r>
            <a:r>
              <a:rPr lang="es-419" b="1" dirty="0" smtClean="0">
                <a:solidFill>
                  <a:schemeClr val="tx1"/>
                </a:solidFill>
              </a:rPr>
              <a:t>osa </a:t>
            </a:r>
            <a:r>
              <a:rPr lang="es-419" b="1" dirty="0">
                <a:solidFill>
                  <a:schemeClr val="tx1"/>
                </a:solidFill>
              </a:rPr>
              <a:t>axilar,</a:t>
            </a:r>
            <a:r>
              <a:rPr lang="es-419" dirty="0">
                <a:solidFill>
                  <a:schemeClr val="tx1"/>
                </a:solidFill>
              </a:rPr>
              <a:t> se relaciona hacia anterior con la arteria axilar y en dirección posterior con el músculo subescapular. Cruzan por delante de la arteria subescapular. </a:t>
            </a:r>
            <a:endParaRPr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tx1"/>
                </a:solidFill>
              </a:rPr>
              <a:t>2- </a:t>
            </a:r>
            <a:r>
              <a:rPr lang="es-419" b="1" dirty="0" smtClean="0">
                <a:solidFill>
                  <a:schemeClr val="tx1"/>
                </a:solidFill>
              </a:rPr>
              <a:t>Brazo</a:t>
            </a:r>
            <a:r>
              <a:rPr lang="es-419" b="1" dirty="0">
                <a:solidFill>
                  <a:schemeClr val="tx1"/>
                </a:solidFill>
              </a:rPr>
              <a:t>,</a:t>
            </a:r>
            <a:r>
              <a:rPr lang="es-419" dirty="0">
                <a:solidFill>
                  <a:schemeClr val="tx1"/>
                </a:solidFill>
              </a:rPr>
              <a:t>  ingresa junto a la arteria braquial profunda en el espacio axilar inferior, para llegar a la región posterior del brazo. Cruza la región posterior del brazo de arriba hacia abajo y de medial a lateral, junto a la arteria braquial profunda, entre la cabeza lateral y medial del tríceps. Pasa a la región anterior del brazo, entre los músculos braquial y braquiorradial. Da</a:t>
            </a:r>
            <a:r>
              <a:rPr lang="es-419" b="1" dirty="0">
                <a:solidFill>
                  <a:schemeClr val="tx1"/>
                </a:solidFill>
              </a:rPr>
              <a:t> colaterales sensitivos: </a:t>
            </a:r>
            <a:r>
              <a:rPr lang="es-419" dirty="0">
                <a:solidFill>
                  <a:schemeClr val="tx1"/>
                </a:solidFill>
              </a:rPr>
              <a:t>el nervio cutáneo braquial posterior, ramo sensitivo para la piel de la cara posteromedial  y el nervio cutáneo braquial inferior lateral, para la piel de la cara posterolateral del brazo.</a:t>
            </a:r>
            <a:endParaRPr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tx1"/>
                </a:solidFill>
              </a:rPr>
              <a:t>3- </a:t>
            </a:r>
            <a:r>
              <a:rPr lang="es-419" b="1" dirty="0" smtClean="0">
                <a:solidFill>
                  <a:schemeClr val="tx1"/>
                </a:solidFill>
              </a:rPr>
              <a:t>Codo</a:t>
            </a:r>
            <a:r>
              <a:rPr lang="es-419" b="1" dirty="0">
                <a:solidFill>
                  <a:schemeClr val="tx1"/>
                </a:solidFill>
              </a:rPr>
              <a:t>, </a:t>
            </a:r>
            <a:r>
              <a:rPr lang="es-419" dirty="0">
                <a:solidFill>
                  <a:schemeClr val="tx1"/>
                </a:solidFill>
              </a:rPr>
              <a:t> se ubica en el surco bicipital lateral (fosa cubital) relacionándose, en dirección lateral con los músculos braquiorradial y extensor radial del carpo y en dirección medial con los músculos braquial y bíceps.</a:t>
            </a:r>
            <a:endParaRPr>
              <a:solidFill>
                <a:schemeClr val="tx1"/>
              </a:solidFill>
            </a:endParaRPr>
          </a:p>
          <a:p>
            <a:pPr marL="0" lvl="0" indent="0">
              <a:spcBef>
                <a:spcPts val="1200"/>
              </a:spcBef>
              <a:buNone/>
            </a:pPr>
            <a:r>
              <a:rPr lang="es-ES" dirty="0" smtClean="0">
                <a:solidFill>
                  <a:schemeClr val="tx1"/>
                </a:solidFill>
              </a:rPr>
              <a:t>4- </a:t>
            </a:r>
            <a:r>
              <a:rPr lang="es-ES" b="1" dirty="0" smtClean="0">
                <a:solidFill>
                  <a:schemeClr val="tx1"/>
                </a:solidFill>
              </a:rPr>
              <a:t>Surco </a:t>
            </a:r>
            <a:r>
              <a:rPr lang="es-ES" b="1" dirty="0" smtClean="0">
                <a:solidFill>
                  <a:schemeClr val="tx1"/>
                </a:solidFill>
              </a:rPr>
              <a:t>bicipital latera</a:t>
            </a:r>
            <a:r>
              <a:rPr lang="es-ES" dirty="0" smtClean="0">
                <a:solidFill>
                  <a:schemeClr val="tx1"/>
                </a:solidFill>
              </a:rPr>
              <a:t>l o por encima de éste se bifurca en un ramo superficial (anterior y sensitivo) y un ramo profundo (posterior y motor) emite ramos  para los músculos extensores del antebrazo (salvo el extensor radial largo del carpo) al igual que el abductor largo del pulgar.</a:t>
            </a:r>
            <a:r>
              <a:rPr lang="es-419" dirty="0" smtClean="0">
                <a:solidFill>
                  <a:schemeClr val="tx1"/>
                </a:solidFill>
              </a:rPr>
              <a:t>. </a:t>
            </a:r>
            <a:endParaRPr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dirty="0">
                <a:solidFill>
                  <a:schemeClr val="tx1"/>
                </a:solidFill>
              </a:rPr>
              <a:t>5</a:t>
            </a:r>
            <a:r>
              <a:rPr lang="es-419" dirty="0" smtClean="0">
                <a:solidFill>
                  <a:schemeClr val="tx1"/>
                </a:solidFill>
              </a:rPr>
              <a:t>- Dorso </a:t>
            </a:r>
            <a:r>
              <a:rPr lang="es-419" dirty="0">
                <a:solidFill>
                  <a:schemeClr val="tx1"/>
                </a:solidFill>
              </a:rPr>
              <a:t>de la</a:t>
            </a:r>
            <a:r>
              <a:rPr lang="es-419" b="1" dirty="0">
                <a:solidFill>
                  <a:schemeClr val="tx1"/>
                </a:solidFill>
              </a:rPr>
              <a:t> mano</a:t>
            </a:r>
            <a:r>
              <a:rPr lang="es-419" dirty="0">
                <a:solidFill>
                  <a:schemeClr val="tx1"/>
                </a:solidFill>
              </a:rPr>
              <a:t> y de los dedos. Sus ramos terminales son los ramos digitales dorsales que se extienden sobre las caras dorsales del 1° y 2° dedo y la mitad radial del 3°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196" name="Google Shape;196;p29"/>
          <p:cNvPicPr preferRelativeResize="0"/>
          <p:nvPr/>
        </p:nvPicPr>
        <p:blipFill rotWithShape="1">
          <a:blip r:embed="rId3">
            <a:alphaModFix/>
          </a:blip>
          <a:srcRect l="27894" t="23750" r="19976" b="20154"/>
          <a:stretch/>
        </p:blipFill>
        <p:spPr>
          <a:xfrm>
            <a:off x="5737500" y="272600"/>
            <a:ext cx="3200500" cy="193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0"/>
          <p:cNvPicPr preferRelativeResize="0"/>
          <p:nvPr/>
        </p:nvPicPr>
        <p:blipFill rotWithShape="1">
          <a:blip r:embed="rId3">
            <a:alphaModFix/>
          </a:blip>
          <a:srcRect l="49314" t="19938" r="29650" b="27607"/>
          <a:stretch/>
        </p:blipFill>
        <p:spPr>
          <a:xfrm>
            <a:off x="306650" y="198000"/>
            <a:ext cx="2452025" cy="343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0"/>
          <p:cNvPicPr preferRelativeResize="0"/>
          <p:nvPr/>
        </p:nvPicPr>
        <p:blipFill rotWithShape="1">
          <a:blip r:embed="rId4">
            <a:alphaModFix/>
          </a:blip>
          <a:srcRect l="36244" t="21487" r="37764" b="19675"/>
          <a:stretch/>
        </p:blipFill>
        <p:spPr>
          <a:xfrm>
            <a:off x="3074750" y="582464"/>
            <a:ext cx="3126026" cy="397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0"/>
          <p:cNvPicPr preferRelativeResize="0"/>
          <p:nvPr/>
        </p:nvPicPr>
        <p:blipFill rotWithShape="1">
          <a:blip r:embed="rId5">
            <a:alphaModFix/>
          </a:blip>
          <a:srcRect l="49347" t="22654" r="30540" b="45673"/>
          <a:stretch/>
        </p:blipFill>
        <p:spPr>
          <a:xfrm>
            <a:off x="6436700" y="637750"/>
            <a:ext cx="2337076" cy="206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highlight>
                  <a:srgbClr val="FFE599"/>
                </a:highlight>
              </a:rPr>
              <a:t>Nervio circunflejo o axilar </a:t>
            </a:r>
            <a:endParaRPr>
              <a:highlight>
                <a:srgbClr val="FFE599"/>
              </a:highlight>
            </a:endParaRPr>
          </a:p>
        </p:txBody>
      </p:sp>
      <p:sp>
        <p:nvSpPr>
          <p:cNvPr id="209" name="Google Shape;209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161300" cy="33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1- Inicialmente está por detrás de la arteria axilar y por delante del músculo subescapular. Acompaña en su recorrido a la arteria circunfleja humeral posterior, con la que atraviesa el espacio axilar lateral.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2- Una vez que rodeó el cuello quirúrgico del húmero termina en ramos musculares para el músculo deltoides.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>
                <a:solidFill>
                  <a:schemeClr val="dk1"/>
                </a:solidFill>
              </a:rPr>
              <a:t>Emite ramos musculares para los músculos redondo menor y deltoides y el nervio cutáneo braquial lateral superior (sensitivo), para la piel que cubre la región del músculo deltoides.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0" name="Google Shape;210;p31"/>
          <p:cNvPicPr preferRelativeResize="0"/>
          <p:nvPr/>
        </p:nvPicPr>
        <p:blipFill rotWithShape="1">
          <a:blip r:embed="rId3">
            <a:alphaModFix/>
          </a:blip>
          <a:srcRect l="36220" t="19288" r="34383" b="30377"/>
          <a:stretch/>
        </p:blipFill>
        <p:spPr>
          <a:xfrm>
            <a:off x="6225975" y="137450"/>
            <a:ext cx="2528620" cy="243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1"/>
          <p:cNvPicPr preferRelativeResize="0"/>
          <p:nvPr/>
        </p:nvPicPr>
        <p:blipFill rotWithShape="1">
          <a:blip r:embed="rId4">
            <a:alphaModFix/>
          </a:blip>
          <a:srcRect l="33281" t="33462" r="34173" b="28087"/>
          <a:stretch/>
        </p:blipFill>
        <p:spPr>
          <a:xfrm>
            <a:off x="5086175" y="2568400"/>
            <a:ext cx="3582250" cy="237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32"/>
          <p:cNvPicPr preferRelativeResize="0"/>
          <p:nvPr/>
        </p:nvPicPr>
        <p:blipFill rotWithShape="1">
          <a:blip r:embed="rId3">
            <a:alphaModFix/>
          </a:blip>
          <a:srcRect l="23648" t="26097" r="23847" b="28499"/>
          <a:stretch/>
        </p:blipFill>
        <p:spPr>
          <a:xfrm>
            <a:off x="1042875" y="836125"/>
            <a:ext cx="6369525" cy="309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1043</Words>
  <PresentationFormat>Presentación en pantalla (16:9)</PresentationFormat>
  <Paragraphs>104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Nunito</vt:lpstr>
      <vt:lpstr>Comfortaa</vt:lpstr>
      <vt:lpstr>Simple Light</vt:lpstr>
      <vt:lpstr>PLEXO BRAQUIAL </vt:lpstr>
      <vt:lpstr>¿QUÉ ES UN PLEXO NERVIOSO?</vt:lpstr>
      <vt:lpstr>Diapositiva 3</vt:lpstr>
      <vt:lpstr>Diapositiva 4</vt:lpstr>
      <vt:lpstr>Diapositiva 5</vt:lpstr>
      <vt:lpstr>Diapositiva 6</vt:lpstr>
      <vt:lpstr>Diapositiva 7</vt:lpstr>
      <vt:lpstr>RELACIONES</vt:lpstr>
      <vt:lpstr>RELACIONES</vt:lpstr>
      <vt:lpstr>Nervio músculo cutáneo</vt:lpstr>
      <vt:lpstr>Diapositiva 11</vt:lpstr>
      <vt:lpstr>Nervio cubital </vt:lpstr>
      <vt:lpstr>Diapositiva 13</vt:lpstr>
      <vt:lpstr>Nervio mediano</vt:lpstr>
      <vt:lpstr>Diapositiva 15</vt:lpstr>
      <vt:lpstr>Diapositiva 16</vt:lpstr>
      <vt:lpstr>Nervio radial </vt:lpstr>
      <vt:lpstr>Diapositiva 18</vt:lpstr>
      <vt:lpstr>Nervio circunflejo o axilar </vt:lpstr>
      <vt:lpstr>Diapositiva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PLEXO BRAQUIAL </dc:title>
  <cp:lastModifiedBy>fabio cesar iaconis</cp:lastModifiedBy>
  <cp:revision>1</cp:revision>
  <dcterms:modified xsi:type="dcterms:W3CDTF">2022-05-17T13:24:48Z</dcterms:modified>
</cp:coreProperties>
</file>